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d36f70ba-9512-c2e2-a7aa-fb2a9ef89291}">
          <p14:sldIdLst>
            <p14:sldId id="256"/>
            <p14:sldId id="257"/>
          </p14:sldIdLst>
        </p14:section>
        <p14:section name="Trend" id="{75ddecd2-a411-7f94-7bb4-27e52f14f5e7}">
          <p14:sldIdLst>
            <p14:sldId id="258"/>
            <p14:sldId id="259"/>
            <p14:sldId id="260"/>
          </p14:sldIdLst>
        </p14:section>
        <p14:section name="Buyers" id="{467c19d0-b3b9-447e-722b-8b80b77fab4a}">
          <p14:sldIdLst>
            <p14:sldId id="261"/>
            <p14:sldId id="262"/>
            <p14:sldId id="263"/>
          </p14:sldIdLst>
        </p14:section>
        <p14:section name="Lines" id="{526f095e-cacd-428d-e967-86f3d6230d33}">
          <p14:sldIdLst>
            <p14:sldId id="264"/>
          </p14:sldIdLst>
        </p14:section>
        <p14:section name="Discussion" id="{8cd9f23e-3dfd-b59d-37fe-83387696c43a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CM earned $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$#,##0.00,,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Sept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3017841</c:v>
                </c:pt>
                <c:pt idx="1">
                  <c:v>1981606</c:v>
                </c:pt>
                <c:pt idx="2">
                  <c:v>1655087</c:v>
                </c:pt>
                <c:pt idx="3">
                  <c:v>2818392</c:v>
                </c:pt>
                <c:pt idx="4">
                  <c:v>2774087</c:v>
                </c:pt>
                <c:pt idx="5">
                  <c:v>2313270</c:v>
                </c:pt>
                <c:pt idx="6">
                  <c:v>2465635</c:v>
                </c:pt>
                <c:pt idx="7">
                  <c:v>2162485</c:v>
                </c:pt>
                <c:pt idx="8">
                  <c:v>2190431</c:v>
                </c:pt>
                <c:pt idx="9">
                  <c:v>1268834</c:v>
                </c:pt>
              </c:numCache>
            </c:numRef>
          </c:val>
        </c:ser>
        <c:dLbls>
          <c:numFmt formatCode="$#,##0.00,,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EF1F5"/>
              </a:solidFill>
              <a:prstDash val="solid"/>
              <a:round/>
            </a:ln>
          </c:spPr>
        </c:majorGridlines>
        <c:numFmt formatCode="$#,##0.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line-day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Sept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2739</c:v>
                </c:pt>
                <c:pt idx="1">
                  <c:v>2607</c:v>
                </c:pt>
                <c:pt idx="2">
                  <c:v>2292</c:v>
                </c:pt>
                <c:pt idx="3">
                  <c:v>2747</c:v>
                </c:pt>
                <c:pt idx="4">
                  <c:v>3042</c:v>
                </c:pt>
                <c:pt idx="5">
                  <c:v>2767</c:v>
                </c:pt>
                <c:pt idx="6">
                  <c:v>2403</c:v>
                </c:pt>
                <c:pt idx="7">
                  <c:v>2276</c:v>
                </c:pt>
                <c:pt idx="8">
                  <c:v>2217</c:v>
                </c:pt>
                <c:pt idx="9">
                  <c:v>2385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 $2,500</c:v>
                </c:pt>
              </c:strCache>
            </c:strRef>
          </c:tx>
          <c:spPr>
            <a:solidFill>
              <a:srgbClr val="B7791F"/>
            </a:solidFill>
            <a:ln w="25400" cap="flat">
              <a:solidFill>
                <a:srgbClr val="B779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7791F"/>
              </a:solidFill>
              <a:ln w="9525" cap="flat">
                <a:solidFill>
                  <a:srgbClr val="B779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Sept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2500</c:v>
                </c:pt>
                <c:pt idx="1">
                  <c:v>2500</c:v>
                </c:pt>
                <c:pt idx="2">
                  <c:v>2500</c:v>
                </c:pt>
                <c:pt idx="3">
                  <c:v>2500</c:v>
                </c:pt>
                <c:pt idx="4">
                  <c:v>2500</c:v>
                </c:pt>
                <c:pt idx="5">
                  <c:v>2500</c:v>
                </c:pt>
                <c:pt idx="6">
                  <c:v>2500</c:v>
                </c:pt>
                <c:pt idx="7">
                  <c:v>2500</c:v>
                </c:pt>
                <c:pt idx="8">
                  <c:v>2500</c:v>
                </c:pt>
                <c:pt idx="9">
                  <c:v>2500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$3,500</c:v>
                </c:pt>
              </c:strCache>
            </c:strRef>
          </c:tx>
          <c:spPr>
            <a:solidFill>
              <a:srgbClr val="C23B3B"/>
            </a:solidFill>
            <a:ln w="25400" cap="flat">
              <a:solidFill>
                <a:srgbClr val="C2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23B3B"/>
              </a:solidFill>
              <a:ln w="9525" cap="flat">
                <a:solidFill>
                  <a:srgbClr val="C2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Sept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3500</c:v>
                </c:pt>
                <c:pt idx="1">
                  <c:v>3500</c:v>
                </c:pt>
                <c:pt idx="2">
                  <c:v>3500</c:v>
                </c:pt>
                <c:pt idx="3">
                  <c:v>3500</c:v>
                </c:pt>
                <c:pt idx="4">
                  <c:v>3500</c:v>
                </c:pt>
                <c:pt idx="5">
                  <c:v>3500</c:v>
                </c:pt>
                <c:pt idx="6">
                  <c:v>3500</c:v>
                </c:pt>
                <c:pt idx="7">
                  <c:v>3500</c:v>
                </c:pt>
                <c:pt idx="8">
                  <c:v>3500</c:v>
                </c:pt>
                <c:pt idx="9">
                  <c:v>3500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1500"/>
        </c:scaling>
        <c:delete val="0"/>
        <c:axPos val="l"/>
        <c:majorGridlines>
          <c:spPr>
            <a:ln w="9525" cap="flat">
              <a:solidFill>
                <a:srgbClr val="EEF1F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$</c:v>
                </c:pt>
              </c:strCache>
            </c:strRef>
          </c:tx>
          <c:spPr>
            <a:solidFill>
              <a:srgbClr val="C23B3B"/>
            </a:solidFill>
            <a:effectLst/>
          </c:spPr>
          <c:invertIfNegative val="0"/>
          <c:dLbls>
            <c:numFmt formatCode="-$#,##0,&quot;k&quot;;-$#,##0,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Sept</c:v>
                  </c:pt>
                  <c:pt idx="9">
                    <c:v>Oct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-839159</c:v>
                </c:pt>
                <c:pt idx="1">
                  <c:v>-678394</c:v>
                </c:pt>
                <c:pt idx="2">
                  <c:v>-871913</c:v>
                </c:pt>
                <c:pt idx="3">
                  <c:v>-772608</c:v>
                </c:pt>
                <c:pt idx="4">
                  <c:v>-417913</c:v>
                </c:pt>
                <c:pt idx="5">
                  <c:v>-612730</c:v>
                </c:pt>
                <c:pt idx="6">
                  <c:v>-1125365</c:v>
                </c:pt>
                <c:pt idx="7">
                  <c:v>-1162515</c:v>
                </c:pt>
                <c:pt idx="8">
                  <c:v>-1267569</c:v>
                </c:pt>
                <c:pt idx="9">
                  <c:v>-593166</c:v>
                </c:pt>
              </c:numCache>
            </c:numRef>
          </c:val>
        </c:ser>
        <c:dLbls>
          <c:numFmt formatCode="-$#,##0,&quot;k&quot;;-$#,##0,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EF1F5"/>
              </a:solidFill>
              <a:prstDash val="solid"/>
              <a:round/>
            </a:ln>
          </c:spPr>
        </c:majorGridlines>
        <c:numFmt formatCode="-$#,##0.0,,&quot;M&quot;;-$#,##0.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Earned $</c:v>
                </c:pt>
              </c:strCache>
            </c:strRef>
          </c:tx>
          <c:spPr>
            <a:solidFill>
              <a:srgbClr val="8A96AB"/>
            </a:solidFill>
            <a:effectLst/>
          </c:spPr>
          <c:invertIfNegative val="0"/>
          <c:dLbls>
            <c:numFmt formatCode="$#,##0.00,,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6A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All others</c:v>
                  </c:pt>
                  <c:pt idx="1">
                    <c:v>MED COUTURE</c:v>
                  </c:pt>
                  <c:pt idx="2">
                    <c:v>NEXT</c:v>
                  </c:pt>
                  <c:pt idx="3">
                    <c:v>KMART</c:v>
                  </c:pt>
                  <c:pt idx="4">
                    <c:v>NOBLE OUTFITTERS</c:v>
                  </c:pt>
                  <c:pt idx="5">
                    <c:v>SOLAMODA</c:v>
                  </c:pt>
                  <c:pt idx="6">
                    <c:v>EXPRESS</c:v>
                  </c:pt>
                  <c:pt idx="7">
                    <c:v>TARGET</c:v>
                  </c:pt>
                  <c:pt idx="8">
                    <c:v>GAP</c:v>
                  </c:pt>
                  <c:pt idx="9">
                    <c:v>OJG</c:v>
                  </c:pt>
                  <c:pt idx="10">
                    <c:v>ZARA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1897661</c:v>
                </c:pt>
                <c:pt idx="1">
                  <c:v>431527</c:v>
                </c:pt>
                <c:pt idx="2">
                  <c:v>611579</c:v>
                </c:pt>
                <c:pt idx="3">
                  <c:v>646838</c:v>
                </c:pt>
                <c:pt idx="4">
                  <c:v>656632</c:v>
                </c:pt>
                <c:pt idx="5">
                  <c:v>779521</c:v>
                </c:pt>
                <c:pt idx="6">
                  <c:v>807716</c:v>
                </c:pt>
                <c:pt idx="7">
                  <c:v>1313095</c:v>
                </c:pt>
                <c:pt idx="8">
                  <c:v>2300232</c:v>
                </c:pt>
                <c:pt idx="9">
                  <c:v>6082387</c:v>
                </c:pt>
                <c:pt idx="10">
                  <c:v>7120480</c:v>
                </c:pt>
              </c:numCache>
            </c:numRef>
          </c:val>
        </c:ser>
        <c:dLbls>
          <c:numFmt formatCode="$#,##0.00,,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EF1F5"/>
              </a:solidFill>
              <a:prstDash val="solid"/>
              <a:round/>
            </a:ln>
          </c:spPr>
        </c:majorGridlines>
        <c:numFmt formatCode="$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Best 6 lines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$/line-day</c:v>
                </c:pt>
              </c:strCache>
            </c:strRef>
          </c:tx>
          <c:spPr>
            <a:solidFill>
              <a:srgbClr val="1A7F4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 14 · U1</c:v>
                  </c:pt>
                  <c:pt idx="1">
                    <c:v>Line 1 · U1</c:v>
                  </c:pt>
                  <c:pt idx="2">
                    <c:v>Line 22 · U2</c:v>
                  </c:pt>
                  <c:pt idx="3">
                    <c:v>Line 15 · U1</c:v>
                  </c:pt>
                  <c:pt idx="4">
                    <c:v>Line 7 · U1</c:v>
                  </c:pt>
                  <c:pt idx="5">
                    <c:v>Line 4 · U1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2905</c:v>
                </c:pt>
                <c:pt idx="1">
                  <c:v>2907</c:v>
                </c:pt>
                <c:pt idx="2">
                  <c:v>2958</c:v>
                </c:pt>
                <c:pt idx="3">
                  <c:v>2959</c:v>
                </c:pt>
                <c:pt idx="4">
                  <c:v>2994</c:v>
                </c:pt>
                <c:pt idx="5">
                  <c:v>3111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  <c:min val="0"/>
        </c:scaling>
        <c:delete val="0"/>
        <c:axPos val="b"/>
        <c:majorGridlines>
          <c:spPr>
            <a:ln w="9525" cap="flat">
              <a:solidFill>
                <a:srgbClr val="EEF1F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Weakest 6 lines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$/line-day</c:v>
                </c:pt>
              </c:strCache>
            </c:strRef>
          </c:tx>
          <c:spPr>
            <a:solidFill>
              <a:srgbClr val="C23B3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 31 · U2</c:v>
                  </c:pt>
                  <c:pt idx="1">
                    <c:v>Line 9 · U1</c:v>
                  </c:pt>
                  <c:pt idx="2">
                    <c:v>Line 27 · U2</c:v>
                  </c:pt>
                  <c:pt idx="3">
                    <c:v>Line 10 · U1</c:v>
                  </c:pt>
                  <c:pt idx="4">
                    <c:v>Line 28 · U2</c:v>
                  </c:pt>
                  <c:pt idx="5">
                    <c:v>Line 23 · U2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2246</c:v>
                </c:pt>
                <c:pt idx="1">
                  <c:v>2240</c:v>
                </c:pt>
                <c:pt idx="2">
                  <c:v>2195</c:v>
                </c:pt>
                <c:pt idx="3">
                  <c:v>2157</c:v>
                </c:pt>
                <c:pt idx="4">
                  <c:v>2132</c:v>
                </c:pt>
                <c:pt idx="5">
                  <c:v>1725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0"/>
          <c:min val="0"/>
        </c:scaling>
        <c:delete val="0"/>
        <c:axPos val="b"/>
        <c:majorGridlines>
          <c:spPr>
            <a:ln w="9525" cap="flat">
              <a:solidFill>
                <a:srgbClr val="EEF1F5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60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management view of the Revenue/CM tab in My Brain. Numbers come from the line-day sheet of the Revenue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729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F2"/>
                </a:solidFill>
              </a:rPr>
              <a:t>Sterling Styles Ltd · Merchandising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B"/>
                </a:solidFill>
              </a:rPr>
              <a:t>Revenue &amp; CM Earned · 01 Jan 2026 – 17 Oct 2026 · Buyer wise average CM &amp;earned report-2026  on 18-Oct-26.xlsx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Revenue &amp; CM Earned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F2"/>
                </a:solidFill>
              </a:rPr>
              <a:t>Management review · 01 Jan 2026 – 17 Oct 2026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$22.65M</a:t>
            </a:r>
            <a:pPr indent="0" marL="0">
              <a:buNone/>
            </a:pPr>
            <a:r>
              <a:rPr lang="en-US" sz="1600" dirty="0">
                <a:solidFill>
                  <a:srgbClr val="C9D6F2"/>
                </a:solidFill>
              </a:rPr>
              <a:t>   CM earned from sewing · 8,854 line-days · 38 lines · 25 buyers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8"/>
                </a:solidFill>
              </a:rPr>
              <a:t>Source: Revenue / Buyer wise average CM &amp;earned report-2026  on 18-Oct-26.xlsx · 01 Jan 2026 – 17 Oct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Above benchmark, but short of the $3,500 line target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7A"/>
                </a:solidFill>
              </a:rPr>
              <a:t>Factory: $2,558 per line-day vs $2,500 benchmark (+$58) and $3,500 target (−$942)</a:t>
            </a:r>
            <a:endParaRPr lang="en-US" sz="1300" dirty="0"/>
          </a:p>
        </p:txBody>
      </p:sp>
      <p:sp>
        <p:nvSpPr>
          <p:cNvPr id="4" name="stat CM earned"/>
          <p:cNvSpPr/>
          <p:nvPr/>
        </p:nvSpPr>
        <p:spPr>
          <a:xfrm>
            <a:off x="457200" y="14630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D6F2"/>
                </a:solidFill>
              </a:rPr>
              <a:t>CM EARNED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$22.65M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F2"/>
                </a:solidFill>
              </a:rPr>
              <a:t>8,854 line-days · 10 months</a:t>
            </a:r>
            <a:endParaRPr lang="en-US" sz="1050" dirty="0"/>
          </a:p>
        </p:txBody>
      </p:sp>
      <p:sp>
        <p:nvSpPr>
          <p:cNvPr id="8" name="stat Earned / line-day"/>
          <p:cNvSpPr/>
          <p:nvPr/>
        </p:nvSpPr>
        <p:spPr>
          <a:xfrm>
            <a:off x="3931920" y="14630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7A"/>
                </a:solidFill>
              </a:rPr>
              <a:t>EARNED / LINE-DAY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8470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F4B"/>
                </a:solidFill>
              </a:rPr>
              <a:t>$2,558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A"/>
                </a:solidFill>
              </a:rPr>
              <a:t>benchmark $2,500 ✓</a:t>
            </a:r>
            <a:endParaRPr lang="en-US" sz="1050" dirty="0"/>
          </a:p>
        </p:txBody>
      </p:sp>
      <p:sp>
        <p:nvSpPr>
          <p:cNvPr id="12" name="stat Gap to $3,500 target"/>
          <p:cNvSpPr/>
          <p:nvPr/>
        </p:nvSpPr>
        <p:spPr>
          <a:xfrm>
            <a:off x="6583680" y="14630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7A"/>
                </a:solidFill>
              </a:rPr>
              <a:t>GAP TO $3,500 TARGET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8470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3B3B"/>
                </a:solidFill>
              </a:rPr>
              <a:t>−$8.34M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A"/>
                </a:solidFill>
              </a:rPr>
              <a:t>short $942 per line-day</a:t>
            </a:r>
            <a:endParaRPr lang="en-US" sz="1050" dirty="0"/>
          </a:p>
        </p:txBody>
      </p:sp>
      <p:sp>
        <p:nvSpPr>
          <p:cNvPr id="16" name="stat Efficiency"/>
          <p:cNvSpPr/>
          <p:nvPr/>
        </p:nvSpPr>
        <p:spPr>
          <a:xfrm>
            <a:off x="9235440" y="1463040"/>
            <a:ext cx="2496312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18320" y="157276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7A"/>
                </a:solidFill>
              </a:rPr>
              <a:t>EFFICIENCY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1847088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3B3B"/>
                </a:solidFill>
              </a:rPr>
              <a:t>69.3%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0" y="24231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A"/>
                </a:solidFill>
              </a:rPr>
              <a:t>standard 80%</a:t>
            </a:r>
            <a:endParaRPr lang="en-US" sz="1050" dirty="0"/>
          </a:p>
        </p:txBody>
      </p:sp>
      <p:sp>
        <p:nvSpPr>
          <p:cNvPr id="20" name="stat Pieces sewn"/>
          <p:cNvSpPr/>
          <p:nvPr/>
        </p:nvSpPr>
        <p:spPr>
          <a:xfrm>
            <a:off x="457200" y="30632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7A"/>
                </a:solidFill>
              </a:rPr>
              <a:t>PIECES SEWN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472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</a:rPr>
              <a:t>13.47M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A"/>
                </a:solidFill>
              </a:rPr>
              <a:t>651,159 man-days · 20.7 pcs/man-day</a:t>
            </a:r>
            <a:endParaRPr lang="en-US" sz="1050" dirty="0"/>
          </a:p>
        </p:txBody>
      </p:sp>
      <p:sp>
        <p:nvSpPr>
          <p:cNvPr id="24" name="stat CM per minute"/>
          <p:cNvSpPr/>
          <p:nvPr/>
        </p:nvSpPr>
        <p:spPr>
          <a:xfrm>
            <a:off x="3931920" y="30632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7A"/>
                </a:solidFill>
              </a:rPr>
              <a:t>CM PER MINUTE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4472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3B3B"/>
                </a:solidFill>
              </a:rPr>
              <a:t>0.0836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A"/>
                </a:solidFill>
              </a:rPr>
              <a:t>standard 0.0843</a:t>
            </a:r>
            <a:endParaRPr lang="en-US" sz="1050" dirty="0"/>
          </a:p>
        </p:txBody>
      </p:sp>
      <p:sp>
        <p:nvSpPr>
          <p:cNvPr id="28" name="stat DHU"/>
          <p:cNvSpPr/>
          <p:nvPr/>
        </p:nvSpPr>
        <p:spPr>
          <a:xfrm>
            <a:off x="6583680" y="30632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7A"/>
                </a:solidFill>
              </a:rPr>
              <a:t>DHU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34472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</a:rPr>
              <a:t>13.2%</a:t>
            </a:r>
            <a:endParaRPr lang="en-US" sz="28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A"/>
                </a:solidFill>
              </a:rPr>
              <a:t>defects per hundred units</a:t>
            </a:r>
            <a:endParaRPr lang="en-US" sz="1050" dirty="0"/>
          </a:p>
        </p:txBody>
      </p:sp>
      <p:sp>
        <p:nvSpPr>
          <p:cNvPr id="32" name="stat Avg manpower / line"/>
          <p:cNvSpPr/>
          <p:nvPr/>
        </p:nvSpPr>
        <p:spPr>
          <a:xfrm>
            <a:off x="9235440" y="3063240"/>
            <a:ext cx="2496312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18320" y="317296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7A"/>
                </a:solidFill>
              </a:rPr>
              <a:t>AVG MANPOWER / LINE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418320" y="3447288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</a:rPr>
              <a:t>73.5</a:t>
            </a:r>
            <a:endParaRPr lang="en-US" sz="28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0" y="402336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A"/>
                </a:solidFill>
              </a:rPr>
              <a:t>helpers 20.2%</a:t>
            </a:r>
            <a:endParaRPr lang="en-US" sz="1050" dirty="0"/>
          </a:p>
        </p:txBody>
      </p:sp>
      <p:sp>
        <p:nvSpPr>
          <p:cNvPr id="36" name="note What management should know"/>
          <p:cNvSpPr/>
          <p:nvPr/>
        </p:nvSpPr>
        <p:spPr>
          <a:xfrm>
            <a:off x="457200" y="4663440"/>
            <a:ext cx="11274552" cy="1508760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80060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3864"/>
                </a:solidFill>
              </a:rPr>
              <a:t>What management should know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Jan–May averaged $2,708 per line-day; Jun–Oct dropped to $2,401 (−$307).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Efficiency is 10.7 points under standard — each point is worth about $326,806 of CM at today's mix.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ZARA + OJG = 58% of CM. Our accounts TARGET + KMART = $1.96M (8.7%).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CM earned per month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7A"/>
                </a:solidFill>
              </a:rPr>
              <a:t>US$ earned from sewing · October is to 17 Oct only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ote Reading the chart"/>
          <p:cNvSpPr/>
          <p:nvPr/>
        </p:nvSpPr>
        <p:spPr>
          <a:xfrm>
            <a:off x="8412480" y="1371600"/>
            <a:ext cx="3319272" cy="4754880"/>
          </a:xfrm>
          <a:prstGeom prst="roundRect">
            <a:avLst>
              <a:gd name="adj" fmla="val 2755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508760"/>
            <a:ext cx="29535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3864"/>
                </a:solidFill>
              </a:rPr>
              <a:t>Reading the chart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Highest: Jan $3.02M (1,102 line-days).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Lowest full month: Mar $1.66M.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Monthly CM depends on line-days run and on CM per line-day — the next slide separates the two.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Oct $1.27M covers 1–17 Oct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Earned per line-day has slipped since May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7A"/>
                </a:solidFill>
              </a:rPr>
              <a:t>US$ per line-day by month vs the $2,500 benchmark and the $3,500 line target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ote Reading the chart"/>
          <p:cNvSpPr/>
          <p:nvPr/>
        </p:nvSpPr>
        <p:spPr>
          <a:xfrm>
            <a:off x="8412480" y="1371600"/>
            <a:ext cx="3319272" cy="4754880"/>
          </a:xfrm>
          <a:prstGeom prst="roundRect">
            <a:avLst>
              <a:gd name="adj" fmla="val 2755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508760"/>
            <a:ext cx="29535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3864"/>
                </a:solidFill>
              </a:rPr>
              <a:t>Reading the chart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Peak May: $3,042 per line-day.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Below $2,500 in 5 month(s): Mar, Jul, Aug, Sept, Oct.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No month reached the $3,500 target.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Efficiency fell from 76.6% (Jan) to 64.2% (Oct) over the same period.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Monthly gap to the $3,500 line target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7A"/>
                </a:solidFill>
              </a:rPr>
              <a:t>Earned − $3,500 × line-days · every month is short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680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ote Reading the chart"/>
          <p:cNvSpPr/>
          <p:nvPr/>
        </p:nvSpPr>
        <p:spPr>
          <a:xfrm>
            <a:off x="8412480" y="1371600"/>
            <a:ext cx="3319272" cy="4754880"/>
          </a:xfrm>
          <a:prstGeom prst="roundRect">
            <a:avLst>
              <a:gd name="adj" fmla="val 2755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508760"/>
            <a:ext cx="29535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3864"/>
                </a:solidFill>
              </a:rPr>
              <a:t>Reading the chart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Total gap −$8.34M on 8,854 line-days.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Largest gaps: Sept −$1.27M, Aug −$1.16M, Jul −$1.13M.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The gap widened from Jul as $/line-day fell while line-days stayed high.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$3,500 is the line target used in the Revenue file ("TARGET −$3500US").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Who earns the CM — by buyer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7A"/>
                </a:solidFill>
              </a:rPr>
              <a:t>Earned US$, top 10 buyers + others · our accounts in orange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9494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ote Reading the chart"/>
          <p:cNvSpPr/>
          <p:nvPr/>
        </p:nvSpPr>
        <p:spPr>
          <a:xfrm>
            <a:off x="7680960" y="1371600"/>
            <a:ext cx="4050792" cy="4800600"/>
          </a:xfrm>
          <a:prstGeom prst="roundRect">
            <a:avLst>
              <a:gd name="adj" fmla="val 2257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508760"/>
            <a:ext cx="36850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3864"/>
                </a:solidFill>
              </a:rPr>
              <a:t>Reading the chart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ZARA 31%, OJG 27%, GAP 10% of all CM.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Above $2,500/line-day (≥ 30 line-days): ZARA $2,905, GAP $3,121, EXPRESS $3,131, NOBLE OUTFITTERS $2,680, AERO $2,551, TRIBAL $2,571.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13D"/>
                </a:solidFill>
              </a:rPr>
              <a:t>TARGET ranks #4 by CM, KMART #8.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Buyer scorecard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7A"/>
                </a:solidFill>
              </a:rPr>
              <a:t>Year to date · green = at or above $2,500 per line-day · grade from the Buyer KPI ranking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1051560"/>
                <a:gridCol w="1371600"/>
                <a:gridCol w="868680"/>
                <a:gridCol w="1188720"/>
                <a:gridCol w="1463040"/>
                <a:gridCol w="914400"/>
                <a:gridCol w="1490472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Earned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$/line-day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$3,500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CM/min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7,120,480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−$1,458,020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6,082,387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−$2,720,113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2,300,232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−$279,268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1,313,095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−$772,905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807,716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−$95,284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SOLAMODA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779,521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−$459,479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NOBLE OUTFITTERS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656,632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−$200,868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646,838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−$375,162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611,579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−$396,421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 COUTURE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431,527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−$422,473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412,264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−$217,736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357,182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−$132,818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WALMART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311,834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−$220,166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242,478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−$132,022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CARREFOUR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201,104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−$194,396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07A"/>
                </a:solidFill>
              </a:rPr>
              <a:t>Shaded rows = our accounts (TARGET, KMART). Buyers with fewer than 30 line-days are left out (trial runs).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Our accounts: TARGET and KMART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7A"/>
                </a:solidFill>
              </a:rPr>
              <a:t>Both sit below the $2,500 benchmark — efficiency is the main gap</a:t>
            </a:r>
            <a:endParaRPr lang="en-US" sz="1300" dirty="0"/>
          </a:p>
        </p:txBody>
      </p:sp>
      <p:sp>
        <p:nvSpPr>
          <p:cNvPr id="4" name="stat TARGET · CM earned"/>
          <p:cNvSpPr/>
          <p:nvPr/>
        </p:nvSpPr>
        <p:spPr>
          <a:xfrm>
            <a:off x="457200" y="141732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7A"/>
                </a:solidFill>
              </a:rPr>
              <a:t>TARGET · CM EARNED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013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</a:rPr>
              <a:t>$1.31M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A"/>
                </a:solidFill>
              </a:rPr>
              <a:t>596 line-days · grade B · 5.8% of factory</a:t>
            </a:r>
            <a:endParaRPr lang="en-US" sz="1050" dirty="0"/>
          </a:p>
        </p:txBody>
      </p:sp>
      <p:sp>
        <p:nvSpPr>
          <p:cNvPr id="8" name="stat KMART · CM earned"/>
          <p:cNvSpPr/>
          <p:nvPr/>
        </p:nvSpPr>
        <p:spPr>
          <a:xfrm>
            <a:off x="4297680" y="141732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4F6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7A"/>
                </a:solidFill>
              </a:rPr>
              <a:t>KMART · CM EARNED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8013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</a:rPr>
              <a:t>$0.65M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A"/>
                </a:solidFill>
              </a:rPr>
              <a:t>292 line-days · grade C · 2.9% of factory</a:t>
            </a:r>
            <a:endParaRPr lang="en-US" sz="1050" dirty="0"/>
          </a:p>
        </p:txBody>
      </p:sp>
      <p:sp>
        <p:nvSpPr>
          <p:cNvPr id="12" name="stat Factory · CM earned"/>
          <p:cNvSpPr/>
          <p:nvPr/>
        </p:nvSpPr>
        <p:spPr>
          <a:xfrm>
            <a:off x="8138160" y="1417320"/>
            <a:ext cx="3593592" cy="1417320"/>
          </a:xfrm>
          <a:prstGeom prst="roundRect">
            <a:avLst>
              <a:gd name="adj" fmla="val 7742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52704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D6F2"/>
                </a:solidFill>
              </a:rPr>
              <a:t>FACTORY · CM EARNED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1801368"/>
            <a:ext cx="3227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$22.65M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37744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F2"/>
                </a:solidFill>
              </a:rPr>
              <a:t>8,854 line-days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2103120"/>
                <a:gridCol w="2103120"/>
                <a:gridCol w="22219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per line-day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2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$2,500 / $3,500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2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per minute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2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DHU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2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$3,500 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−$772,905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−$375,162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−$8,341,332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526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13D"/>
                </a:solidFill>
              </a:rPr>
              <a:t>At factory efficiency (69.3%), TARGET would earn about $49,143 more and KMART about $4,701 more over the same line-days (simple pro-rata, same CM per minute).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Best and weakest sewing lines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7A"/>
                </a:solidFill>
              </a:rPr>
              <a:t>$ per line-day, year to date · lines with ≥ 30 line-days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45352" y="141732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61772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554480"/>
                <a:gridCol w="1920240"/>
                <a:gridCol w="1554480"/>
                <a:gridCol w="1645920"/>
                <a:gridCol w="16733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Line-days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Earned 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$/line-day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 ≥ $2,500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$3,500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9,852,006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−$3,195,994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9,273,113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of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−$3,774,887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3,522,549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A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−$1,370,451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Points for discussion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07A"/>
                </a:solidFill>
              </a:rPr>
              <a:t>From the numbers above — for management decision</a:t>
            </a:r>
            <a:endParaRPr lang="en-US" sz="1300" dirty="0"/>
          </a:p>
        </p:txBody>
      </p:sp>
      <p:sp>
        <p:nvSpPr>
          <p:cNvPr id="4" name="num 1"/>
          <p:cNvSpPr/>
          <p:nvPr/>
        </p:nvSpPr>
        <p:spPr>
          <a:xfrm>
            <a:off x="502920" y="1527048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1732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Efficiency recovery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</a:rPr>
              <a:t>Factory 69.3% vs 80% standard. Each point ≈ $326,806 CM. Fell from 76.6% in Jan to 64.2% in Oct.</a:t>
            </a:r>
            <a:endParaRPr lang="en-US" sz="1500" dirty="0"/>
          </a:p>
        </p:txBody>
      </p:sp>
      <p:sp>
        <p:nvSpPr>
          <p:cNvPr id="7" name="num 2"/>
          <p:cNvSpPr/>
          <p:nvPr/>
        </p:nvSpPr>
        <p:spPr>
          <a:xfrm>
            <a:off x="502920" y="2459736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50008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Low-yield buyers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</a:rPr>
              <a:t>Below $2,000 per line-day with ≥ 100 line-days: MED COUTURE $1,769, CARREFOUR $1,780. Review price / CM per minute or line allocation.</a:t>
            </a:r>
            <a:endParaRPr lang="en-US" sz="1500" dirty="0"/>
          </a:p>
        </p:txBody>
      </p:sp>
      <p:sp>
        <p:nvSpPr>
          <p:cNvPr id="10" name="num 3"/>
          <p:cNvSpPr/>
          <p:nvPr/>
        </p:nvSpPr>
        <p:spPr>
          <a:xfrm>
            <a:off x="502920" y="3392424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282696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Our accounts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</a:rPr>
              <a:t>TARGET $2,203 and KMART $2,215 per line-day — both under $2,500; efficiency 66.8% / 68.8%.</a:t>
            </a:r>
            <a:endParaRPr lang="en-US" sz="1500" dirty="0"/>
          </a:p>
        </p:txBody>
      </p:sp>
      <p:sp>
        <p:nvSpPr>
          <p:cNvPr id="13" name="num 4"/>
          <p:cNvSpPr/>
          <p:nvPr/>
        </p:nvSpPr>
        <p:spPr>
          <a:xfrm>
            <a:off x="502920" y="4325112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15384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Weak lines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</a:rPr>
              <a:t>Lowest: Line 23 (U2) $1,725, Line 28 (U2) $2,132, Line 10 (U1) $2,157.</a:t>
            </a:r>
            <a:endParaRPr lang="en-US" sz="1500" dirty="0"/>
          </a:p>
        </p:txBody>
      </p:sp>
      <p:sp>
        <p:nvSpPr>
          <p:cNvPr id="16" name="num 5"/>
          <p:cNvSpPr/>
          <p:nvPr/>
        </p:nvSpPr>
        <p:spPr>
          <a:xfrm>
            <a:off x="502920" y="525780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5148072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</a:rPr>
              <a:t>Target setting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</a:rPr>
              <a:t>Factory average $2,558 is $942 below the $3,500 line target; confirm whether $3,500 stays the target for Q4.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A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rling CM">
  <a:themeElements>
    <a:clrScheme name="Sterling CM">
      <a:dk1>
        <a:srgbClr val="14213D"/>
      </a:dk1>
      <a:lt1>
        <a:srgbClr val="FFFFFF"/>
      </a:lt1>
      <a:dk2>
        <a:srgbClr val="1F3864"/>
      </a:dk2>
      <a:lt2>
        <a:srgbClr val="F4F6F9"/>
      </a:lt2>
      <a:accent1>
        <a:srgbClr val="2A78D6"/>
      </a:accent1>
      <a:accent2>
        <a:srgbClr val="EB6834"/>
      </a:accent2>
      <a:accent3>
        <a:srgbClr val="1A7F4B"/>
      </a:accent3>
      <a:accent4>
        <a:srgbClr val="C23B3B"/>
      </a:accent4>
      <a:accent5>
        <a:srgbClr val="B7791F"/>
      </a:accent5>
      <a:accent6>
        <a:srgbClr val="8A96AB"/>
      </a:accent6>
      <a:hlink>
        <a:srgbClr val="2A78D6"/>
      </a:hlink>
      <a:folHlink>
        <a:srgbClr val="6250D6"/>
      </a:folHlink>
    </a:clrScheme>
    <a:fontScheme name="Sterling C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Sterling Styles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and CM Earned - Management Review</dc:title>
  <dc:subject>PptxGenJS Presentation</dc:subject>
  <dc:creator>PptxGenJS</dc:creator>
  <cp:lastModifiedBy>PptxGenJS</cp:lastModifiedBy>
  <cp:revision>1</cp:revision>
  <dcterms:created xsi:type="dcterms:W3CDTF">2026-10-18T20:47:25Z</dcterms:created>
  <dcterms:modified xsi:type="dcterms:W3CDTF">2026-10-18T20:47:25Z</dcterms:modified>
</cp:coreProperties>
</file>