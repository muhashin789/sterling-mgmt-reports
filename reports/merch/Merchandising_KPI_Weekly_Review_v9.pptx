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24"/>
    <p:sldId id="257" r:id="rId3"/>
    <p:sldId id="258" r:id="rId4"/>
    <p:sldId id="261" r:id="rId7"/>
    <p:sldId id="262" r:id="rId8"/>
    <p:sldId id="263" r:id="rId9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64" r:id="rId10"/>
    <p:sldId id="259" r:id="rId5"/>
    <p:sldId id="260" r:id="rId6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c473afa1-e3e0-80b5-60aa-f1b07c0e80eb}">
          <p14:sldIdLst>
            <p14:sldId id="256"/>
          </p14:sldIdLst>
        </p14:section>
        <p14:section name="01–03 Orders" id="{3db2e174-c503-7270-7c8d-74b3db756327}">
          <p14:sldIdLst>
            <p14:sldId id="257"/>
            <p14:sldId id="258"/>
          </p14:sldIdLst>
        </p14:section>
        <p14:section name="05 Team" id="{f73fe357-eb96-a7bd-54dc-6fd1335b38d2}">
          <p14:sldIdLst>
            <p14:sldId id="259"/>
            <p14:sldId id="260"/>
          </p14:sldIdLst>
        </p14:section>
        <p14:section name="06 Value addition" id="{c5463303-406b-f9d6-e7ac-518b54adfcc5}">
          <p14:sldIdLst>
            <p14:sldId id="261"/>
          </p14:sldIdLst>
        </p14:section>
        <p14:section name="07 File closing" id="{16f2d2d4-7b4a-a99f-0906-28e8e641eafe}">
          <p14:sldIdLst>
            <p14:sldId id="262"/>
            <p14:sldId id="263"/>
          </p14:sldIdLst>
        </p14:section>
        <p14:section name="09 Management" id="{c42f9c81-8118-6e73-7a39-f4601d4d4ea6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6F7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6B6F78"/>
                </a:solidFill>
                <a:latin typeface="+mn-lt"/>
              </a:rPr>
              <a:t>Open qty by FFD month (pcs)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Kmart</c:v>
                </c:pt>
              </c:strCache>
            </c:strRef>
          </c:tx>
          <c:spPr>
            <a:solidFill>
              <a:srgbClr val="E8692F"/>
            </a:solidFill>
            <a:effectLst/>
          </c:spPr>
          <c:invertIfNegative val="0"/>
          <c:dLbls>
            <c:numFmt formatCode="#,##0,&quot;K&quot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Nov 26</c:v>
                  </c:pt>
                  <c:pt idx="1">
                    <c:v>Dec 26</c:v>
                  </c:pt>
                  <c:pt idx="2">
                    <c:v>Jan 27</c:v>
                  </c:pt>
                  <c:pt idx="3">
                    <c:v>Feb 27</c:v>
                  </c:pt>
                  <c:pt idx="4">
                    <c:v>Mar 27</c:v>
                  </c:pt>
                  <c:pt idx="5">
                    <c:v>Apr 27</c:v>
                  </c:pt>
                  <c:pt idx="6">
                    <c:v>May 27</c:v>
                  </c:pt>
                  <c:pt idx="7">
                    <c:v>TBA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38636</c:v>
                </c:pt>
                <c:pt idx="1">
                  <c:v>2025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TARGET-38</c:v>
                </c:pt>
              </c:strCache>
            </c:strRef>
          </c:tx>
          <c:spPr>
            <a:solidFill>
              <a:srgbClr val="2D7BD8"/>
            </a:solidFill>
            <a:effectLst/>
          </c:spPr>
          <c:invertIfNegative val="0"/>
          <c:dLbls>
            <c:numFmt formatCode="#,##0,&quot;K&quot;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Nov 26</c:v>
                  </c:pt>
                  <c:pt idx="1">
                    <c:v>Dec 26</c:v>
                  </c:pt>
                  <c:pt idx="2">
                    <c:v>Jan 27</c:v>
                  </c:pt>
                  <c:pt idx="3">
                    <c:v>Feb 27</c:v>
                  </c:pt>
                  <c:pt idx="4">
                    <c:v>Mar 27</c:v>
                  </c:pt>
                  <c:pt idx="5">
                    <c:v>Apr 27</c:v>
                  </c:pt>
                  <c:pt idx="6">
                    <c:v>May 27</c:v>
                  </c:pt>
                  <c:pt idx="7">
                    <c:v>TBA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33019</c:v>
                </c:pt>
                <c:pt idx="1">
                  <c:v>77851</c:v>
                </c:pt>
                <c:pt idx="2">
                  <c:v>61353</c:v>
                </c:pt>
                <c:pt idx="3">
                  <c:v>47283</c:v>
                </c:pt>
                <c:pt idx="4">
                  <c:v>36040</c:v>
                </c:pt>
                <c:pt idx="5">
                  <c:v>13625</c:v>
                </c:pt>
                <c:pt idx="6">
                  <c:v>4404</c:v>
                </c:pt>
                <c:pt idx="7">
                  <c:v>35073</c:v>
                </c:pt>
              </c:numCache>
            </c:numRef>
          </c:val>
        </c:ser>
        <c:dLbls>
          <c:numFmt formatCode="#,##0,&quot;K&quot;;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D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1DED8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B6F7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6F78"/>
                </a:solidFill>
                <a:latin typeface="+mn-lt"/>
              </a:defRPr>
            </a:pPr>
            <a:r>
              <a:rPr sz="1000" b="0" i="0" u="none" strike="noStrike">
                <a:solidFill>
                  <a:srgbClr val="6B6F78"/>
                </a:solidFill>
                <a:latin typeface="+mn-lt"/>
              </a:rPr>
              <a:t>Where the $2.86M realised export went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7F5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1591204.0900000015</c:v>
                </c:pt>
                <c:pt idx="2">
                  <c:v>1544471.2400000014</c:v>
                </c:pt>
                <c:pt idx="3">
                  <c:v>1120681.2800000014</c:v>
                </c:pt>
                <c:pt idx="4">
                  <c:v>872414.4900000014</c:v>
                </c:pt>
                <c:pt idx="5">
                  <c:v>871397.9772217656</c:v>
                </c:pt>
                <c:pt idx="6">
                  <c:v>860163.8572217656</c:v>
                </c:pt>
                <c:pt idx="7">
                  <c:v>859166.4172217656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2857350.5900000012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Fabric</c:v>
                </c:pt>
              </c:strCache>
            </c:strRef>
          </c:tx>
          <c:spPr>
            <a:solidFill>
              <a:srgbClr val="8E8A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1266146.4999999998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Trims / other</c:v>
                </c:pt>
              </c:strCache>
            </c:strRef>
          </c:tx>
          <c:spPr>
            <a:solidFill>
              <a:srgbClr val="C9C5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46732.850000000006</c:v>
                </c:pt>
                <c:pt idx="3">
                  <c:v>423789.9599999999</c:v>
                </c:pt>
                <c:pt idx="4">
                  <c:v>0</c:v>
                </c:pt>
                <c:pt idx="5">
                  <c:v>0</c:v>
                </c:pt>
                <c:pt idx="6">
                  <c:v>11234.119999999999</c:v>
                </c:pt>
                <c:pt idx="7">
                  <c:v>997.44</c:v>
                </c:pt>
                <c:pt idx="8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Wash</c:v>
                </c:pt>
              </c:strCache>
            </c:strRef>
          </c:tx>
          <c:spPr>
            <a:solidFill>
              <a:srgbClr val="E869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248266.79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Air freight</c:v>
                </c:pt>
              </c:strCache>
            </c:strRef>
          </c:tx>
          <c:spPr>
            <a:solidFill>
              <a:srgbClr val="D945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1016.5127782357791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CM</c:v>
                </c:pt>
              </c:strCache>
            </c:strRef>
          </c:tx>
          <c:spPr>
            <a:solidFill>
              <a:srgbClr val="2D7B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Realised export</c:v>
                  </c:pt>
                  <c:pt idx="1">
                    <c:v>Fabric</c:v>
                  </c:pt>
                  <c:pt idx="2">
                    <c:v>Pocketing</c:v>
                  </c:pt>
                  <c:pt idx="3">
                    <c:v>Accessories</c:v>
                  </c:pt>
                  <c:pt idx="4">
                    <c:v>Wash — BCL</c:v>
                  </c:pt>
                  <c:pt idx="5">
                    <c:v>Air freight</c:v>
                  </c:pt>
                  <c:pt idx="6">
                    <c:v>Testing</c:v>
                  </c:pt>
                  <c:pt idx="7">
                    <c:v>ARC cash pay</c:v>
                  </c:pt>
                  <c:pt idx="8">
                    <c:v>CM</c:v>
                  </c:pt>
                </c:lvl>
              </c:multiLvlStrCache>
            </c:multiLvl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859166.4172217652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D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000"/>
        </c:scaling>
        <c:delete val="0"/>
        <c:axPos val="l"/>
        <c:majorGridlines>
          <c:spPr>
            <a:ln w="9525" cap="flat">
              <a:solidFill>
                <a:srgbClr val="E1DED8"/>
              </a:solidFill>
              <a:prstDash val="solid"/>
              <a:round/>
            </a:ln>
          </c:spPr>
        </c:majorGridlines>
        <c:numFmt formatCode="$#,##0.0,,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07008"/>
            <a:ext cx="1109167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6F78"/>
                </a:solidFill>
              </a:rPr>
              <a:t>STERLING STYLES LTD · WEEKLY ACCOUNT REVIEW · JOY'S TEAM</a:t>
            </a:r>
            <a:endParaRPr lang="en-US" sz="8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b="1" spc="200" kern="0" dirty="0">
                <a:solidFill>
                  <a:srgbClr val="2D7BD8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B1D24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1B1D24"/>
                </a:solidFill>
              </a:defRPr>
            </a:lvl1pPr>
          </a:lstStyle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6B6F78"/>
                </a:solidFill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slide" Target="slide18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slide18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Relationship Id="rId4" Type="http://schemas.openxmlformats.org/officeDocument/2006/relationships/slide" Target="slide18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slide" Target="slide18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slide" Target="slide18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slide" Target="slide18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Relationship Id="rId4" Type="http://schemas.openxmlformats.org/officeDocument/2006/relationships/slide" Target="slide18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slide" Target="slide1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slide" Target="slide18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18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9.xml"/><Relationship Id="rId15" Type="http://schemas.openxmlformats.org/officeDocument/2006/relationships/slide" Target="slide6.xml"/><Relationship Id="rId16" Type="http://schemas.openxmlformats.org/officeDocument/2006/relationships/slide" Target="slide4.xml"/><Relationship Id="rId17" Type="http://schemas.openxmlformats.org/officeDocument/2006/relationships/slide" Target="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FB6E8"/>
                </a:solidFill>
              </a:rPr>
              <a:t>STERLING STYLES LTD · MERCHANDISING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173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Weekly Account Review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A"/>
                </a:solidFill>
              </a:rPr>
              <a:t>Muhashin Joy's team — Target Australia · Kmart Australia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01–03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New &amp; upcoming orders, CM &amp; wash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68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Organogram &amp; responsibilities</a:t>
            </a:r>
            <a:endParaRPr lang="en-US" sz="1200" dirty="0"/>
          </a:p>
        </p:txBody>
      </p:sp>
      <p:sp>
        <p:nvSpPr>
          <p:cNvPr id="90" name="Text 4"/>
          <p:cNvSpPr txBox="1"/>
          <p:nvPr/>
        </p:nvSpPr>
        <p:spPr>
          <a:xfrm>
            <a:off x="822960" y="5815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Merchandising KPI, order book, products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5120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Value addition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5468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File closing — TARGET-36 · KPIs, cut to ship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5815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  </a:t>
            </a:r>
            <a:pPr indent="0" marL="0">
              <a:buNone/>
            </a:pPr>
            <a:r>
              <a:rPr lang="en-US" sz="1200" dirty="0">
                <a:solidFill>
                  <a:srgbClr val="D7DFEC"/>
                </a:solidFill>
              </a:rPr>
              <a:t>SWOT, improvement plan &amp; CM for management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5486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11 Oct 2026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8FB6E8"/>
                </a:solidFill>
              </a:rPr>
              <a:t>Week 41</a:t>
            </a:r>
            <a:endParaRPr lang="en-US" sz="120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1B1D24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POINTERS 01 · 02 · 03 — NEW ORDERS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 Australia — new orders booked last week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Source: Information file · NEW ORDERS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01–03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NEW ORDER QTY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34,920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pcs · 4 styles · 27 POs</a:t>
            </a:r>
            <a:endParaRPr lang="en-US" sz="900" dirty="0"/>
          </a:p>
        </p:txBody>
      </p:sp>
      <p:sp>
        <p:nvSpPr>
          <p:cNvPr id="9" name="kpi divider"/>
          <p:cNvSpPr/>
          <p:nvPr/>
        </p:nvSpPr>
        <p:spPr>
          <a:xfrm>
            <a:off x="2629814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6974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FOB VALUE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2766974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$258,112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766974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avg $7.39 / pc</a:t>
            </a:r>
            <a:endParaRPr lang="en-US" sz="900" dirty="0"/>
          </a:p>
        </p:txBody>
      </p:sp>
      <p:sp>
        <p:nvSpPr>
          <p:cNvPr id="13" name="kpi divider"/>
          <p:cNvSpPr/>
          <p:nvPr/>
        </p:nvSpPr>
        <p:spPr>
          <a:xfrm>
            <a:off x="4848149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5309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CM EARNED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985309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BD8"/>
                </a:solidFill>
              </a:rPr>
              <a:t>$73,886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985309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avg $2.12 / pc · 28.6% of FOB</a:t>
            </a:r>
            <a:endParaRPr lang="en-US" sz="900" dirty="0"/>
          </a:p>
        </p:txBody>
      </p:sp>
      <p:sp>
        <p:nvSpPr>
          <p:cNvPr id="17" name="kpi divider"/>
          <p:cNvSpPr/>
          <p:nvPr/>
        </p:nvSpPr>
        <p:spPr>
          <a:xfrm>
            <a:off x="7066483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03643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CPM (CM PER MINUTE)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203643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BD8"/>
                </a:solidFill>
              </a:rPr>
              <a:t>9.29¢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203643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795,349 min · std 8.43¢</a:t>
            </a:r>
            <a:endParaRPr lang="en-US" sz="900" dirty="0"/>
          </a:p>
        </p:txBody>
      </p:sp>
      <p:sp>
        <p:nvSpPr>
          <p:cNvPr id="21" name="kpi divider"/>
          <p:cNvSpPr/>
          <p:nvPr/>
        </p:nvSpPr>
        <p:spPr>
          <a:xfrm>
            <a:off x="9284818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21978" y="1371600"/>
            <a:ext cx="19440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WASH COST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421978" y="1572768"/>
            <a:ext cx="194401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92F"/>
                </a:solidFill>
              </a:rPr>
              <a:t>$41,283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421978" y="2011680"/>
            <a:ext cx="1944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avg $1.18 / pc · 16.0% of FOB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4231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CM &amp; WASH AS % OF TOTAL FOB — WEIGHTED ACROSS ALL 27 POs</a:t>
            </a:r>
            <a:endParaRPr lang="en-US" sz="800" dirty="0"/>
          </a:p>
        </p:txBody>
      </p:sp>
      <p:sp>
        <p:nvSpPr>
          <p:cNvPr id="26" name="mix Fabric + trims"/>
          <p:cNvSpPr/>
          <p:nvPr/>
        </p:nvSpPr>
        <p:spPr>
          <a:xfrm>
            <a:off x="548640" y="2651760"/>
            <a:ext cx="6142583" cy="329184"/>
          </a:xfrm>
          <a:prstGeom prst="rect">
            <a:avLst/>
          </a:prstGeom>
          <a:solidFill>
            <a:srgbClr val="8E8A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Fabric + trims 55.4%</a:t>
            </a:r>
            <a:endParaRPr lang="en-US" sz="1000" dirty="0"/>
          </a:p>
        </p:txBody>
      </p:sp>
      <p:sp>
        <p:nvSpPr>
          <p:cNvPr id="27" name="mix CM"/>
          <p:cNvSpPr/>
          <p:nvPr/>
        </p:nvSpPr>
        <p:spPr>
          <a:xfrm>
            <a:off x="6691223" y="2651760"/>
            <a:ext cx="3175048" cy="329184"/>
          </a:xfrm>
          <a:prstGeom prst="rect">
            <a:avLst/>
          </a:prstGeom>
          <a:solidFill>
            <a:srgbClr val="2D7B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CM 28.6%</a:t>
            </a:r>
            <a:endParaRPr lang="en-US" sz="1000" dirty="0"/>
          </a:p>
        </p:txBody>
      </p:sp>
      <p:sp>
        <p:nvSpPr>
          <p:cNvPr id="28" name="mix Wash"/>
          <p:cNvSpPr/>
          <p:nvPr/>
        </p:nvSpPr>
        <p:spPr>
          <a:xfrm>
            <a:off x="9866270" y="2651760"/>
            <a:ext cx="1774042" cy="329184"/>
          </a:xfrm>
          <a:prstGeom prst="rect">
            <a:avLst/>
          </a:prstGeom>
          <a:solidFill>
            <a:srgbClr val="E8692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Wash 16.0%</a:t>
            </a:r>
            <a:endParaRPr lang="en-US" sz="1000" dirty="0"/>
          </a:p>
        </p:txBody>
      </p:sp>
      <p:graphicFrame>
        <p:nvGraphicFramePr>
          <p:cNvPr id="3" name="sty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1672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1691640"/>
                <a:gridCol w="868680"/>
                <a:gridCol w="685800"/>
                <a:gridCol w="822960"/>
                <a:gridCol w="822960"/>
                <a:gridCol w="868680"/>
                <a:gridCol w="868680"/>
                <a:gridCol w="822960"/>
                <a:gridCol w="777240"/>
                <a:gridCol w="71323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 / COLOUR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QTY PCS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/ 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/ DZ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 / 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 / DZ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FOB / 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% FOB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 % FOB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3400343346_01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POs · FFD 14 Dec 26 – 05 Apr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Mid Wash Blue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9,354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3400343349_01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POs · FFD 21 Dec 26 – 25 Jan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Dark Blue Wash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3400343351_01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POs · FFD 28 Dec 26 – 26 Apr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 Mid Wash Blue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14,159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$25.80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2900345832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POs · FFD 18 Jan 27 – 22 Feb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D24"/>
                </a:solidFill>
              </a:rPr>
              <a:t>Pushing CM on these orders: </a:t>
            </a:r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</a:rPr>
              <a:t>every style is costed above the 8.43¢ CPM standard (lowest 9.14¢, highest 9.43¢). Detail on the last page.</a:t>
            </a:r>
            <a:endParaRPr lang="en-US" sz="100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POINTERS 01 · 02 · 03 — UPCOMING ORDERS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Upcoming orders — TARGET-38 and Kmart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Open qty by FFD month, Nov 26 onward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Source: Information file · ORDER DATA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01–03</a:t>
            </a:r>
            <a:endParaRPr lang="en-US" sz="800" dirty="0"/>
          </a:p>
        </p:txBody>
      </p:sp>
      <p:graphicFrame>
        <p:nvGraphicFramePr>
          <p:cNvPr id="6" name="upcoming chart" descr=""/>
          <p:cNvGraphicFramePr/>
          <p:nvPr/>
        </p:nvGraphicFramePr>
        <p:xfrm>
          <a:off x="548640" y="137160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412480" y="1371600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TARGET-38 · AUSTRALIA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572768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308,648 pcs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1993392"/>
            <a:ext cx="3227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44 styles · 103 POs · nothing shipped yet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$2,733,499 FOB · avg $9.35 / pc on priced lines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412480" y="2606040"/>
            <a:ext cx="322783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2743200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KMART AUSTRALIA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944368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40,661 pcs open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364992"/>
            <a:ext cx="32278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38,636 due in Nov · 2,025 Dec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1,376,836 of 1,584,324 pcs already shipped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412480" y="3977640"/>
            <a:ext cx="322783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4114800"/>
            <a:ext cx="3227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TOTAL UPCOMING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315968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349,309 pcs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736592"/>
            <a:ext cx="3227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TARGET-38 + Kmart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Not shown: TARGET-37 open balance — shipped qty in ORDER DATA needs an ERP refresh before it can be reported. Kmart FOB is not in the file, so Kmart is shown in qty only. 8 TARGET-38 lines (16,200 pcs) have no FOB yet.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4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05 — ORGANOGRAM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Merchandising team structure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Brands shown per team / person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Joy"/>
          <p:cNvSpPr/>
          <p:nvPr/>
        </p:nvSpPr>
        <p:spPr>
          <a:xfrm>
            <a:off x="4762500" y="1390650"/>
            <a:ext cx="2667000" cy="666750"/>
          </a:xfrm>
          <a:prstGeom prst="roundRect">
            <a:avLst>
              <a:gd name="adj" fmla="val 10971"/>
            </a:avLst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62500" y="1390650"/>
            <a:ext cx="2667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8FB6E8"/>
                </a:solidFill>
              </a:rPr>
              <a:t>HEAD OF TEAM</a:t>
            </a:r>
            <a:endParaRPr lang="en-US" sz="8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096000" y="2057400"/>
            <a:ext cx="0" cy="26670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6750" y="2324100"/>
            <a:ext cx="3238500" cy="9906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76750" y="2324100"/>
            <a:ext cx="3238500" cy="47625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7250" y="2457450"/>
            <a:ext cx="285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D55"/>
                </a:solidFill>
              </a:rPr>
              <a:t>TEAM LEADER</a:t>
            </a:r>
            <a:endParaRPr lang="en-US" sz="8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1D24"/>
                </a:solidFill>
              </a:rPr>
              <a:t>Uzzal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67250" y="2990850"/>
            <a:ext cx="1009650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Australia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34050" y="2990850"/>
            <a:ext cx="9572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Kmart Australia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096000" y="3314700"/>
            <a:ext cx="0" cy="161925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7900" y="3476625"/>
            <a:ext cx="769620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7900" y="3476625"/>
            <a:ext cx="0" cy="161925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3400" y="3638550"/>
            <a:ext cx="3429000" cy="1123950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3400" y="3638550"/>
            <a:ext cx="3429000" cy="47625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3900" y="37719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D55"/>
                </a:solidFill>
              </a:rPr>
              <a:t>TEAM</a:t>
            </a:r>
            <a:endParaRPr lang="en-US" sz="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</a:rPr>
              <a:t>Kmart &amp; Target Kids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3900" y="4229100"/>
            <a:ext cx="9572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Kmart Australia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38313" y="4229100"/>
            <a:ext cx="13763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Australia – Kids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04850" y="4762500"/>
            <a:ext cx="0" cy="4762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850" y="523875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6300" y="4933950"/>
            <a:ext cx="308610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6300" y="4933950"/>
            <a:ext cx="38100" cy="60960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7750" y="5010150"/>
            <a:ext cx="2800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Pelu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47750" y="5267325"/>
            <a:ext cx="9572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Kmart Australia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62163" y="5267325"/>
            <a:ext cx="1533525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Kids bulk execution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96000" y="3476625"/>
            <a:ext cx="0" cy="161925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1500" y="3638550"/>
            <a:ext cx="3429000" cy="1123950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1500" y="3638550"/>
            <a:ext cx="3429000" cy="47625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0" y="37719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D55"/>
                </a:solidFill>
              </a:rPr>
              <a:t>TEAM</a:t>
            </a:r>
            <a:endParaRPr lang="en-US" sz="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</a:rPr>
              <a:t>Sourcing, Costing &amp; Development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0" y="4419600"/>
            <a:ext cx="590550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Sourcing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19700" y="4419600"/>
            <a:ext cx="5381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Costing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15013" y="4419600"/>
            <a:ext cx="74771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Development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52950" y="4762500"/>
            <a:ext cx="0" cy="4762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52950" y="523875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24400" y="4933950"/>
            <a:ext cx="308610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24400" y="4933950"/>
            <a:ext cx="38100" cy="6096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95850" y="4933950"/>
            <a:ext cx="2800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Sharf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52950" y="5238750"/>
            <a:ext cx="0" cy="7429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2950" y="598170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24400" y="5676900"/>
            <a:ext cx="308610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4400" y="5676900"/>
            <a:ext cx="38100" cy="609600"/>
          </a:xfrm>
          <a:prstGeom prst="rect">
            <a:avLst/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95850" y="5676900"/>
            <a:ext cx="28003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Rajee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944100" y="3476625"/>
            <a:ext cx="0" cy="161925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0" y="3638550"/>
            <a:ext cx="3429000" cy="1123950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638550"/>
            <a:ext cx="3429000" cy="47625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420100" y="37719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4D55"/>
                </a:solidFill>
              </a:rPr>
              <a:t>TEAM</a:t>
            </a:r>
            <a:endParaRPr lang="en-US" sz="8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D24"/>
                </a:solidFill>
              </a:rPr>
              <a:t>Mens &amp; Ladies Bulk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420100" y="4229100"/>
            <a:ext cx="1376363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Australia – Mens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853613" y="4229100"/>
            <a:ext cx="1481138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Target Australia – Ladies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8401050" y="4762500"/>
            <a:ext cx="0" cy="4762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01050" y="523875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72500" y="4933950"/>
            <a:ext cx="308610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72500" y="4933950"/>
            <a:ext cx="38100" cy="60960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743950" y="5010150"/>
            <a:ext cx="2800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Sanaul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743950" y="5267325"/>
            <a:ext cx="1638300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Mens &amp; Ladies bulk execution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724900" y="5543550"/>
            <a:ext cx="0" cy="43815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24900" y="5981700"/>
            <a:ext cx="171450" cy="0"/>
          </a:xfrm>
          <a:prstGeom prst="line">
            <a:avLst/>
          </a:prstGeom>
          <a:noFill/>
          <a:ln w="12700">
            <a:solidFill>
              <a:srgbClr val="B9B5A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96350" y="5676900"/>
            <a:ext cx="2762250" cy="60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96350" y="5676900"/>
            <a:ext cx="38100" cy="609600"/>
          </a:xfrm>
          <a:prstGeom prst="rect">
            <a:avLst/>
          </a:prstGeom>
          <a:solidFill>
            <a:srgbClr val="6B4FC8"/>
          </a:solidFill>
          <a:ln w="12700">
            <a:solidFill>
              <a:srgbClr val="6B4FC8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067800" y="575310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4"/>
                </a:solidFill>
              </a:rPr>
              <a:t>Jahid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067800" y="6010275"/>
            <a:ext cx="904875" cy="200025"/>
          </a:xfrm>
          <a:prstGeom prst="roundRect">
            <a:avLst>
              <a:gd name="adj" fmla="val 45714"/>
            </a:avLst>
          </a:prstGeom>
          <a:solidFill>
            <a:srgbClr val="EEEBE6"/>
          </a:solidFill>
          <a:ln>
            <a:solidFill>
              <a:srgbClr val="EEEB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1D24"/>
                </a:solidFill>
              </a:rPr>
              <a:t>Bulk execution</a:t>
            </a:r>
            <a:endParaRPr lang="en-US" sz="85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05 — RESPONSIBILITIES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Job responsibilities &amp; growth plan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General responsibilities by role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Source: Team Responsibility doc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am Leader card"/>
          <p:cNvSpPr/>
          <p:nvPr/>
        </p:nvSpPr>
        <p:spPr>
          <a:xfrm>
            <a:off x="548640" y="1371600"/>
            <a:ext cx="5394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7" name="Team Leader top"/>
          <p:cNvSpPr/>
          <p:nvPr/>
        </p:nvSpPr>
        <p:spPr>
          <a:xfrm>
            <a:off x="548640" y="1371600"/>
            <a:ext cx="5394960" cy="640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4"/>
                </a:solidFill>
              </a:rPr>
              <a:t>Team Leader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19456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Product development and costing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Order finalization and CM improvement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TNA preparation and monitoring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Fabric ordering and shipment follow-up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LC preparation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Production follow-up and delivery management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Attending RAM and PP meetings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Inspection and vessel booking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Post-costing and cost improvement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Verifying fabric &amp; trims stock for upcoming orders</a:t>
            </a:r>
            <a:endParaRPr lang="en-US" sz="1200" dirty="0"/>
          </a:p>
        </p:txBody>
      </p:sp>
      <p:sp>
        <p:nvSpPr>
          <p:cNvPr id="10" name="Team Leader growth"/>
          <p:cNvSpPr/>
          <p:nvPr/>
        </p:nvSpPr>
        <p:spPr>
          <a:xfrm>
            <a:off x="868680" y="4892040"/>
            <a:ext cx="475488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4892040"/>
            <a:ext cx="36576" cy="65836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94690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7BD8"/>
                </a:solidFill>
              </a:rPr>
              <a:t>GROWTH PLAN</a:t>
            </a:r>
            <a:endParaRPr lang="en-US" sz="750" dirty="0"/>
          </a:p>
          <a:p>
            <a:pPr indent="0" marL="0">
              <a:buNone/>
            </a:pPr>
            <a:r>
              <a:rPr lang="en-US" sz="1100" dirty="0">
                <a:solidFill>
                  <a:srgbClr val="1B1D24"/>
                </a:solidFill>
              </a:rPr>
              <a:t>Maximize CM, develop new business, and improve delivery and file-closing performance.</a:t>
            </a:r>
            <a:endParaRPr lang="en-US" sz="750" dirty="0"/>
          </a:p>
        </p:txBody>
      </p:sp>
      <p:sp>
        <p:nvSpPr>
          <p:cNvPr id="13" name="Team Member card"/>
          <p:cNvSpPr/>
          <p:nvPr/>
        </p:nvSpPr>
        <p:spPr>
          <a:xfrm>
            <a:off x="6245352" y="1371600"/>
            <a:ext cx="53949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4" name="Team Member top"/>
          <p:cNvSpPr/>
          <p:nvPr/>
        </p:nvSpPr>
        <p:spPr>
          <a:xfrm>
            <a:off x="6245352" y="1371600"/>
            <a:ext cx="5394960" cy="6400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65392" y="1645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D24"/>
                </a:solidFill>
              </a:rPr>
              <a:t>Team Member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2194560"/>
            <a:ext cx="475488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Development samples, SMS and production samples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Material ordering and supplier follow-up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Payment follow-up and inventory checking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Trim card preparation and approval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PP meetings and production follow-up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1D24"/>
                </a:solidFill>
              </a:rPr>
              <a:t>Testing and TOP sample follow-up</a:t>
            </a:r>
            <a:endParaRPr lang="en-US" sz="1200" dirty="0"/>
          </a:p>
        </p:txBody>
      </p:sp>
      <p:sp>
        <p:nvSpPr>
          <p:cNvPr id="17" name="Team Member growth"/>
          <p:cNvSpPr/>
          <p:nvPr/>
        </p:nvSpPr>
        <p:spPr>
          <a:xfrm>
            <a:off x="6565392" y="3886200"/>
            <a:ext cx="4754880" cy="658368"/>
          </a:xfrm>
          <a:prstGeom prst="rect">
            <a:avLst/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3886200"/>
            <a:ext cx="36576" cy="65836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2552" y="394106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7BD8"/>
                </a:solidFill>
              </a:rPr>
              <a:t>GROWTH PLAN</a:t>
            </a:r>
            <a:endParaRPr lang="en-US" sz="750" dirty="0"/>
          </a:p>
          <a:p>
            <a:pPr indent="0" marL="0">
              <a:buNone/>
            </a:pPr>
            <a:r>
              <a:rPr lang="en-US" sz="1100" dirty="0">
                <a:solidFill>
                  <a:srgbClr val="1B1D24"/>
                </a:solidFill>
              </a:rPr>
              <a:t>Improve material readiness, production follow-up and timely shipment.</a:t>
            </a:r>
            <a:endParaRPr lang="en-US" sz="75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06 — VALUE ADDITION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What design &amp; development adds for the customer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 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1D24"/>
                </a:solidFill>
              </a:rPr>
              <a:t>Support in providing any requested </a:t>
            </a:r>
            <a:pPr indent="0" marL="0">
              <a:buNone/>
            </a:pPr>
            <a:r>
              <a:rPr lang="en-US" sz="2800" b="1" dirty="0">
                <a:solidFill>
                  <a:srgbClr val="2D7BD8"/>
                </a:solidFill>
              </a:rPr>
              <a:t>Design / SOS / QA / CC / Advertising / Online</a:t>
            </a:r>
            <a:pPr indent="0" marL="0">
              <a:buNone/>
            </a:pPr>
            <a:r>
              <a:rPr lang="en-US" sz="2800" b="1" dirty="0">
                <a:solidFill>
                  <a:srgbClr val="1B1D24"/>
                </a:solidFill>
              </a:rPr>
              <a:t> samples, etc.</a:t>
            </a:r>
            <a:endParaRPr lang="en-US" sz="2800" dirty="0"/>
          </a:p>
        </p:txBody>
      </p:sp>
      <p:sp>
        <p:nvSpPr>
          <p:cNvPr id="7" name="tile Design / SOS"/>
          <p:cNvSpPr/>
          <p:nvPr/>
        </p:nvSpPr>
        <p:spPr>
          <a:xfrm>
            <a:off x="548640" y="3246120"/>
            <a:ext cx="276697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657600"/>
            <a:ext cx="244693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13E"/>
                </a:solidFill>
              </a:rPr>
              <a:t>Design / SOS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97680"/>
            <a:ext cx="24469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10" name="tile QA"/>
          <p:cNvSpPr/>
          <p:nvPr/>
        </p:nvSpPr>
        <p:spPr>
          <a:xfrm>
            <a:off x="3498494" y="3246120"/>
            <a:ext cx="1669694" cy="173736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27094" y="3657600"/>
            <a:ext cx="134965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BD8"/>
                </a:solidFill>
              </a:rPr>
              <a:t>QA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27094" y="4297680"/>
            <a:ext cx="1349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13" name="tile CC"/>
          <p:cNvSpPr/>
          <p:nvPr/>
        </p:nvSpPr>
        <p:spPr>
          <a:xfrm>
            <a:off x="5351069" y="3246120"/>
            <a:ext cx="1669694" cy="173736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9669" y="3657600"/>
            <a:ext cx="134965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92F"/>
                </a:solidFill>
              </a:rPr>
              <a:t>CC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579669" y="4297680"/>
            <a:ext cx="1349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16" name="tile Advertising"/>
          <p:cNvSpPr/>
          <p:nvPr/>
        </p:nvSpPr>
        <p:spPr>
          <a:xfrm>
            <a:off x="7203643" y="3246120"/>
            <a:ext cx="2584094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32243" y="3657600"/>
            <a:ext cx="226405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E6A"/>
                </a:solidFill>
              </a:rPr>
              <a:t>Advertising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432243" y="4297680"/>
            <a:ext cx="2264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19" name="tile Online"/>
          <p:cNvSpPr/>
          <p:nvPr/>
        </p:nvSpPr>
        <p:spPr>
          <a:xfrm>
            <a:off x="9970618" y="3246120"/>
            <a:ext cx="1669694" cy="1737360"/>
          </a:xfrm>
          <a:prstGeom prst="roundRect">
            <a:avLst>
              <a:gd name="adj" fmla="val 438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99218" y="3657600"/>
            <a:ext cx="1349654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53B"/>
                </a:solidFill>
              </a:rPr>
              <a:t>Online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0199218" y="4297680"/>
            <a:ext cx="1349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4A4D55"/>
                </a:solidFill>
              </a:rPr>
              <a:t>SAMPLES · ON REQUEST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57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D55"/>
                </a:solidFill>
              </a:rPr>
              <a:t>…and any other sample the customer requests, turned around by the team in-house.</a:t>
            </a:r>
            <a:endParaRPr lang="en-US" sz="120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07 — FILE CLOSING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TARGET-36 — post-costing, budget vs actual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LC SSL/TA-36/Q3/16092025 dt 20-09-2025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Last shipment 17 Jul 2026 · post-costing 29 Sep 2026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07</a:t>
            </a:r>
            <a:endParaRPr lang="en-US" sz="800" dirty="0"/>
          </a:p>
        </p:txBody>
      </p:sp>
      <p:graphicFrame>
        <p:nvGraphicFramePr>
          <p:cNvPr id="6" name="waterfall" descr=""/>
          <p:cNvGraphicFramePr/>
          <p:nvPr/>
        </p:nvGraphicFramePr>
        <p:xfrm>
          <a:off x="548640" y="1371600"/>
          <a:ext cx="72237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label Realised export"/>
          <p:cNvSpPr txBox="1"/>
          <p:nvPr/>
        </p:nvSpPr>
        <p:spPr>
          <a:xfrm>
            <a:off x="1234440" y="1690544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$2.86M</a:t>
            </a:r>
            <a:endParaRPr lang="en-US" sz="900" dirty="0"/>
          </a:p>
        </p:txBody>
      </p:sp>
      <p:sp>
        <p:nvSpPr>
          <p:cNvPr id="8" name="label Fabric"/>
          <p:cNvSpPr txBox="1"/>
          <p:nvPr/>
        </p:nvSpPr>
        <p:spPr>
          <a:xfrm>
            <a:off x="1940560" y="1690544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$1.27M</a:t>
            </a:r>
            <a:endParaRPr lang="en-US" sz="900" dirty="0"/>
          </a:p>
        </p:txBody>
      </p:sp>
      <p:sp>
        <p:nvSpPr>
          <p:cNvPr id="9" name="label Pocketing"/>
          <p:cNvSpPr txBox="1"/>
          <p:nvPr/>
        </p:nvSpPr>
        <p:spPr>
          <a:xfrm>
            <a:off x="2646680" y="3060566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$47K</a:t>
            </a:r>
            <a:endParaRPr lang="en-US" sz="900" dirty="0"/>
          </a:p>
        </p:txBody>
      </p:sp>
      <p:sp>
        <p:nvSpPr>
          <p:cNvPr id="10" name="label Accessories"/>
          <p:cNvSpPr txBox="1"/>
          <p:nvPr/>
        </p:nvSpPr>
        <p:spPr>
          <a:xfrm>
            <a:off x="3352800" y="3111132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$424K</a:t>
            </a:r>
            <a:endParaRPr lang="en-US" sz="900" dirty="0"/>
          </a:p>
        </p:txBody>
      </p:sp>
      <p:sp>
        <p:nvSpPr>
          <p:cNvPr id="11" name="label Wash — BCL"/>
          <p:cNvSpPr txBox="1"/>
          <p:nvPr/>
        </p:nvSpPr>
        <p:spPr>
          <a:xfrm>
            <a:off x="4058920" y="3569690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$248K</a:t>
            </a:r>
            <a:endParaRPr lang="en-US" sz="900" dirty="0"/>
          </a:p>
        </p:txBody>
      </p:sp>
      <p:sp>
        <p:nvSpPr>
          <p:cNvPr id="12" name="label Air freight"/>
          <p:cNvSpPr txBox="1"/>
          <p:nvPr/>
        </p:nvSpPr>
        <p:spPr>
          <a:xfrm>
            <a:off x="4765040" y="3838325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$1.0K</a:t>
            </a:r>
            <a:endParaRPr lang="en-US" sz="900" dirty="0"/>
          </a:p>
        </p:txBody>
      </p:sp>
      <p:sp>
        <p:nvSpPr>
          <p:cNvPr id="13" name="label Testing"/>
          <p:cNvSpPr txBox="1"/>
          <p:nvPr/>
        </p:nvSpPr>
        <p:spPr>
          <a:xfrm>
            <a:off x="5471160" y="3839425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$11K</a:t>
            </a:r>
            <a:endParaRPr lang="en-US" sz="900" dirty="0"/>
          </a:p>
        </p:txBody>
      </p:sp>
      <p:sp>
        <p:nvSpPr>
          <p:cNvPr id="14" name="label ARC cash pay"/>
          <p:cNvSpPr txBox="1"/>
          <p:nvPr/>
        </p:nvSpPr>
        <p:spPr>
          <a:xfrm>
            <a:off x="6177280" y="3851580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$1.0K</a:t>
            </a:r>
            <a:endParaRPr lang="en-US" sz="900" dirty="0"/>
          </a:p>
        </p:txBody>
      </p:sp>
      <p:sp>
        <p:nvSpPr>
          <p:cNvPr id="15" name="label CM"/>
          <p:cNvSpPr txBox="1"/>
          <p:nvPr/>
        </p:nvSpPr>
        <p:spPr>
          <a:xfrm>
            <a:off x="6883400" y="3852660"/>
            <a:ext cx="70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D24"/>
                </a:solidFill>
              </a:rPr>
              <a:t>$859K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692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Budget CM = costed $2.05 / pc × order qty. Actual CM = realised export minus all BTB / local payments, air freight, testing and cash payment. CPM = CM ÷ (qty × SMV 22.64).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0" y="1371600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BUDGET → ACTUAL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164592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QTY — ORDER → SHIPPED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182880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316,361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315,073  </a:t>
            </a:r>
            <a:pPr indent="0" marL="0">
              <a:buNone/>
            </a:pPr>
            <a:r>
              <a:rPr lang="en-US" sz="950" b="1" dirty="0">
                <a:solidFill>
                  <a:srgbClr val="E8692F"/>
                </a:solidFill>
              </a:rPr>
              <a:t>99.6% shipped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138160" y="222199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38160" y="228600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EXPORT VALUE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246888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$2.89M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$2.86M  </a:t>
            </a:r>
            <a:pPr indent="0" marL="0">
              <a:buNone/>
            </a:pPr>
            <a:r>
              <a:rPr lang="en-US" sz="950" b="1" dirty="0">
                <a:solidFill>
                  <a:srgbClr val="E8692F"/>
                </a:solidFill>
              </a:rPr>
              <a:t>−$31K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38160" y="286207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292608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CM / PC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8138160" y="310896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$2.05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$2.73  </a:t>
            </a:r>
            <a:pPr indent="0" marL="0">
              <a:buNone/>
            </a:pPr>
            <a:r>
              <a:rPr lang="en-US" sz="950" b="1" dirty="0">
                <a:solidFill>
                  <a:srgbClr val="1E9E6A"/>
                </a:solidFill>
              </a:rPr>
              <a:t>+33.0%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138160" y="350215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38160" y="356616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CPM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8138160" y="374904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9.06¢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12.05¢  </a:t>
            </a:r>
            <a:pPr indent="0" marL="0">
              <a:buNone/>
            </a:pPr>
            <a:r>
              <a:rPr lang="en-US" sz="950" b="1" dirty="0">
                <a:solidFill>
                  <a:srgbClr val="1E9E6A"/>
                </a:solidFill>
              </a:rPr>
              <a:t>+2.99¢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38160" y="414223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20624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B2B RATIO (MATERIAL + WASH)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438912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68.7%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69.5%  </a:t>
            </a:r>
            <a:pPr indent="0" marL="0">
              <a:buNone/>
            </a:pPr>
            <a:r>
              <a:rPr lang="en-US" sz="950" b="1" dirty="0">
                <a:solidFill>
                  <a:srgbClr val="E8692F"/>
                </a:solidFill>
              </a:rPr>
              <a:t>+0.8 pts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38160" y="478231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38160" y="4846320"/>
            <a:ext cx="3502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B6F78"/>
                </a:solidFill>
              </a:rPr>
              <a:t>CM EARNED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8138160" y="5029200"/>
            <a:ext cx="3502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</a:rPr>
              <a:t>$649K  →  </a:t>
            </a:r>
            <a:pPr indent="0" marL="0">
              <a:buNone/>
            </a:pPr>
            <a:r>
              <a:rPr lang="en-US" sz="1800" b="1" dirty="0">
                <a:solidFill>
                  <a:srgbClr val="1B1D24"/>
                </a:solidFill>
              </a:rPr>
              <a:t>$859K  </a:t>
            </a:r>
            <a:pPr indent="0" marL="0">
              <a:buNone/>
            </a:pPr>
            <a:r>
              <a:rPr lang="en-US" sz="950" b="1" dirty="0">
                <a:solidFill>
                  <a:srgbClr val="1E9E6A"/>
                </a:solidFill>
              </a:rPr>
              <a:t>+$210,626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138160" y="5422392"/>
            <a:ext cx="3502152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138160" y="5532120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SMV 22.64 · efficiency 64.8% · 53 styles</a:t>
            </a:r>
            <a:endParaRPr lang="en-US" sz="900" dirty="0"/>
          </a:p>
        </p:txBody>
      </p:sp>
      <p:sp>
        <p:nvSpPr>
          <p:cNvPr id="990" name="Back to map" descr="Go to the deck map (page 2)">
            <a:hlinkClick r:id="rId4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07 — FILE CLOSING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TARGET-36 — material &amp; wash spend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Source: Post Costing of TARGET-36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07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3422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BTB / LOCAL — BUDGET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3422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$1,984,936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68 LCs · fabric, pocketing, accessories, wash</a:t>
            </a:r>
            <a:endParaRPr lang="en-US" sz="900" dirty="0"/>
          </a:p>
        </p:txBody>
      </p:sp>
      <p:sp>
        <p:nvSpPr>
          <p:cNvPr id="9" name="kpi divider"/>
          <p:cNvSpPr/>
          <p:nvPr/>
        </p:nvSpPr>
        <p:spPr>
          <a:xfrm>
            <a:off x="4108704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45864" y="1371600"/>
            <a:ext cx="3422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ACTUAL PAID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245864" y="1572768"/>
            <a:ext cx="3422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$1,984,936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245864" y="201168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69.5% of realised export</a:t>
            </a:r>
            <a:endParaRPr lang="en-US" sz="900" dirty="0"/>
          </a:p>
        </p:txBody>
      </p:sp>
      <p:sp>
        <p:nvSpPr>
          <p:cNvPr id="13" name="kpi divider"/>
          <p:cNvSpPr/>
          <p:nvPr/>
        </p:nvSpPr>
        <p:spPr>
          <a:xfrm>
            <a:off x="7805928" y="137160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43088" y="1371600"/>
            <a:ext cx="3422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VARIANCE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7943088" y="1572768"/>
            <a:ext cx="34229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7BD8"/>
                </a:solidFill>
              </a:rPr>
              <a:t>$0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943088" y="2011680"/>
            <a:ext cx="3422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</a:rPr>
              <a:t>all LCs closed on budget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5146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F78"/>
                </a:solidFill>
              </a:rPr>
              <a:t>ACTUAL PAID BY LC — TOP 9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788920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Blue Creations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Wash</a:t>
            </a:r>
            <a:endParaRPr lang="en-US" sz="950" dirty="0"/>
          </a:p>
        </p:txBody>
      </p:sp>
      <p:sp>
        <p:nvSpPr>
          <p:cNvPr id="19" name="bar 0"/>
          <p:cNvSpPr/>
          <p:nvPr/>
        </p:nvSpPr>
        <p:spPr>
          <a:xfrm>
            <a:off x="3291840" y="2862072"/>
            <a:ext cx="3108960" cy="141732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2788920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$233,524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113532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NZ Denim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22" name="bar 1"/>
          <p:cNvSpPr/>
          <p:nvPr/>
        </p:nvSpPr>
        <p:spPr>
          <a:xfrm>
            <a:off x="3291840" y="3186684"/>
            <a:ext cx="3002433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113532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$225,522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438144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Nice Denim Mills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25" name="bar 2"/>
          <p:cNvSpPr/>
          <p:nvPr/>
        </p:nvSpPr>
        <p:spPr>
          <a:xfrm>
            <a:off x="3291840" y="3511296"/>
            <a:ext cx="2363005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438144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$177,493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3762756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Artistic Denim Mills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28" name="bar 3"/>
          <p:cNvSpPr/>
          <p:nvPr/>
        </p:nvSpPr>
        <p:spPr>
          <a:xfrm>
            <a:off x="3291840" y="3835908"/>
            <a:ext cx="1714216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3762756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$128,760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087368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Advance Denim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31" name="bar 4"/>
          <p:cNvSpPr/>
          <p:nvPr/>
        </p:nvSpPr>
        <p:spPr>
          <a:xfrm>
            <a:off x="3291840" y="4160520"/>
            <a:ext cx="1603651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4087368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$120,455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411980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Arvind Limited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34" name="bar 5"/>
          <p:cNvSpPr/>
          <p:nvPr/>
        </p:nvSpPr>
        <p:spPr>
          <a:xfrm>
            <a:off x="3291840" y="4485132"/>
            <a:ext cx="1593195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4411980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$119,670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736592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Amber Denim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37" name="bar 6"/>
          <p:cNvSpPr/>
          <p:nvPr/>
        </p:nvSpPr>
        <p:spPr>
          <a:xfrm>
            <a:off x="3291840" y="4809744"/>
            <a:ext cx="1504580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4736592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$113,014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5061204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Zaber And Zubair Fabrics Ltd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40" name="bar 7"/>
          <p:cNvSpPr/>
          <p:nvPr/>
        </p:nvSpPr>
        <p:spPr>
          <a:xfrm>
            <a:off x="3291840" y="5134356"/>
            <a:ext cx="1043726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46520" y="5061204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$78,398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385816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Foshan Blue Denim Textile Import &amp; Export</a:t>
            </a:r>
            <a:pPr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  · Fabrics</a:t>
            </a:r>
            <a:endParaRPr lang="en-US" sz="950" dirty="0"/>
          </a:p>
        </p:txBody>
      </p:sp>
      <p:sp>
        <p:nvSpPr>
          <p:cNvPr id="43" name="bar 8"/>
          <p:cNvSpPr/>
          <p:nvPr/>
        </p:nvSpPr>
        <p:spPr>
          <a:xfrm>
            <a:off x="3291840" y="5458968"/>
            <a:ext cx="1027217" cy="141732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46520" y="5385816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$77,157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5710428"/>
            <a:ext cx="26974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59 other LCs</a:t>
            </a:r>
            <a:pPr indent="0" marL="0">
              <a:buNone/>
            </a:pP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5710428"/>
            <a:ext cx="9601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1D24"/>
                </a:solidFill>
              </a:rPr>
              <a:t>$710,945</a:t>
            </a:r>
            <a:endParaRPr lang="en-US" sz="950" dirty="0"/>
          </a:p>
        </p:txBody>
      </p:sp>
      <p:graphicFrame>
        <p:nvGraphicFramePr>
          <p:cNvPr id="9" name="spend by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606040"/>
          <a:ext cx="3867912" cy="914400"/>
        </p:xfrm>
        <a:graphic>
          <a:graphicData uri="http://schemas.openxmlformats.org/drawingml/2006/table">
            <a:tbl>
              <a:tblPr/>
              <a:tblGrid>
                <a:gridCol w="941832"/>
                <a:gridCol w="10058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EXPORT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BUDGET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$1,266,146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Pocketing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$46,733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Accessories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$423,790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$248,267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$1,984,936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8" name="Text 45"/>
          <p:cNvSpPr txBox="1"/>
          <p:nvPr/>
        </p:nvSpPr>
        <p:spPr>
          <a:xfrm>
            <a:off x="7772400" y="4983480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D24"/>
                </a:solidFill>
              </a:rPr>
              <a:t>Fabric is 64% of material &amp; wash spend. Largest single LC: Blue Creations Ltd ($233,524).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09 — FOR MANAGEMENT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Raising CM further — what we need from production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 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09</a:t>
            </a:r>
            <a:endParaRPr lang="en-US" sz="800" dirty="0"/>
          </a:p>
        </p:txBody>
      </p:sp>
      <p:sp>
        <p:nvSpPr>
          <p:cNvPr id="6" name="card 1"/>
          <p:cNvSpPr/>
          <p:nvPr/>
        </p:nvSpPr>
        <p:spPr>
          <a:xfrm>
            <a:off x="548640" y="1417320"/>
            <a:ext cx="5431536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54864" cy="31089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7BD8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3172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4"/>
                </a:solidFill>
              </a:rPr>
              <a:t>Increase CPM from 8¢ to 10¢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D55"/>
                </a:solidFill>
              </a:rPr>
              <a:t>Target for the Target account. To increase CPM further, we need the points below to be considered by the production team.</a:t>
            </a:r>
            <a:endParaRPr lang="en-US" sz="1150" dirty="0"/>
          </a:p>
        </p:txBody>
      </p:sp>
      <p:sp>
        <p:nvSpPr>
          <p:cNvPr id="11" name="card 2"/>
          <p:cNvSpPr/>
          <p:nvPr/>
        </p:nvSpPr>
        <p:spPr>
          <a:xfrm>
            <a:off x="6208776" y="1417320"/>
            <a:ext cx="5431536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08776" y="1417320"/>
            <a:ext cx="54864" cy="3108960"/>
          </a:xfrm>
          <a:prstGeom prst="rect">
            <a:avLst/>
          </a:prstGeom>
          <a:solidFill>
            <a:srgbClr val="8E8A84"/>
          </a:solidFill>
          <a:ln w="12700">
            <a:solidFill>
              <a:srgbClr val="8E8A8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1645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E8A84"/>
                </a:solidFill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233172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D24"/>
                </a:solidFill>
              </a:rPr>
              <a:t>Reduce cutting wastage from 2% to 1%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28816" y="2743200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A4D55"/>
                </a:solidFill>
              </a:rPr>
              <a:t>Saves more fabric, which will be utilised for future orders.</a:t>
            </a:r>
            <a:endParaRPr lang="en-US" sz="1150" dirty="0"/>
          </a:p>
        </p:txBody>
      </p:sp>
      <p:sp>
        <p:nvSpPr>
          <p:cNvPr id="990" name="Back to map" descr="Go to the deck map (page 2)">
            <a:hlinkClick r:id="rId3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07 — FILE CLOSING · KPI SCORECARD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TARGET-36 — shipment &amp; production KPIs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Order Status 12-Oct · Post Costing 29-Sep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Cut to Ship file 18-Oct · BTB L/C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07</a:t>
            </a:r>
            <a:endParaRPr lang="en-US" sz="800" dirty="0"/>
          </a:p>
        </p:txBody>
      </p:sp>
      <p:sp>
        <p:nvSpPr>
          <p:cNvPr id="101" name="kpi card 1"/>
          <p:cNvSpPr/>
          <p:nvPr/>
        </p:nvSpPr>
        <p:spPr>
          <a:xfrm>
            <a:off x="548640" y="141732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2" name="Text 1"/>
          <p:cNvSpPr txBox="1"/>
          <p:nvPr/>
        </p:nvSpPr>
        <p:spPr>
          <a:xfrm>
            <a:off x="731520" y="155448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SHIP-TO-PO</a:t>
            </a:r>
            <a:endParaRPr lang="en-US" sz="950" dirty="0"/>
          </a:p>
        </p:txBody>
      </p:sp>
      <p:sp>
        <p:nvSpPr>
          <p:cNvPr id="103" name="Text 2"/>
          <p:cNvSpPr txBox="1"/>
          <p:nvPr/>
        </p:nvSpPr>
        <p:spPr>
          <a:xfrm>
            <a:off x="731520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2700" dirty="0"/>
          </a:p>
        </p:txBody>
      </p:sp>
      <p:sp>
        <p:nvSpPr>
          <p:cNvPr id="104" name="Text 3"/>
          <p:cNvSpPr txBox="1"/>
          <p:nvPr/>
        </p:nvSpPr>
        <p:spPr>
          <a:xfrm>
            <a:off x="731520" y="22128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315,073 of 316,361 pcs</a:t>
            </a:r>
            <a:endParaRPr lang="en-US" sz="1050" dirty="0"/>
          </a:p>
        </p:txBody>
      </p:sp>
      <p:sp>
        <p:nvSpPr>
          <p:cNvPr id="105" name="Shape 4"/>
          <p:cNvSpPr/>
          <p:nvPr/>
        </p:nvSpPr>
        <p:spPr>
          <a:xfrm>
            <a:off x="731520" y="245059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6" name="Text 5"/>
          <p:cNvSpPr txBox="1"/>
          <p:nvPr/>
        </p:nvSpPr>
        <p:spPr>
          <a:xfrm>
            <a:off x="731520" y="248716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qty ÷ PO qty — 1,288 pcs short (post costing)</a:t>
            </a:r>
            <a:endParaRPr lang="en-US" sz="900" dirty="0"/>
          </a:p>
        </p:txBody>
      </p:sp>
      <p:sp>
        <p:nvSpPr>
          <p:cNvPr id="107" name="kpi card 2"/>
          <p:cNvSpPr/>
          <p:nvPr/>
        </p:nvSpPr>
        <p:spPr>
          <a:xfrm>
            <a:off x="3374136" y="141732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8" name="Text 7"/>
          <p:cNvSpPr txBox="1"/>
          <p:nvPr/>
        </p:nvSpPr>
        <p:spPr>
          <a:xfrm>
            <a:off x="3557016" y="155448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FOB VALUE SHIPPED</a:t>
            </a:r>
            <a:endParaRPr lang="en-US" sz="950" dirty="0"/>
          </a:p>
        </p:txBody>
      </p:sp>
      <p:sp>
        <p:nvSpPr>
          <p:cNvPr id="109" name="Text 8"/>
          <p:cNvSpPr txBox="1"/>
          <p:nvPr/>
        </p:nvSpPr>
        <p:spPr>
          <a:xfrm>
            <a:off x="3557016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$2.86M</a:t>
            </a:r>
            <a:endParaRPr lang="en-US" sz="2700" dirty="0"/>
          </a:p>
        </p:txBody>
      </p:sp>
      <p:sp>
        <p:nvSpPr>
          <p:cNvPr id="110" name="Text 9"/>
          <p:cNvSpPr txBox="1"/>
          <p:nvPr/>
        </p:nvSpPr>
        <p:spPr>
          <a:xfrm>
            <a:off x="3557016" y="22128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$2.89M PO value · −$31K</a:t>
            </a:r>
            <a:endParaRPr lang="en-US" sz="1050" dirty="0"/>
          </a:p>
        </p:txBody>
      </p:sp>
      <p:sp>
        <p:nvSpPr>
          <p:cNvPr id="111" name="Shape 10"/>
          <p:cNvSpPr/>
          <p:nvPr/>
        </p:nvSpPr>
        <p:spPr>
          <a:xfrm>
            <a:off x="3557016" y="245059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2" name="Text 11"/>
          <p:cNvSpPr txBox="1"/>
          <p:nvPr/>
        </p:nvSpPr>
        <p:spPr>
          <a:xfrm>
            <a:off x="3557016" y="248716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 export value (post costing)</a:t>
            </a:r>
            <a:endParaRPr lang="en-US" sz="900" dirty="0"/>
          </a:p>
        </p:txBody>
      </p:sp>
      <p:sp>
        <p:nvSpPr>
          <p:cNvPr id="113" name="kpi card 3"/>
          <p:cNvSpPr/>
          <p:nvPr/>
        </p:nvSpPr>
        <p:spPr>
          <a:xfrm>
            <a:off x="6199632" y="141732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4" name="Text 13"/>
          <p:cNvSpPr txBox="1"/>
          <p:nvPr/>
        </p:nvSpPr>
        <p:spPr>
          <a:xfrm>
            <a:off x="6382512" y="155448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SHIPPED</a:t>
            </a:r>
            <a:endParaRPr lang="en-US" sz="950" dirty="0"/>
          </a:p>
        </p:txBody>
      </p:sp>
      <p:sp>
        <p:nvSpPr>
          <p:cNvPr id="115" name="Text 14"/>
          <p:cNvSpPr txBox="1"/>
          <p:nvPr/>
        </p:nvSpPr>
        <p:spPr>
          <a:xfrm>
            <a:off x="6382512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 / 211</a:t>
            </a:r>
            <a:endParaRPr lang="en-US" sz="2700" dirty="0"/>
          </a:p>
        </p:txBody>
      </p:sp>
      <p:sp>
        <p:nvSpPr>
          <p:cNvPr id="116" name="Text 15"/>
          <p:cNvSpPr txBox="1"/>
          <p:nvPr/>
        </p:nvSpPr>
        <p:spPr>
          <a:xfrm>
            <a:off x="6382512" y="22128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lines short · 848 pcs</a:t>
            </a:r>
            <a:endParaRPr lang="en-US" sz="1050" dirty="0"/>
          </a:p>
        </p:txBody>
      </p:sp>
      <p:sp>
        <p:nvSpPr>
          <p:cNvPr id="117" name="Shape 16"/>
          <p:cNvSpPr/>
          <p:nvPr/>
        </p:nvSpPr>
        <p:spPr>
          <a:xfrm>
            <a:off x="6382512" y="245059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8" name="Text 17"/>
          <p:cNvSpPr txBox="1"/>
          <p:nvPr/>
        </p:nvSpPr>
        <p:spPr>
          <a:xfrm>
            <a:off x="6382512" y="248716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status in Order Status 12-Oct; no excess lines</a:t>
            </a:r>
            <a:endParaRPr lang="en-US" sz="900" dirty="0"/>
          </a:p>
        </p:txBody>
      </p:sp>
      <p:sp>
        <p:nvSpPr>
          <p:cNvPr id="119" name="kpi card 4"/>
          <p:cNvSpPr/>
          <p:nvPr/>
        </p:nvSpPr>
        <p:spPr>
          <a:xfrm>
            <a:off x="9025128" y="141732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0" name="Text 19"/>
          <p:cNvSpPr txBox="1"/>
          <p:nvPr/>
        </p:nvSpPr>
        <p:spPr>
          <a:xfrm>
            <a:off x="9208008" y="155448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 · COLOURS</a:t>
            </a:r>
            <a:endParaRPr lang="en-US" sz="950" dirty="0"/>
          </a:p>
        </p:txBody>
      </p:sp>
      <p:sp>
        <p:nvSpPr>
          <p:cNvPr id="121" name="Text 20"/>
          <p:cNvSpPr txBox="1"/>
          <p:nvPr/>
        </p:nvSpPr>
        <p:spPr>
          <a:xfrm>
            <a:off x="9208008" y="17556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· 60</a:t>
            </a:r>
            <a:endParaRPr lang="en-US" sz="2700" dirty="0"/>
          </a:p>
        </p:txBody>
      </p:sp>
      <p:sp>
        <p:nvSpPr>
          <p:cNvPr id="122" name="Text 21"/>
          <p:cNvSpPr txBox="1"/>
          <p:nvPr/>
        </p:nvSpPr>
        <p:spPr>
          <a:xfrm>
            <a:off x="9208008" y="22128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POs · 211 lines</a:t>
            </a:r>
            <a:endParaRPr lang="en-US" sz="1050" dirty="0"/>
          </a:p>
        </p:txBody>
      </p:sp>
      <p:sp>
        <p:nvSpPr>
          <p:cNvPr id="123" name="Shape 22"/>
          <p:cNvSpPr/>
          <p:nvPr/>
        </p:nvSpPr>
        <p:spPr>
          <a:xfrm>
            <a:off x="9208008" y="245059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24" name="Text 23"/>
          <p:cNvSpPr txBox="1"/>
          <p:nvPr/>
        </p:nvSpPr>
        <p:spPr>
          <a:xfrm>
            <a:off x="9208008" y="248716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TARGET-36 · FY26 Q3–Q4 · FFD Dec 25 – Jul 26</a:t>
            </a:r>
            <a:endParaRPr lang="en-US" sz="900" dirty="0"/>
          </a:p>
        </p:txBody>
      </p:sp>
      <p:sp>
        <p:nvSpPr>
          <p:cNvPr id="125" name="kpi card 5"/>
          <p:cNvSpPr/>
          <p:nvPr/>
        </p:nvSpPr>
        <p:spPr>
          <a:xfrm>
            <a:off x="548640" y="310896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6" name="Text 25"/>
          <p:cNvSpPr txBox="1"/>
          <p:nvPr/>
        </p:nvSpPr>
        <p:spPr>
          <a:xfrm>
            <a:off x="731520" y="324612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CUT-TO-SHIP</a:t>
            </a:r>
            <a:endParaRPr lang="en-US" sz="950" dirty="0"/>
          </a:p>
        </p:txBody>
      </p:sp>
      <p:sp>
        <p:nvSpPr>
          <p:cNvPr id="127" name="Text 26"/>
          <p:cNvSpPr txBox="1"/>
          <p:nvPr/>
        </p:nvSpPr>
        <p:spPr>
          <a:xfrm>
            <a:off x="731520" y="3447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94.3%</a:t>
            </a:r>
            <a:endParaRPr lang="en-US" sz="2700" dirty="0"/>
          </a:p>
        </p:txBody>
      </p:sp>
      <p:sp>
        <p:nvSpPr>
          <p:cNvPr id="128" name="Text 27"/>
          <p:cNvSpPr txBox="1"/>
          <p:nvPr/>
        </p:nvSpPr>
        <p:spPr>
          <a:xfrm>
            <a:off x="731520" y="39044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20,262 pcs cut but not shipped</a:t>
            </a:r>
            <a:endParaRPr lang="en-US" sz="1050" dirty="0"/>
          </a:p>
        </p:txBody>
      </p:sp>
      <p:sp>
        <p:nvSpPr>
          <p:cNvPr id="129" name="Shape 28"/>
          <p:cNvSpPr/>
          <p:nvPr/>
        </p:nvSpPr>
        <p:spPr>
          <a:xfrm>
            <a:off x="731520" y="414223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30" name="Text 29"/>
          <p:cNvSpPr txBox="1"/>
          <p:nvPr/>
        </p:nvSpPr>
        <p:spPr>
          <a:xfrm>
            <a:off x="731520" y="4178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÷ cut (Cut to Ship style report) · qty per post costing</a:t>
            </a:r>
            <a:endParaRPr lang="en-US" sz="900" dirty="0"/>
          </a:p>
        </p:txBody>
      </p:sp>
      <p:sp>
        <p:nvSpPr>
          <p:cNvPr id="131" name="kpi card 6"/>
          <p:cNvSpPr/>
          <p:nvPr/>
        </p:nvSpPr>
        <p:spPr>
          <a:xfrm>
            <a:off x="3374136" y="310896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32" name="Text 31"/>
          <p:cNvSpPr txBox="1"/>
          <p:nvPr/>
        </p:nvSpPr>
        <p:spPr>
          <a:xfrm>
            <a:off x="3557016" y="324612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CUT</a:t>
            </a:r>
            <a:endParaRPr lang="en-US" sz="950" dirty="0"/>
          </a:p>
        </p:txBody>
      </p:sp>
      <p:sp>
        <p:nvSpPr>
          <p:cNvPr id="133" name="Text 32"/>
          <p:cNvSpPr txBox="1"/>
          <p:nvPr/>
        </p:nvSpPr>
        <p:spPr>
          <a:xfrm>
            <a:off x="3557016" y="3447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</a:t>
            </a:r>
            <a:endParaRPr lang="en-US" sz="2700" dirty="0"/>
          </a:p>
        </p:txBody>
      </p:sp>
      <p:sp>
        <p:nvSpPr>
          <p:cNvPr id="134" name="Text 33"/>
          <p:cNvSpPr txBox="1"/>
          <p:nvPr/>
        </p:nvSpPr>
        <p:spPr>
          <a:xfrm>
            <a:off x="3557016" y="39044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18,974 pcs over PO</a:t>
            </a:r>
            <a:endParaRPr lang="en-US" sz="1050" dirty="0"/>
          </a:p>
        </p:txBody>
      </p:sp>
      <p:sp>
        <p:nvSpPr>
          <p:cNvPr id="135" name="Shape 34"/>
          <p:cNvSpPr/>
          <p:nvPr/>
        </p:nvSpPr>
        <p:spPr>
          <a:xfrm>
            <a:off x="3557016" y="414223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36" name="Text 35"/>
          <p:cNvSpPr txBox="1"/>
          <p:nvPr/>
        </p:nvSpPr>
        <p:spPr>
          <a:xfrm>
            <a:off x="3557016" y="4178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Implied cut ÷ post-costing PO − 1 (rejects &amp; excess allowance)</a:t>
            </a:r>
            <a:endParaRPr lang="en-US" sz="900" dirty="0"/>
          </a:p>
        </p:txBody>
      </p:sp>
      <p:sp>
        <p:nvSpPr>
          <p:cNvPr id="137" name="kpi card 7"/>
          <p:cNvSpPr/>
          <p:nvPr/>
        </p:nvSpPr>
        <p:spPr>
          <a:xfrm>
            <a:off x="6199632" y="310896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38" name="Text 37"/>
          <p:cNvSpPr txBox="1"/>
          <p:nvPr/>
        </p:nvSpPr>
        <p:spPr>
          <a:xfrm>
            <a:off x="6382512" y="324612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QTY</a:t>
            </a:r>
            <a:endParaRPr lang="en-US" sz="950" dirty="0"/>
          </a:p>
        </p:txBody>
      </p:sp>
      <p:sp>
        <p:nvSpPr>
          <p:cNvPr id="139" name="Text 38"/>
          <p:cNvSpPr txBox="1"/>
          <p:nvPr/>
        </p:nvSpPr>
        <p:spPr>
          <a:xfrm>
            <a:off x="6382512" y="3447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335,335</a:t>
            </a:r>
            <a:endParaRPr lang="en-US" sz="2700" dirty="0"/>
          </a:p>
        </p:txBody>
      </p:sp>
      <p:sp>
        <p:nvSpPr>
          <p:cNvPr id="140" name="Text 39"/>
          <p:cNvSpPr txBox="1"/>
          <p:nvPr/>
        </p:nvSpPr>
        <p:spPr>
          <a:xfrm>
            <a:off x="6382512" y="39044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106.0% of PO · implied</a:t>
            </a:r>
            <a:endParaRPr lang="en-US" sz="1050" dirty="0"/>
          </a:p>
        </p:txBody>
      </p:sp>
      <p:sp>
        <p:nvSpPr>
          <p:cNvPr id="141" name="Shape 40"/>
          <p:cNvSpPr/>
          <p:nvPr/>
        </p:nvSpPr>
        <p:spPr>
          <a:xfrm>
            <a:off x="6382512" y="414223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2" name="Text 41"/>
          <p:cNvSpPr txBox="1"/>
          <p:nvPr/>
        </p:nvSpPr>
        <p:spPr>
          <a:xfrm>
            <a:off x="6382512" y="4178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Post-costing PO 316,361 ÷ 94.3% (style report ratio)</a:t>
            </a:r>
            <a:endParaRPr lang="en-US" sz="900" dirty="0"/>
          </a:p>
        </p:txBody>
      </p:sp>
      <p:sp>
        <p:nvSpPr>
          <p:cNvPr id="143" name="kpi card 8"/>
          <p:cNvSpPr/>
          <p:nvPr/>
        </p:nvSpPr>
        <p:spPr>
          <a:xfrm>
            <a:off x="9025128" y="310896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44" name="Text 43"/>
          <p:cNvSpPr txBox="1"/>
          <p:nvPr/>
        </p:nvSpPr>
        <p:spPr>
          <a:xfrm>
            <a:off x="9208008" y="324612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EARNED</a:t>
            </a:r>
            <a:endParaRPr lang="en-US" sz="950" dirty="0"/>
          </a:p>
        </p:txBody>
      </p:sp>
      <p:sp>
        <p:nvSpPr>
          <p:cNvPr id="145" name="Text 44"/>
          <p:cNvSpPr txBox="1"/>
          <p:nvPr/>
        </p:nvSpPr>
        <p:spPr>
          <a:xfrm>
            <a:off x="9208008" y="344728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$859K</a:t>
            </a:r>
            <a:endParaRPr lang="en-US" sz="2700" dirty="0"/>
          </a:p>
        </p:txBody>
      </p:sp>
      <p:sp>
        <p:nvSpPr>
          <p:cNvPr id="146" name="Text 45"/>
          <p:cNvSpPr txBox="1"/>
          <p:nvPr/>
        </p:nvSpPr>
        <p:spPr>
          <a:xfrm>
            <a:off x="9208008" y="390448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$649K budget · +$210,626</a:t>
            </a:r>
            <a:endParaRPr lang="en-US" sz="1050" dirty="0"/>
          </a:p>
        </p:txBody>
      </p:sp>
      <p:sp>
        <p:nvSpPr>
          <p:cNvPr id="147" name="Shape 46"/>
          <p:cNvSpPr/>
          <p:nvPr/>
        </p:nvSpPr>
        <p:spPr>
          <a:xfrm>
            <a:off x="9208008" y="414223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8" name="Text 47"/>
          <p:cNvSpPr txBox="1"/>
          <p:nvPr/>
        </p:nvSpPr>
        <p:spPr>
          <a:xfrm>
            <a:off x="9208008" y="417880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Realised export − BTB/local, air freight, testing, cash</a:t>
            </a:r>
            <a:endParaRPr lang="en-US" sz="900" dirty="0"/>
          </a:p>
        </p:txBody>
      </p:sp>
      <p:sp>
        <p:nvSpPr>
          <p:cNvPr id="149" name="kpi card 9"/>
          <p:cNvSpPr/>
          <p:nvPr/>
        </p:nvSpPr>
        <p:spPr>
          <a:xfrm>
            <a:off x="548640" y="480060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50" name="Text 49"/>
          <p:cNvSpPr txBox="1"/>
          <p:nvPr/>
        </p:nvSpPr>
        <p:spPr>
          <a:xfrm>
            <a:off x="731520" y="49377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/ PC · CPM</a:t>
            </a:r>
            <a:endParaRPr lang="en-US" sz="950" dirty="0"/>
          </a:p>
        </p:txBody>
      </p:sp>
      <p:sp>
        <p:nvSpPr>
          <p:cNvPr id="151" name="Text 50"/>
          <p:cNvSpPr txBox="1"/>
          <p:nvPr/>
        </p:nvSpPr>
        <p:spPr>
          <a:xfrm>
            <a:off x="731520" y="51389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$2.73</a:t>
            </a:r>
            <a:endParaRPr lang="en-US" sz="2700" dirty="0"/>
          </a:p>
        </p:txBody>
      </p:sp>
      <p:sp>
        <p:nvSpPr>
          <p:cNvPr id="152" name="Text 51"/>
          <p:cNvSpPr txBox="1"/>
          <p:nvPr/>
        </p:nvSpPr>
        <p:spPr>
          <a:xfrm>
            <a:off x="731520" y="55961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12.05¢ CPM vs 9.06¢ budget</a:t>
            </a:r>
            <a:endParaRPr lang="en-US" sz="1050" dirty="0"/>
          </a:p>
        </p:txBody>
      </p:sp>
      <p:sp>
        <p:nvSpPr>
          <p:cNvPr id="153" name="Shape 52"/>
          <p:cNvSpPr/>
          <p:nvPr/>
        </p:nvSpPr>
        <p:spPr>
          <a:xfrm>
            <a:off x="731520" y="583387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54" name="Text 53"/>
          <p:cNvSpPr txBox="1"/>
          <p:nvPr/>
        </p:nvSpPr>
        <p:spPr>
          <a:xfrm>
            <a:off x="731520" y="58704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$2.05 / pc · CPM standard 8.43¢</a:t>
            </a:r>
            <a:endParaRPr lang="en-US" sz="900" dirty="0"/>
          </a:p>
        </p:txBody>
      </p:sp>
      <p:sp>
        <p:nvSpPr>
          <p:cNvPr id="155" name="kpi card 10"/>
          <p:cNvSpPr/>
          <p:nvPr/>
        </p:nvSpPr>
        <p:spPr>
          <a:xfrm>
            <a:off x="3374136" y="480060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56" name="Text 55"/>
          <p:cNvSpPr txBox="1"/>
          <p:nvPr/>
        </p:nvSpPr>
        <p:spPr>
          <a:xfrm>
            <a:off x="3557016" y="49377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RATIO</a:t>
            </a:r>
            <a:endParaRPr lang="en-US" sz="950" dirty="0"/>
          </a:p>
        </p:txBody>
      </p:sp>
      <p:sp>
        <p:nvSpPr>
          <p:cNvPr id="157" name="Text 56"/>
          <p:cNvSpPr txBox="1"/>
          <p:nvPr/>
        </p:nvSpPr>
        <p:spPr>
          <a:xfrm>
            <a:off x="3557016" y="51389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2700" dirty="0"/>
          </a:p>
        </p:txBody>
      </p:sp>
      <p:sp>
        <p:nvSpPr>
          <p:cNvPr id="158" name="Text 57"/>
          <p:cNvSpPr txBox="1"/>
          <p:nvPr/>
        </p:nvSpPr>
        <p:spPr>
          <a:xfrm>
            <a:off x="3557016" y="55961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68.7% budget · +0.8 pts</a:t>
            </a:r>
            <a:endParaRPr lang="en-US" sz="1050" dirty="0"/>
          </a:p>
        </p:txBody>
      </p:sp>
      <p:sp>
        <p:nvSpPr>
          <p:cNvPr id="159" name="Shape 58"/>
          <p:cNvSpPr/>
          <p:nvPr/>
        </p:nvSpPr>
        <p:spPr>
          <a:xfrm>
            <a:off x="3557016" y="583387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60" name="Text 59"/>
          <p:cNvSpPr txBox="1"/>
          <p:nvPr/>
        </p:nvSpPr>
        <p:spPr>
          <a:xfrm>
            <a:off x="3557016" y="58704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+ wash ÷ realised export</a:t>
            </a:r>
            <a:endParaRPr lang="en-US" sz="900" dirty="0"/>
          </a:p>
        </p:txBody>
      </p:sp>
      <p:sp>
        <p:nvSpPr>
          <p:cNvPr id="161" name="kpi card 11"/>
          <p:cNvSpPr/>
          <p:nvPr/>
        </p:nvSpPr>
        <p:spPr>
          <a:xfrm>
            <a:off x="6199632" y="480060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62" name="Text 61"/>
          <p:cNvSpPr txBox="1"/>
          <p:nvPr/>
        </p:nvSpPr>
        <p:spPr>
          <a:xfrm>
            <a:off x="6382512" y="49377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BTB L/C USED</a:t>
            </a:r>
            <a:endParaRPr lang="en-US" sz="950" dirty="0"/>
          </a:p>
        </p:txBody>
      </p:sp>
      <p:sp>
        <p:nvSpPr>
          <p:cNvPr id="163" name="Text 62"/>
          <p:cNvSpPr txBox="1"/>
          <p:nvPr/>
        </p:nvSpPr>
        <p:spPr>
          <a:xfrm>
            <a:off x="6382512" y="51389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68.7%</a:t>
            </a:r>
            <a:endParaRPr lang="en-US" sz="2700" dirty="0"/>
          </a:p>
        </p:txBody>
      </p:sp>
      <p:sp>
        <p:nvSpPr>
          <p:cNvPr id="164" name="Text 63"/>
          <p:cNvSpPr txBox="1"/>
          <p:nvPr/>
        </p:nvSpPr>
        <p:spPr>
          <a:xfrm>
            <a:off x="6382512" y="55961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$1.98M of $2.89M master L/C</a:t>
            </a:r>
            <a:endParaRPr lang="en-US" sz="1050" dirty="0"/>
          </a:p>
        </p:txBody>
      </p:sp>
      <p:sp>
        <p:nvSpPr>
          <p:cNvPr id="165" name="Shape 64"/>
          <p:cNvSpPr/>
          <p:nvPr/>
        </p:nvSpPr>
        <p:spPr>
          <a:xfrm>
            <a:off x="6382512" y="583387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66" name="Text 65"/>
          <p:cNvSpPr txBox="1"/>
          <p:nvPr/>
        </p:nvSpPr>
        <p:spPr>
          <a:xfrm>
            <a:off x="6382512" y="58704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75% · $181.5K balance not used</a:t>
            </a:r>
            <a:endParaRPr lang="en-US" sz="900" dirty="0"/>
          </a:p>
        </p:txBody>
      </p:sp>
      <p:sp>
        <p:nvSpPr>
          <p:cNvPr id="167" name="kpi card 12"/>
          <p:cNvSpPr/>
          <p:nvPr/>
        </p:nvSpPr>
        <p:spPr>
          <a:xfrm>
            <a:off x="9025128" y="4800600"/>
            <a:ext cx="2615184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68" name="Text 67"/>
          <p:cNvSpPr txBox="1"/>
          <p:nvPr/>
        </p:nvSpPr>
        <p:spPr>
          <a:xfrm>
            <a:off x="9208008" y="4937760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A4D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CYCLE</a:t>
            </a:r>
            <a:endParaRPr lang="en-US" sz="950" dirty="0"/>
          </a:p>
        </p:txBody>
      </p:sp>
      <p:sp>
        <p:nvSpPr>
          <p:cNvPr id="169" name="Text 68"/>
          <p:cNvSpPr txBox="1"/>
          <p:nvPr/>
        </p:nvSpPr>
        <p:spPr>
          <a:xfrm>
            <a:off x="9208008" y="513892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296 days</a:t>
            </a:r>
            <a:endParaRPr lang="en-US" sz="2700" dirty="0"/>
          </a:p>
        </p:txBody>
      </p:sp>
      <p:sp>
        <p:nvSpPr>
          <p:cNvPr id="170" name="Text 69"/>
          <p:cNvSpPr txBox="1"/>
          <p:nvPr/>
        </p:nvSpPr>
        <p:spPr>
          <a:xfrm>
            <a:off x="9208008" y="559612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Sep 25 → 13 Jul 26</a:t>
            </a:r>
            <a:endParaRPr lang="en-US" sz="1050" dirty="0"/>
          </a:p>
        </p:txBody>
      </p:sp>
      <p:sp>
        <p:nvSpPr>
          <p:cNvPr id="171" name="Shape 70"/>
          <p:cNvSpPr/>
          <p:nvPr/>
        </p:nvSpPr>
        <p:spPr>
          <a:xfrm>
            <a:off x="9208008" y="5833872"/>
            <a:ext cx="2249424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72" name="Text 71"/>
          <p:cNvSpPr txBox="1"/>
          <p:nvPr/>
        </p:nvSpPr>
        <p:spPr>
          <a:xfrm>
            <a:off x="9208008" y="5870448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1st L/C → last FFD · target ≤ 90 days (max 120)</a:t>
            </a:r>
            <a:endParaRPr lang="en-US" sz="90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07 — FILE CLOSING · CUT TO SHIP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TARGET-36 — cut-to-ship ratio, full quantity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Post Costing qty + Cut to Ship file 18 Oct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Week 42 data · style-wise, no PO no.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07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54864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QTY</a:t>
            </a:r>
            <a:endParaRPr lang="en-US" sz="950" dirty="0"/>
          </a:p>
        </p:txBody>
      </p:sp>
      <p:sp>
        <p:nvSpPr>
          <p:cNvPr id="102" name="Text 1"/>
          <p:cNvSpPr txBox="1"/>
          <p:nvPr/>
        </p:nvSpPr>
        <p:spPr>
          <a:xfrm>
            <a:off x="54864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316,361</a:t>
            </a:r>
            <a:endParaRPr lang="en-US" sz="2600" dirty="0"/>
          </a:p>
        </p:txBody>
      </p:sp>
      <p:sp>
        <p:nvSpPr>
          <p:cNvPr id="103" name="Text 2"/>
          <p:cNvSpPr txBox="1"/>
          <p:nvPr/>
        </p:nvSpPr>
        <p:spPr>
          <a:xfrm>
            <a:off x="54864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· 53 styles · post costing</a:t>
            </a:r>
            <a:endParaRPr lang="en-US" sz="1050" dirty="0"/>
          </a:p>
        </p:txBody>
      </p:sp>
      <p:sp>
        <p:nvSpPr>
          <p:cNvPr id="104" name="Shape 3"/>
          <p:cNvSpPr/>
          <p:nvPr/>
        </p:nvSpPr>
        <p:spPr>
          <a:xfrm>
            <a:off x="267919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5" name="Text 4"/>
          <p:cNvSpPr txBox="1"/>
          <p:nvPr/>
        </p:nvSpPr>
        <p:spPr>
          <a:xfrm>
            <a:off x="27889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QTY</a:t>
            </a:r>
            <a:endParaRPr lang="en-US" sz="950" dirty="0"/>
          </a:p>
        </p:txBody>
      </p:sp>
      <p:sp>
        <p:nvSpPr>
          <p:cNvPr id="106" name="Text 5"/>
          <p:cNvSpPr txBox="1"/>
          <p:nvPr/>
        </p:nvSpPr>
        <p:spPr>
          <a:xfrm>
            <a:off x="278892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335,335</a:t>
            </a:r>
            <a:endParaRPr lang="en-US" sz="2600" dirty="0"/>
          </a:p>
        </p:txBody>
      </p:sp>
      <p:sp>
        <p:nvSpPr>
          <p:cNvPr id="107" name="Text 6"/>
          <p:cNvSpPr txBox="1"/>
          <p:nvPr/>
        </p:nvSpPr>
        <p:spPr>
          <a:xfrm>
            <a:off x="278892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106.0% of PO · implied</a:t>
            </a:r>
            <a:endParaRPr lang="en-US" sz="1050" dirty="0"/>
          </a:p>
        </p:txBody>
      </p:sp>
      <p:sp>
        <p:nvSpPr>
          <p:cNvPr id="108" name="Shape 7"/>
          <p:cNvSpPr/>
          <p:nvPr/>
        </p:nvSpPr>
        <p:spPr>
          <a:xfrm>
            <a:off x="491947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9" name="Text 8"/>
          <p:cNvSpPr txBox="1"/>
          <p:nvPr/>
        </p:nvSpPr>
        <p:spPr>
          <a:xfrm>
            <a:off x="502920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50" dirty="0"/>
          </a:p>
        </p:txBody>
      </p:sp>
      <p:sp>
        <p:nvSpPr>
          <p:cNvPr id="110" name="Text 9"/>
          <p:cNvSpPr txBox="1"/>
          <p:nvPr/>
        </p:nvSpPr>
        <p:spPr>
          <a:xfrm>
            <a:off x="502920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315,073</a:t>
            </a:r>
            <a:endParaRPr lang="en-US" sz="2600" dirty="0"/>
          </a:p>
        </p:txBody>
      </p:sp>
      <p:sp>
        <p:nvSpPr>
          <p:cNvPr id="111" name="Text 10"/>
          <p:cNvSpPr txBox="1"/>
          <p:nvPr/>
        </p:nvSpPr>
        <p:spPr>
          <a:xfrm>
            <a:off x="502920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 of PO · post costing</a:t>
            </a:r>
            <a:endParaRPr lang="en-US" sz="1050" dirty="0"/>
          </a:p>
        </p:txBody>
      </p:sp>
      <p:sp>
        <p:nvSpPr>
          <p:cNvPr id="112" name="Shape 11"/>
          <p:cNvSpPr/>
          <p:nvPr/>
        </p:nvSpPr>
        <p:spPr>
          <a:xfrm>
            <a:off x="715975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3" name="Text 12"/>
          <p:cNvSpPr txBox="1"/>
          <p:nvPr/>
        </p:nvSpPr>
        <p:spPr>
          <a:xfrm>
            <a:off x="726948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CUT-TO-SHIP</a:t>
            </a:r>
            <a:endParaRPr lang="en-US" sz="950" dirty="0"/>
          </a:p>
        </p:txBody>
      </p:sp>
      <p:sp>
        <p:nvSpPr>
          <p:cNvPr id="114" name="Text 13"/>
          <p:cNvSpPr txBox="1"/>
          <p:nvPr/>
        </p:nvSpPr>
        <p:spPr>
          <a:xfrm>
            <a:off x="726948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94.3%</a:t>
            </a:r>
            <a:endParaRPr lang="en-US" sz="2600" dirty="0"/>
          </a:p>
        </p:txBody>
      </p:sp>
      <p:sp>
        <p:nvSpPr>
          <p:cNvPr id="115" name="Text 14"/>
          <p:cNvSpPr txBox="1"/>
          <p:nvPr/>
        </p:nvSpPr>
        <p:spPr>
          <a:xfrm>
            <a:off x="726948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÷ cut · style report</a:t>
            </a:r>
            <a:endParaRPr lang="en-US" sz="1050" dirty="0"/>
          </a:p>
        </p:txBody>
      </p:sp>
      <p:sp>
        <p:nvSpPr>
          <p:cNvPr id="116" name="Shape 15"/>
          <p:cNvSpPr/>
          <p:nvPr/>
        </p:nvSpPr>
        <p:spPr>
          <a:xfrm>
            <a:off x="940003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7" name="Text 16"/>
          <p:cNvSpPr txBox="1"/>
          <p:nvPr/>
        </p:nvSpPr>
        <p:spPr>
          <a:xfrm>
            <a:off x="950976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CUT, NOT SHIPPED</a:t>
            </a:r>
            <a:endParaRPr lang="en-US" sz="950" dirty="0"/>
          </a:p>
        </p:txBody>
      </p:sp>
      <p:sp>
        <p:nvSpPr>
          <p:cNvPr id="118" name="Text 17"/>
          <p:cNvSpPr txBox="1"/>
          <p:nvPr/>
        </p:nvSpPr>
        <p:spPr>
          <a:xfrm>
            <a:off x="950976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20,262 pcs</a:t>
            </a:r>
            <a:endParaRPr lang="en-US" sz="2600" dirty="0"/>
          </a:p>
        </p:txBody>
      </p:sp>
      <p:sp>
        <p:nvSpPr>
          <p:cNvPr id="119" name="Text 18"/>
          <p:cNvSpPr txBox="1"/>
          <p:nvPr/>
        </p:nvSpPr>
        <p:spPr>
          <a:xfrm>
            <a:off x="950976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6.0% of cut</a:t>
            </a:r>
            <a:endParaRPr lang="en-US" sz="1050" dirty="0"/>
          </a:p>
        </p:txBody>
      </p:sp>
      <p:sp>
        <p:nvSpPr>
          <p:cNvPr id="120" name="Text 19"/>
          <p:cNvSpPr txBox="1"/>
          <p:nvPr/>
        </p:nvSpPr>
        <p:spPr>
          <a:xfrm>
            <a:off x="548640" y="2468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cut-to-ship — 10 styles (PO ÷ cut)</a:t>
            </a:r>
            <a:endParaRPr lang="en-US" sz="1150" dirty="0"/>
          </a:p>
        </p:txBody>
      </p:sp>
      <p:sp>
        <p:nvSpPr>
          <p:cNvPr id="121" name="Text 20"/>
          <p:cNvSpPr txBox="1"/>
          <p:nvPr/>
        </p:nvSpPr>
        <p:spPr>
          <a:xfrm>
            <a:off x="548640" y="27432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850" dirty="0"/>
          </a:p>
        </p:txBody>
      </p:sp>
      <p:sp>
        <p:nvSpPr>
          <p:cNvPr id="122" name="Text 21"/>
          <p:cNvSpPr txBox="1"/>
          <p:nvPr/>
        </p:nvSpPr>
        <p:spPr>
          <a:xfrm>
            <a:off x="2057400" y="2743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 / WASH</a:t>
            </a:r>
            <a:endParaRPr lang="en-US" sz="850" dirty="0"/>
          </a:p>
        </p:txBody>
      </p:sp>
      <p:sp>
        <p:nvSpPr>
          <p:cNvPr id="123" name="Text 22"/>
          <p:cNvSpPr txBox="1"/>
          <p:nvPr/>
        </p:nvSpPr>
        <p:spPr>
          <a:xfrm>
            <a:off x="4251960" y="27432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QTY</a:t>
            </a:r>
            <a:endParaRPr lang="en-US" sz="850" dirty="0"/>
          </a:p>
        </p:txBody>
      </p:sp>
      <p:sp>
        <p:nvSpPr>
          <p:cNvPr id="124" name="Text 23"/>
          <p:cNvSpPr txBox="1"/>
          <p:nvPr/>
        </p:nvSpPr>
        <p:spPr>
          <a:xfrm>
            <a:off x="5166360" y="274320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</a:t>
            </a:r>
            <a:endParaRPr lang="en-US" sz="850" dirty="0"/>
          </a:p>
        </p:txBody>
      </p:sp>
      <p:sp>
        <p:nvSpPr>
          <p:cNvPr id="125" name="Text 24"/>
          <p:cNvSpPr txBox="1"/>
          <p:nvPr/>
        </p:nvSpPr>
        <p:spPr>
          <a:xfrm>
            <a:off x="6080760" y="27432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OVER PO</a:t>
            </a:r>
            <a:endParaRPr lang="en-US" sz="850" dirty="0"/>
          </a:p>
        </p:txBody>
      </p:sp>
      <p:sp>
        <p:nvSpPr>
          <p:cNvPr id="126" name="Text 25"/>
          <p:cNvSpPr txBox="1"/>
          <p:nvPr/>
        </p:nvSpPr>
        <p:spPr>
          <a:xfrm>
            <a:off x="7269480" y="2743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WITHIN CUT</a:t>
            </a:r>
            <a:endParaRPr lang="en-US" sz="850" dirty="0"/>
          </a:p>
        </p:txBody>
      </p:sp>
      <p:sp>
        <p:nvSpPr>
          <p:cNvPr id="127" name="Text 26"/>
          <p:cNvSpPr txBox="1"/>
          <p:nvPr/>
        </p:nvSpPr>
        <p:spPr>
          <a:xfrm>
            <a:off x="9418320" y="274320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→ SHIP</a:t>
            </a:r>
            <a:endParaRPr lang="en-US" sz="850" dirty="0"/>
          </a:p>
        </p:txBody>
      </p:sp>
      <p:sp>
        <p:nvSpPr>
          <p:cNvPr id="128" name="Text 27"/>
          <p:cNvSpPr txBox="1"/>
          <p:nvPr/>
        </p:nvSpPr>
        <p:spPr>
          <a:xfrm>
            <a:off x="10561320" y="274320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OUT</a:t>
            </a:r>
            <a:endParaRPr lang="en-US" sz="850" dirty="0"/>
          </a:p>
        </p:txBody>
      </p:sp>
      <p:sp>
        <p:nvSpPr>
          <p:cNvPr id="129" name="Shape 28"/>
          <p:cNvSpPr/>
          <p:nvPr/>
        </p:nvSpPr>
        <p:spPr>
          <a:xfrm>
            <a:off x="548640" y="2999232"/>
            <a:ext cx="1109167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30" name="Text 29"/>
          <p:cNvSpPr txBox="1"/>
          <p:nvPr/>
        </p:nvSpPr>
        <p:spPr>
          <a:xfrm>
            <a:off x="548640" y="302666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2900331277</a:t>
            </a:r>
            <a:endParaRPr lang="en-US" sz="1050" dirty="0"/>
          </a:p>
        </p:txBody>
      </p:sp>
      <p:sp>
        <p:nvSpPr>
          <p:cNvPr id="131" name="Text 30"/>
          <p:cNvSpPr txBox="1"/>
          <p:nvPr/>
        </p:nvSpPr>
        <p:spPr>
          <a:xfrm>
            <a:off x="2057400" y="302666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 INDIGO</a:t>
            </a:r>
            <a:endParaRPr lang="en-US" sz="1050" dirty="0"/>
          </a:p>
        </p:txBody>
      </p:sp>
      <p:sp>
        <p:nvSpPr>
          <p:cNvPr id="132" name="Text 31"/>
          <p:cNvSpPr txBox="1"/>
          <p:nvPr/>
        </p:nvSpPr>
        <p:spPr>
          <a:xfrm>
            <a:off x="4251960" y="3026664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5,605</a:t>
            </a:r>
            <a:endParaRPr lang="en-US" sz="1050" dirty="0"/>
          </a:p>
        </p:txBody>
      </p:sp>
      <p:sp>
        <p:nvSpPr>
          <p:cNvPr id="133" name="Text 32"/>
          <p:cNvSpPr txBox="1"/>
          <p:nvPr/>
        </p:nvSpPr>
        <p:spPr>
          <a:xfrm>
            <a:off x="5166360" y="3026664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7,148</a:t>
            </a:r>
            <a:endParaRPr lang="en-US" sz="1050" dirty="0"/>
          </a:p>
        </p:txBody>
      </p:sp>
      <p:sp>
        <p:nvSpPr>
          <p:cNvPr id="134" name="Text 33"/>
          <p:cNvSpPr txBox="1"/>
          <p:nvPr/>
        </p:nvSpPr>
        <p:spPr>
          <a:xfrm>
            <a:off x="6080760" y="302666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1,543</a:t>
            </a:r>
            <a:endParaRPr lang="en-US" sz="1050" dirty="0"/>
          </a:p>
        </p:txBody>
      </p:sp>
      <p:sp>
        <p:nvSpPr>
          <p:cNvPr id="135" name="Text 34"/>
          <p:cNvSpPr txBox="1"/>
          <p:nvPr/>
        </p:nvSpPr>
        <p:spPr>
          <a:xfrm>
            <a:off x="9418320" y="302666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78.4%</a:t>
            </a:r>
            <a:endParaRPr lang="en-US" sz="1050" dirty="0"/>
          </a:p>
        </p:txBody>
      </p:sp>
      <p:sp>
        <p:nvSpPr>
          <p:cNvPr id="136" name="Text 35"/>
          <p:cNvSpPr txBox="1"/>
          <p:nvPr/>
        </p:nvSpPr>
        <p:spPr>
          <a:xfrm>
            <a:off x="10561320" y="3026664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6,808</a:t>
            </a:r>
            <a:endParaRPr lang="en-US" sz="1050" dirty="0"/>
          </a:p>
        </p:txBody>
      </p:sp>
      <p:sp>
        <p:nvSpPr>
          <p:cNvPr id="137" name="cut 2900331277"/>
          <p:cNvSpPr/>
          <p:nvPr/>
        </p:nvSpPr>
        <p:spPr>
          <a:xfrm>
            <a:off x="7269480" y="3081528"/>
            <a:ext cx="471978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38" name="po 2900331277"/>
          <p:cNvSpPr/>
          <p:nvPr/>
        </p:nvSpPr>
        <p:spPr>
          <a:xfrm>
            <a:off x="7269480" y="3081528"/>
            <a:ext cx="370095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39" name="Shape 38"/>
          <p:cNvSpPr/>
          <p:nvPr/>
        </p:nvSpPr>
        <p:spPr>
          <a:xfrm>
            <a:off x="548640" y="3291840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40" name="Text 39"/>
          <p:cNvSpPr txBox="1"/>
          <p:nvPr/>
        </p:nvSpPr>
        <p:spPr>
          <a:xfrm>
            <a:off x="548640" y="329184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3400331181</a:t>
            </a:r>
            <a:endParaRPr lang="en-US" sz="1050" dirty="0"/>
          </a:p>
        </p:txBody>
      </p:sp>
      <p:sp>
        <p:nvSpPr>
          <p:cNvPr id="141" name="Text 40"/>
          <p:cNvSpPr txBox="1"/>
          <p:nvPr/>
        </p:nvSpPr>
        <p:spPr>
          <a:xfrm>
            <a:off x="2057400" y="3291840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 WASH</a:t>
            </a:r>
            <a:endParaRPr lang="en-US" sz="1050" dirty="0"/>
          </a:p>
        </p:txBody>
      </p:sp>
      <p:sp>
        <p:nvSpPr>
          <p:cNvPr id="142" name="Text 41"/>
          <p:cNvSpPr txBox="1"/>
          <p:nvPr/>
        </p:nvSpPr>
        <p:spPr>
          <a:xfrm>
            <a:off x="4251960" y="329184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3,300</a:t>
            </a:r>
            <a:endParaRPr lang="en-US" sz="1050" dirty="0"/>
          </a:p>
        </p:txBody>
      </p:sp>
      <p:sp>
        <p:nvSpPr>
          <p:cNvPr id="143" name="Text 42"/>
          <p:cNvSpPr txBox="1"/>
          <p:nvPr/>
        </p:nvSpPr>
        <p:spPr>
          <a:xfrm>
            <a:off x="5166360" y="329184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3,686</a:t>
            </a:r>
            <a:endParaRPr lang="en-US" sz="1050" dirty="0"/>
          </a:p>
        </p:txBody>
      </p:sp>
      <p:sp>
        <p:nvSpPr>
          <p:cNvPr id="144" name="Text 43"/>
          <p:cNvSpPr txBox="1"/>
          <p:nvPr/>
        </p:nvSpPr>
        <p:spPr>
          <a:xfrm>
            <a:off x="6080760" y="3291840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386</a:t>
            </a:r>
            <a:endParaRPr lang="en-US" sz="1050" dirty="0"/>
          </a:p>
        </p:txBody>
      </p:sp>
      <p:sp>
        <p:nvSpPr>
          <p:cNvPr id="145" name="Text 44"/>
          <p:cNvSpPr txBox="1"/>
          <p:nvPr/>
        </p:nvSpPr>
        <p:spPr>
          <a:xfrm>
            <a:off x="9418320" y="329184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89.5%</a:t>
            </a:r>
            <a:endParaRPr lang="en-US" sz="1050" dirty="0"/>
          </a:p>
        </p:txBody>
      </p:sp>
      <p:sp>
        <p:nvSpPr>
          <p:cNvPr id="146" name="Text 45"/>
          <p:cNvSpPr txBox="1"/>
          <p:nvPr/>
        </p:nvSpPr>
        <p:spPr>
          <a:xfrm>
            <a:off x="10561320" y="3291840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3,300</a:t>
            </a:r>
            <a:endParaRPr lang="en-US" sz="1050" dirty="0"/>
          </a:p>
        </p:txBody>
      </p:sp>
      <p:sp>
        <p:nvSpPr>
          <p:cNvPr id="147" name="cut 3400331181"/>
          <p:cNvSpPr/>
          <p:nvPr/>
        </p:nvSpPr>
        <p:spPr>
          <a:xfrm>
            <a:off x="7269480" y="3346704"/>
            <a:ext cx="243384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48" name="po 3400331181"/>
          <p:cNvSpPr/>
          <p:nvPr/>
        </p:nvSpPr>
        <p:spPr>
          <a:xfrm>
            <a:off x="7269480" y="3346704"/>
            <a:ext cx="217897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49" name="Shape 48"/>
          <p:cNvSpPr/>
          <p:nvPr/>
        </p:nvSpPr>
        <p:spPr>
          <a:xfrm>
            <a:off x="548640" y="3557016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50" name="Text 49"/>
          <p:cNvSpPr txBox="1"/>
          <p:nvPr/>
        </p:nvSpPr>
        <p:spPr>
          <a:xfrm>
            <a:off x="548640" y="3557016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4150300844P</a:t>
            </a:r>
            <a:endParaRPr lang="en-US" sz="1050" dirty="0"/>
          </a:p>
        </p:txBody>
      </p:sp>
      <p:sp>
        <p:nvSpPr>
          <p:cNvPr id="151" name="Text 50"/>
          <p:cNvSpPr txBox="1"/>
          <p:nvPr/>
        </p:nvSpPr>
        <p:spPr>
          <a:xfrm>
            <a:off x="2057400" y="3557016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50" dirty="0"/>
          </a:p>
        </p:txBody>
      </p:sp>
      <p:sp>
        <p:nvSpPr>
          <p:cNvPr id="152" name="Text 51"/>
          <p:cNvSpPr txBox="1"/>
          <p:nvPr/>
        </p:nvSpPr>
        <p:spPr>
          <a:xfrm>
            <a:off x="4251960" y="355701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1,696</a:t>
            </a:r>
            <a:endParaRPr lang="en-US" sz="1050" dirty="0"/>
          </a:p>
        </p:txBody>
      </p:sp>
      <p:sp>
        <p:nvSpPr>
          <p:cNvPr id="153" name="Text 52"/>
          <p:cNvSpPr txBox="1"/>
          <p:nvPr/>
        </p:nvSpPr>
        <p:spPr>
          <a:xfrm>
            <a:off x="5166360" y="355701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1,840</a:t>
            </a:r>
            <a:endParaRPr lang="en-US" sz="1050" dirty="0"/>
          </a:p>
        </p:txBody>
      </p:sp>
      <p:sp>
        <p:nvSpPr>
          <p:cNvPr id="154" name="Text 53"/>
          <p:cNvSpPr txBox="1"/>
          <p:nvPr/>
        </p:nvSpPr>
        <p:spPr>
          <a:xfrm>
            <a:off x="6080760" y="3557016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1050" dirty="0"/>
          </a:p>
        </p:txBody>
      </p:sp>
      <p:sp>
        <p:nvSpPr>
          <p:cNvPr id="155" name="Text 54"/>
          <p:cNvSpPr txBox="1"/>
          <p:nvPr/>
        </p:nvSpPr>
        <p:spPr>
          <a:xfrm>
            <a:off x="9418320" y="355701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92.2%</a:t>
            </a:r>
            <a:endParaRPr lang="en-US" sz="1050" dirty="0"/>
          </a:p>
        </p:txBody>
      </p:sp>
      <p:sp>
        <p:nvSpPr>
          <p:cNvPr id="156" name="Text 55"/>
          <p:cNvSpPr txBox="1"/>
          <p:nvPr/>
        </p:nvSpPr>
        <p:spPr>
          <a:xfrm>
            <a:off x="10561320" y="3557016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3,392</a:t>
            </a:r>
            <a:endParaRPr lang="en-US" sz="1050" dirty="0"/>
          </a:p>
        </p:txBody>
      </p:sp>
      <p:sp>
        <p:nvSpPr>
          <p:cNvPr id="157" name="cut 4150300844P"/>
          <p:cNvSpPr/>
          <p:nvPr/>
        </p:nvSpPr>
        <p:spPr>
          <a:xfrm>
            <a:off x="7269480" y="3611880"/>
            <a:ext cx="121494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58" name="po 4150300844P"/>
          <p:cNvSpPr/>
          <p:nvPr/>
        </p:nvSpPr>
        <p:spPr>
          <a:xfrm>
            <a:off x="7269480" y="3611880"/>
            <a:ext cx="111986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59" name="Shape 58"/>
          <p:cNvSpPr/>
          <p:nvPr/>
        </p:nvSpPr>
        <p:spPr>
          <a:xfrm>
            <a:off x="548640" y="3822192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60" name="Text 59"/>
          <p:cNvSpPr txBox="1"/>
          <p:nvPr/>
        </p:nvSpPr>
        <p:spPr>
          <a:xfrm>
            <a:off x="548640" y="382219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2900331287</a:t>
            </a:r>
            <a:endParaRPr lang="en-US" sz="1050" dirty="0"/>
          </a:p>
        </p:txBody>
      </p:sp>
      <p:sp>
        <p:nvSpPr>
          <p:cNvPr id="161" name="Text 60"/>
          <p:cNvSpPr txBox="1"/>
          <p:nvPr/>
        </p:nvSpPr>
        <p:spPr>
          <a:xfrm>
            <a:off x="2057400" y="3822192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 INDIGO</a:t>
            </a:r>
            <a:endParaRPr lang="en-US" sz="1050" dirty="0"/>
          </a:p>
        </p:txBody>
      </p:sp>
      <p:sp>
        <p:nvSpPr>
          <p:cNvPr id="162" name="Text 61"/>
          <p:cNvSpPr txBox="1"/>
          <p:nvPr/>
        </p:nvSpPr>
        <p:spPr>
          <a:xfrm>
            <a:off x="4251960" y="382219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2,497</a:t>
            </a:r>
            <a:endParaRPr lang="en-US" sz="1050" dirty="0"/>
          </a:p>
        </p:txBody>
      </p:sp>
      <p:sp>
        <p:nvSpPr>
          <p:cNvPr id="163" name="Text 62"/>
          <p:cNvSpPr txBox="1"/>
          <p:nvPr/>
        </p:nvSpPr>
        <p:spPr>
          <a:xfrm>
            <a:off x="5166360" y="382219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2,683</a:t>
            </a:r>
            <a:endParaRPr lang="en-US" sz="1050" dirty="0"/>
          </a:p>
        </p:txBody>
      </p:sp>
      <p:sp>
        <p:nvSpPr>
          <p:cNvPr id="164" name="Text 63"/>
          <p:cNvSpPr txBox="1"/>
          <p:nvPr/>
        </p:nvSpPr>
        <p:spPr>
          <a:xfrm>
            <a:off x="6080760" y="382219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</a:t>
            </a:r>
            <a:endParaRPr lang="en-US" sz="1050" dirty="0"/>
          </a:p>
        </p:txBody>
      </p:sp>
      <p:sp>
        <p:nvSpPr>
          <p:cNvPr id="165" name="Text 64"/>
          <p:cNvSpPr txBox="1"/>
          <p:nvPr/>
        </p:nvSpPr>
        <p:spPr>
          <a:xfrm>
            <a:off x="9418320" y="382219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93.1%</a:t>
            </a:r>
            <a:endParaRPr lang="en-US" sz="1050" dirty="0"/>
          </a:p>
        </p:txBody>
      </p:sp>
      <p:sp>
        <p:nvSpPr>
          <p:cNvPr id="166" name="Text 65"/>
          <p:cNvSpPr txBox="1"/>
          <p:nvPr/>
        </p:nvSpPr>
        <p:spPr>
          <a:xfrm>
            <a:off x="10561320" y="3822192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2,497</a:t>
            </a:r>
            <a:endParaRPr lang="en-US" sz="1050" dirty="0"/>
          </a:p>
        </p:txBody>
      </p:sp>
      <p:sp>
        <p:nvSpPr>
          <p:cNvPr id="167" name="cut 2900331287"/>
          <p:cNvSpPr/>
          <p:nvPr/>
        </p:nvSpPr>
        <p:spPr>
          <a:xfrm>
            <a:off x="7269480" y="3877056"/>
            <a:ext cx="177157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68" name="po 2900331287"/>
          <p:cNvSpPr/>
          <p:nvPr/>
        </p:nvSpPr>
        <p:spPr>
          <a:xfrm>
            <a:off x="7269480" y="3877056"/>
            <a:ext cx="164875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69" name="Shape 68"/>
          <p:cNvSpPr/>
          <p:nvPr/>
        </p:nvSpPr>
        <p:spPr>
          <a:xfrm>
            <a:off x="548640" y="4087368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70" name="Text 69"/>
          <p:cNvSpPr txBox="1"/>
          <p:nvPr/>
        </p:nvSpPr>
        <p:spPr>
          <a:xfrm>
            <a:off x="548640" y="4087368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3400330773</a:t>
            </a:r>
            <a:endParaRPr lang="en-US" sz="1050" dirty="0"/>
          </a:p>
        </p:txBody>
      </p:sp>
      <p:sp>
        <p:nvSpPr>
          <p:cNvPr id="171" name="Text 70"/>
          <p:cNvSpPr txBox="1"/>
          <p:nvPr/>
        </p:nvSpPr>
        <p:spPr>
          <a:xfrm>
            <a:off x="2057400" y="4087368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PINK AOP</a:t>
            </a:r>
            <a:endParaRPr lang="en-US" sz="1050" dirty="0"/>
          </a:p>
        </p:txBody>
      </p:sp>
      <p:sp>
        <p:nvSpPr>
          <p:cNvPr id="172" name="Text 71"/>
          <p:cNvSpPr txBox="1"/>
          <p:nvPr/>
        </p:nvSpPr>
        <p:spPr>
          <a:xfrm>
            <a:off x="4251960" y="408736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9,899</a:t>
            </a:r>
            <a:endParaRPr lang="en-US" sz="1050" dirty="0"/>
          </a:p>
        </p:txBody>
      </p:sp>
      <p:sp>
        <p:nvSpPr>
          <p:cNvPr id="173" name="Text 72"/>
          <p:cNvSpPr txBox="1"/>
          <p:nvPr/>
        </p:nvSpPr>
        <p:spPr>
          <a:xfrm>
            <a:off x="5166360" y="408736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10,587</a:t>
            </a:r>
            <a:endParaRPr lang="en-US" sz="1050" dirty="0"/>
          </a:p>
        </p:txBody>
      </p:sp>
      <p:sp>
        <p:nvSpPr>
          <p:cNvPr id="174" name="Text 73"/>
          <p:cNvSpPr txBox="1"/>
          <p:nvPr/>
        </p:nvSpPr>
        <p:spPr>
          <a:xfrm>
            <a:off x="6080760" y="4087368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688</a:t>
            </a:r>
            <a:endParaRPr lang="en-US" sz="1050" dirty="0"/>
          </a:p>
        </p:txBody>
      </p:sp>
      <p:sp>
        <p:nvSpPr>
          <p:cNvPr id="175" name="Text 74"/>
          <p:cNvSpPr txBox="1"/>
          <p:nvPr/>
        </p:nvSpPr>
        <p:spPr>
          <a:xfrm>
            <a:off x="9418320" y="408736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93.5%</a:t>
            </a:r>
            <a:endParaRPr lang="en-US" sz="1050" dirty="0"/>
          </a:p>
        </p:txBody>
      </p:sp>
      <p:sp>
        <p:nvSpPr>
          <p:cNvPr id="176" name="Text 75"/>
          <p:cNvSpPr txBox="1"/>
          <p:nvPr/>
        </p:nvSpPr>
        <p:spPr>
          <a:xfrm>
            <a:off x="10561320" y="4087368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9,899</a:t>
            </a:r>
            <a:endParaRPr lang="en-US" sz="1050" dirty="0"/>
          </a:p>
        </p:txBody>
      </p:sp>
      <p:sp>
        <p:nvSpPr>
          <p:cNvPr id="177" name="cut 3400330773"/>
          <p:cNvSpPr/>
          <p:nvPr/>
        </p:nvSpPr>
        <p:spPr>
          <a:xfrm>
            <a:off x="7269480" y="4142232"/>
            <a:ext cx="699053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78" name="po 3400330773"/>
          <p:cNvSpPr/>
          <p:nvPr/>
        </p:nvSpPr>
        <p:spPr>
          <a:xfrm>
            <a:off x="7269480" y="4142232"/>
            <a:ext cx="653625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79" name="Shape 78"/>
          <p:cNvSpPr/>
          <p:nvPr/>
        </p:nvSpPr>
        <p:spPr>
          <a:xfrm>
            <a:off x="548640" y="4352544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80" name="Text 79"/>
          <p:cNvSpPr txBox="1"/>
          <p:nvPr/>
        </p:nvSpPr>
        <p:spPr>
          <a:xfrm>
            <a:off x="548640" y="4352544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4150311249</a:t>
            </a:r>
            <a:endParaRPr lang="en-US" sz="1050" dirty="0"/>
          </a:p>
        </p:txBody>
      </p:sp>
      <p:sp>
        <p:nvSpPr>
          <p:cNvPr id="181" name="Text 80"/>
          <p:cNvSpPr txBox="1"/>
          <p:nvPr/>
        </p:nvSpPr>
        <p:spPr>
          <a:xfrm>
            <a:off x="2057400" y="435254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50" dirty="0"/>
          </a:p>
        </p:txBody>
      </p:sp>
      <p:sp>
        <p:nvSpPr>
          <p:cNvPr id="182" name="Text 81"/>
          <p:cNvSpPr txBox="1"/>
          <p:nvPr/>
        </p:nvSpPr>
        <p:spPr>
          <a:xfrm>
            <a:off x="4251960" y="4352544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5,484</a:t>
            </a:r>
            <a:endParaRPr lang="en-US" sz="1050" dirty="0"/>
          </a:p>
        </p:txBody>
      </p:sp>
      <p:sp>
        <p:nvSpPr>
          <p:cNvPr id="183" name="Text 82"/>
          <p:cNvSpPr txBox="1"/>
          <p:nvPr/>
        </p:nvSpPr>
        <p:spPr>
          <a:xfrm>
            <a:off x="5166360" y="4352544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5,859</a:t>
            </a:r>
            <a:endParaRPr lang="en-US" sz="1050" dirty="0"/>
          </a:p>
        </p:txBody>
      </p:sp>
      <p:sp>
        <p:nvSpPr>
          <p:cNvPr id="184" name="Text 83"/>
          <p:cNvSpPr txBox="1"/>
          <p:nvPr/>
        </p:nvSpPr>
        <p:spPr>
          <a:xfrm>
            <a:off x="6080760" y="43525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</a:t>
            </a:r>
            <a:endParaRPr lang="en-US" sz="1050" dirty="0"/>
          </a:p>
        </p:txBody>
      </p:sp>
      <p:sp>
        <p:nvSpPr>
          <p:cNvPr id="185" name="Text 84"/>
          <p:cNvSpPr txBox="1"/>
          <p:nvPr/>
        </p:nvSpPr>
        <p:spPr>
          <a:xfrm>
            <a:off x="9418320" y="4352544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93.6%</a:t>
            </a:r>
            <a:endParaRPr lang="en-US" sz="1050" dirty="0"/>
          </a:p>
        </p:txBody>
      </p:sp>
      <p:sp>
        <p:nvSpPr>
          <p:cNvPr id="186" name="Text 85"/>
          <p:cNvSpPr txBox="1"/>
          <p:nvPr/>
        </p:nvSpPr>
        <p:spPr>
          <a:xfrm>
            <a:off x="10561320" y="4352544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5,484</a:t>
            </a:r>
            <a:endParaRPr lang="en-US" sz="1050" dirty="0"/>
          </a:p>
        </p:txBody>
      </p:sp>
      <p:sp>
        <p:nvSpPr>
          <p:cNvPr id="187" name="cut 4150311249"/>
          <p:cNvSpPr/>
          <p:nvPr/>
        </p:nvSpPr>
        <p:spPr>
          <a:xfrm>
            <a:off x="7269480" y="4407408"/>
            <a:ext cx="386866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88" name="po 4150311249"/>
          <p:cNvSpPr/>
          <p:nvPr/>
        </p:nvSpPr>
        <p:spPr>
          <a:xfrm>
            <a:off x="7269480" y="4407408"/>
            <a:ext cx="362105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89" name="Shape 88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90" name="Text 89"/>
          <p:cNvSpPr txBox="1"/>
          <p:nvPr/>
        </p:nvSpPr>
        <p:spPr>
          <a:xfrm>
            <a:off x="548640" y="4617720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3400330738</a:t>
            </a:r>
            <a:endParaRPr lang="en-US" sz="1050" dirty="0"/>
          </a:p>
        </p:txBody>
      </p:sp>
      <p:sp>
        <p:nvSpPr>
          <p:cNvPr id="191" name="Text 90"/>
          <p:cNvSpPr txBox="1"/>
          <p:nvPr/>
        </p:nvSpPr>
        <p:spPr>
          <a:xfrm>
            <a:off x="2057400" y="4617720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50" dirty="0"/>
          </a:p>
        </p:txBody>
      </p:sp>
      <p:sp>
        <p:nvSpPr>
          <p:cNvPr id="192" name="Text 91"/>
          <p:cNvSpPr txBox="1"/>
          <p:nvPr/>
        </p:nvSpPr>
        <p:spPr>
          <a:xfrm>
            <a:off x="4251960" y="461772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4,103</a:t>
            </a:r>
            <a:endParaRPr lang="en-US" sz="1050" dirty="0"/>
          </a:p>
        </p:txBody>
      </p:sp>
      <p:sp>
        <p:nvSpPr>
          <p:cNvPr id="193" name="Text 92"/>
          <p:cNvSpPr txBox="1"/>
          <p:nvPr/>
        </p:nvSpPr>
        <p:spPr>
          <a:xfrm>
            <a:off x="5166360" y="4617720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4,375</a:t>
            </a:r>
            <a:endParaRPr lang="en-US" sz="1050" dirty="0"/>
          </a:p>
        </p:txBody>
      </p:sp>
      <p:sp>
        <p:nvSpPr>
          <p:cNvPr id="194" name="Text 93"/>
          <p:cNvSpPr txBox="1"/>
          <p:nvPr/>
        </p:nvSpPr>
        <p:spPr>
          <a:xfrm>
            <a:off x="6080760" y="4617720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</a:t>
            </a:r>
            <a:endParaRPr lang="en-US" sz="1050" dirty="0"/>
          </a:p>
        </p:txBody>
      </p:sp>
      <p:sp>
        <p:nvSpPr>
          <p:cNvPr id="195" name="Text 94"/>
          <p:cNvSpPr txBox="1"/>
          <p:nvPr/>
        </p:nvSpPr>
        <p:spPr>
          <a:xfrm>
            <a:off x="9418320" y="4617720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93.8%</a:t>
            </a:r>
            <a:endParaRPr lang="en-US" sz="1050" dirty="0"/>
          </a:p>
        </p:txBody>
      </p:sp>
      <p:sp>
        <p:nvSpPr>
          <p:cNvPr id="196" name="Text 95"/>
          <p:cNvSpPr txBox="1"/>
          <p:nvPr/>
        </p:nvSpPr>
        <p:spPr>
          <a:xfrm>
            <a:off x="10561320" y="4617720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4,103</a:t>
            </a:r>
            <a:endParaRPr lang="en-US" sz="1050" dirty="0"/>
          </a:p>
        </p:txBody>
      </p:sp>
      <p:sp>
        <p:nvSpPr>
          <p:cNvPr id="197" name="cut 3400330738"/>
          <p:cNvSpPr/>
          <p:nvPr/>
        </p:nvSpPr>
        <p:spPr>
          <a:xfrm>
            <a:off x="7269480" y="4672584"/>
            <a:ext cx="288879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98" name="po 3400330738"/>
          <p:cNvSpPr/>
          <p:nvPr/>
        </p:nvSpPr>
        <p:spPr>
          <a:xfrm>
            <a:off x="7269480" y="4672584"/>
            <a:ext cx="270919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99" name="Shape 98"/>
          <p:cNvSpPr/>
          <p:nvPr/>
        </p:nvSpPr>
        <p:spPr>
          <a:xfrm>
            <a:off x="548640" y="4882896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00" name="Text 99"/>
          <p:cNvSpPr txBox="1"/>
          <p:nvPr/>
        </p:nvSpPr>
        <p:spPr>
          <a:xfrm>
            <a:off x="548640" y="4882896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2200331089A</a:t>
            </a:r>
            <a:endParaRPr lang="en-US" sz="1050" dirty="0"/>
          </a:p>
        </p:txBody>
      </p:sp>
      <p:sp>
        <p:nvSpPr>
          <p:cNvPr id="201" name="Text 100"/>
          <p:cNvSpPr txBox="1"/>
          <p:nvPr/>
        </p:nvSpPr>
        <p:spPr>
          <a:xfrm>
            <a:off x="2057400" y="4882896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SUNBLEACHED</a:t>
            </a:r>
            <a:endParaRPr lang="en-US" sz="1050" dirty="0"/>
          </a:p>
        </p:txBody>
      </p:sp>
      <p:sp>
        <p:nvSpPr>
          <p:cNvPr id="202" name="Text 101"/>
          <p:cNvSpPr txBox="1"/>
          <p:nvPr/>
        </p:nvSpPr>
        <p:spPr>
          <a:xfrm>
            <a:off x="4251960" y="488289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</a:t>
            </a:r>
            <a:endParaRPr lang="en-US" sz="1050" dirty="0"/>
          </a:p>
        </p:txBody>
      </p:sp>
      <p:sp>
        <p:nvSpPr>
          <p:cNvPr id="203" name="Text 102"/>
          <p:cNvSpPr txBox="1"/>
          <p:nvPr/>
        </p:nvSpPr>
        <p:spPr>
          <a:xfrm>
            <a:off x="5166360" y="4882896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4,263</a:t>
            </a:r>
            <a:endParaRPr lang="en-US" sz="1050" dirty="0"/>
          </a:p>
        </p:txBody>
      </p:sp>
      <p:sp>
        <p:nvSpPr>
          <p:cNvPr id="204" name="Text 103"/>
          <p:cNvSpPr txBox="1"/>
          <p:nvPr/>
        </p:nvSpPr>
        <p:spPr>
          <a:xfrm>
            <a:off x="6080760" y="4882896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</a:t>
            </a:r>
            <a:endParaRPr lang="en-US" sz="1050" dirty="0"/>
          </a:p>
        </p:txBody>
      </p:sp>
      <p:sp>
        <p:nvSpPr>
          <p:cNvPr id="205" name="Text 104"/>
          <p:cNvSpPr txBox="1"/>
          <p:nvPr/>
        </p:nvSpPr>
        <p:spPr>
          <a:xfrm>
            <a:off x="9418320" y="4882896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93.8%</a:t>
            </a:r>
            <a:endParaRPr lang="en-US" sz="1050" dirty="0"/>
          </a:p>
        </p:txBody>
      </p:sp>
      <p:sp>
        <p:nvSpPr>
          <p:cNvPr id="206" name="Text 105"/>
          <p:cNvSpPr txBox="1"/>
          <p:nvPr/>
        </p:nvSpPr>
        <p:spPr>
          <a:xfrm>
            <a:off x="10561320" y="4882896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</a:t>
            </a:r>
            <a:endParaRPr lang="en-US" sz="1050" dirty="0"/>
          </a:p>
        </p:txBody>
      </p:sp>
      <p:sp>
        <p:nvSpPr>
          <p:cNvPr id="207" name="cut 2200331089A"/>
          <p:cNvSpPr/>
          <p:nvPr/>
        </p:nvSpPr>
        <p:spPr>
          <a:xfrm>
            <a:off x="7269480" y="4937760"/>
            <a:ext cx="281483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208" name="po 2200331089A"/>
          <p:cNvSpPr/>
          <p:nvPr/>
        </p:nvSpPr>
        <p:spPr>
          <a:xfrm>
            <a:off x="7269480" y="4937760"/>
            <a:ext cx="264118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209" name="Shape 108"/>
          <p:cNvSpPr/>
          <p:nvPr/>
        </p:nvSpPr>
        <p:spPr>
          <a:xfrm>
            <a:off x="548640" y="5148072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10" name="Text 109"/>
          <p:cNvSpPr txBox="1"/>
          <p:nvPr/>
        </p:nvSpPr>
        <p:spPr>
          <a:xfrm>
            <a:off x="548640" y="5148072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4150311269P</a:t>
            </a:r>
            <a:endParaRPr lang="en-US" sz="1050" dirty="0"/>
          </a:p>
        </p:txBody>
      </p:sp>
      <p:sp>
        <p:nvSpPr>
          <p:cNvPr id="211" name="Text 110"/>
          <p:cNvSpPr txBox="1"/>
          <p:nvPr/>
        </p:nvSpPr>
        <p:spPr>
          <a:xfrm>
            <a:off x="2057400" y="5148072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50" dirty="0"/>
          </a:p>
        </p:txBody>
      </p:sp>
      <p:sp>
        <p:nvSpPr>
          <p:cNvPr id="212" name="Text 111"/>
          <p:cNvSpPr txBox="1"/>
          <p:nvPr/>
        </p:nvSpPr>
        <p:spPr>
          <a:xfrm>
            <a:off x="4251960" y="514807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050" dirty="0"/>
          </a:p>
        </p:txBody>
      </p:sp>
      <p:sp>
        <p:nvSpPr>
          <p:cNvPr id="213" name="Text 112"/>
          <p:cNvSpPr txBox="1"/>
          <p:nvPr/>
        </p:nvSpPr>
        <p:spPr>
          <a:xfrm>
            <a:off x="5166360" y="5148072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2,131</a:t>
            </a:r>
            <a:endParaRPr lang="en-US" sz="1050" dirty="0"/>
          </a:p>
        </p:txBody>
      </p:sp>
      <p:sp>
        <p:nvSpPr>
          <p:cNvPr id="214" name="Text 113"/>
          <p:cNvSpPr txBox="1"/>
          <p:nvPr/>
        </p:nvSpPr>
        <p:spPr>
          <a:xfrm>
            <a:off x="6080760" y="514807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</a:t>
            </a:r>
            <a:endParaRPr lang="en-US" sz="1050" dirty="0"/>
          </a:p>
        </p:txBody>
      </p:sp>
      <p:sp>
        <p:nvSpPr>
          <p:cNvPr id="215" name="Text 114"/>
          <p:cNvSpPr txBox="1"/>
          <p:nvPr/>
        </p:nvSpPr>
        <p:spPr>
          <a:xfrm>
            <a:off x="9418320" y="5148072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93.9%</a:t>
            </a:r>
            <a:endParaRPr lang="en-US" sz="1050" dirty="0"/>
          </a:p>
        </p:txBody>
      </p:sp>
      <p:sp>
        <p:nvSpPr>
          <p:cNvPr id="216" name="Text 115"/>
          <p:cNvSpPr txBox="1"/>
          <p:nvPr/>
        </p:nvSpPr>
        <p:spPr>
          <a:xfrm>
            <a:off x="10561320" y="5148072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050" dirty="0"/>
          </a:p>
        </p:txBody>
      </p:sp>
      <p:sp>
        <p:nvSpPr>
          <p:cNvPr id="217" name="cut 4150311269P"/>
          <p:cNvSpPr/>
          <p:nvPr/>
        </p:nvSpPr>
        <p:spPr>
          <a:xfrm>
            <a:off x="7269480" y="5202936"/>
            <a:ext cx="140709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218" name="po 4150311269P"/>
          <p:cNvSpPr/>
          <p:nvPr/>
        </p:nvSpPr>
        <p:spPr>
          <a:xfrm>
            <a:off x="7269480" y="5202936"/>
            <a:ext cx="132059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219" name="Shape 118"/>
          <p:cNvSpPr/>
          <p:nvPr/>
        </p:nvSpPr>
        <p:spPr>
          <a:xfrm>
            <a:off x="548640" y="5413248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20" name="Text 119"/>
          <p:cNvSpPr txBox="1"/>
          <p:nvPr/>
        </p:nvSpPr>
        <p:spPr>
          <a:xfrm>
            <a:off x="548640" y="5413248"/>
            <a:ext cx="1463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3200331458</a:t>
            </a:r>
            <a:endParaRPr lang="en-US" sz="1050" dirty="0"/>
          </a:p>
        </p:txBody>
      </p:sp>
      <p:sp>
        <p:nvSpPr>
          <p:cNvPr id="221" name="Text 120"/>
          <p:cNvSpPr txBox="1"/>
          <p:nvPr/>
        </p:nvSpPr>
        <p:spPr>
          <a:xfrm>
            <a:off x="2057400" y="5413248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Wash, Indigo Wash</a:t>
            </a:r>
            <a:endParaRPr lang="en-US" sz="1050" dirty="0"/>
          </a:p>
        </p:txBody>
      </p:sp>
      <p:sp>
        <p:nvSpPr>
          <p:cNvPr id="222" name="Text 121"/>
          <p:cNvSpPr txBox="1"/>
          <p:nvPr/>
        </p:nvSpPr>
        <p:spPr>
          <a:xfrm>
            <a:off x="4251960" y="541324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27,945</a:t>
            </a:r>
            <a:endParaRPr lang="en-US" sz="1050" dirty="0"/>
          </a:p>
        </p:txBody>
      </p:sp>
      <p:sp>
        <p:nvSpPr>
          <p:cNvPr id="223" name="Text 122"/>
          <p:cNvSpPr txBox="1"/>
          <p:nvPr/>
        </p:nvSpPr>
        <p:spPr>
          <a:xfrm>
            <a:off x="5166360" y="5413248"/>
            <a:ext cx="868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29,774</a:t>
            </a:r>
            <a:endParaRPr lang="en-US" sz="1050" dirty="0"/>
          </a:p>
        </p:txBody>
      </p:sp>
      <p:sp>
        <p:nvSpPr>
          <p:cNvPr id="224" name="Text 123"/>
          <p:cNvSpPr txBox="1"/>
          <p:nvPr/>
        </p:nvSpPr>
        <p:spPr>
          <a:xfrm>
            <a:off x="6080760" y="5413248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1,829</a:t>
            </a:r>
            <a:endParaRPr lang="en-US" sz="1050" dirty="0"/>
          </a:p>
        </p:txBody>
      </p:sp>
      <p:sp>
        <p:nvSpPr>
          <p:cNvPr id="225" name="Text 124"/>
          <p:cNvSpPr txBox="1"/>
          <p:nvPr/>
        </p:nvSpPr>
        <p:spPr>
          <a:xfrm>
            <a:off x="9418320" y="5413248"/>
            <a:ext cx="1051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93.9%</a:t>
            </a:r>
            <a:endParaRPr lang="en-US" sz="1050" dirty="0"/>
          </a:p>
        </p:txBody>
      </p:sp>
      <p:sp>
        <p:nvSpPr>
          <p:cNvPr id="226" name="Text 125"/>
          <p:cNvSpPr txBox="1"/>
          <p:nvPr/>
        </p:nvSpPr>
        <p:spPr>
          <a:xfrm>
            <a:off x="10561320" y="5413248"/>
            <a:ext cx="10789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26,145</a:t>
            </a:r>
            <a:endParaRPr lang="en-US" sz="1050" dirty="0"/>
          </a:p>
        </p:txBody>
      </p:sp>
      <p:sp>
        <p:nvSpPr>
          <p:cNvPr id="227" name="cut 3200331458"/>
          <p:cNvSpPr/>
          <p:nvPr/>
        </p:nvSpPr>
        <p:spPr>
          <a:xfrm>
            <a:off x="7269480" y="5468112"/>
            <a:ext cx="1965960" cy="155448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228" name="po 3200331458"/>
          <p:cNvSpPr/>
          <p:nvPr/>
        </p:nvSpPr>
        <p:spPr>
          <a:xfrm>
            <a:off x="7269480" y="5468112"/>
            <a:ext cx="1845192" cy="15544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229" name="Shape 128"/>
          <p:cNvSpPr/>
          <p:nvPr/>
        </p:nvSpPr>
        <p:spPr>
          <a:xfrm>
            <a:off x="548640" y="5678424"/>
            <a:ext cx="11091672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230" name="note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231" name="Text 130"/>
          <p:cNvSpPr txBox="1"/>
          <p:nvPr/>
        </p:nvSpPr>
        <p:spPr>
          <a:xfrm>
            <a:off x="731520" y="5788152"/>
            <a:ext cx="10744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built: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Cut-to-ship 94.3% = PO ÷ cut from the TARGET-36 Cut to Ship style report (same formula as the source file; 303,110 PO pcs with cut ÷ 321,289 cut). PO and shipped qty follow the post costing; cut qty = 316,361 ÷ 94.3% (implied).</a:t>
            </a:r>
            <a:endParaRPr lang="en-US" sz="100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08 — MERCHANDISING KPI · TARGET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Merchandising KPI — Target Australia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TARGET UPDATED ORDER STATUS 12-Oct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alerts · Lean TNA · open order book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08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54864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QTY</a:t>
            </a:r>
            <a:endParaRPr lang="en-US" sz="950" dirty="0"/>
          </a:p>
        </p:txBody>
      </p:sp>
      <p:sp>
        <p:nvSpPr>
          <p:cNvPr id="102" name="Text 1"/>
          <p:cNvSpPr txBox="1"/>
          <p:nvPr/>
        </p:nvSpPr>
        <p:spPr>
          <a:xfrm>
            <a:off x="54864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368,506</a:t>
            </a:r>
            <a:endParaRPr lang="en-US" sz="2600" dirty="0"/>
          </a:p>
        </p:txBody>
      </p:sp>
      <p:sp>
        <p:nvSpPr>
          <p:cNvPr id="103" name="Text 2"/>
          <p:cNvSpPr txBox="1"/>
          <p:nvPr/>
        </p:nvSpPr>
        <p:spPr>
          <a:xfrm>
            <a:off x="54864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TARGET-37 + TARGET-38</a:t>
            </a:r>
            <a:endParaRPr lang="en-US" sz="1050" dirty="0"/>
          </a:p>
        </p:txBody>
      </p:sp>
      <p:sp>
        <p:nvSpPr>
          <p:cNvPr id="104" name="Shape 3"/>
          <p:cNvSpPr/>
          <p:nvPr/>
        </p:nvSpPr>
        <p:spPr>
          <a:xfrm>
            <a:off x="267919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5" name="Text 4"/>
          <p:cNvSpPr txBox="1"/>
          <p:nvPr/>
        </p:nvSpPr>
        <p:spPr>
          <a:xfrm>
            <a:off x="27889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</a:t>
            </a:r>
            <a:endParaRPr lang="en-US" sz="950" dirty="0"/>
          </a:p>
        </p:txBody>
      </p:sp>
      <p:sp>
        <p:nvSpPr>
          <p:cNvPr id="106" name="Text 5"/>
          <p:cNvSpPr txBox="1"/>
          <p:nvPr/>
        </p:nvSpPr>
        <p:spPr>
          <a:xfrm>
            <a:off x="278892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21,678</a:t>
            </a:r>
            <a:endParaRPr lang="en-US" sz="2600" dirty="0"/>
          </a:p>
        </p:txBody>
      </p:sp>
      <p:sp>
        <p:nvSpPr>
          <p:cNvPr id="107" name="Text 6"/>
          <p:cNvSpPr txBox="1"/>
          <p:nvPr/>
        </p:nvSpPr>
        <p:spPr>
          <a:xfrm>
            <a:off x="278892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past FFD, not shipped</a:t>
            </a:r>
            <a:endParaRPr lang="en-US" sz="1050" dirty="0"/>
          </a:p>
        </p:txBody>
      </p:sp>
      <p:sp>
        <p:nvSpPr>
          <p:cNvPr id="108" name="Shape 7"/>
          <p:cNvSpPr/>
          <p:nvPr/>
        </p:nvSpPr>
        <p:spPr>
          <a:xfrm>
            <a:off x="491947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9" name="Text 8"/>
          <p:cNvSpPr txBox="1"/>
          <p:nvPr/>
        </p:nvSpPr>
        <p:spPr>
          <a:xfrm>
            <a:off x="502920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≤ 30 DAYS</a:t>
            </a:r>
            <a:endParaRPr lang="en-US" sz="950" dirty="0"/>
          </a:p>
        </p:txBody>
      </p:sp>
      <p:sp>
        <p:nvSpPr>
          <p:cNvPr id="110" name="Text 9"/>
          <p:cNvSpPr txBox="1"/>
          <p:nvPr/>
        </p:nvSpPr>
        <p:spPr>
          <a:xfrm>
            <a:off x="502920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41,936</a:t>
            </a:r>
            <a:endParaRPr lang="en-US" sz="2600" dirty="0"/>
          </a:p>
        </p:txBody>
      </p:sp>
      <p:sp>
        <p:nvSpPr>
          <p:cNvPr id="111" name="Text 10"/>
          <p:cNvSpPr txBox="1"/>
          <p:nvPr/>
        </p:nvSpPr>
        <p:spPr>
          <a:xfrm>
            <a:off x="502920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to ship next 30 days</a:t>
            </a:r>
            <a:endParaRPr lang="en-US" sz="1050" dirty="0"/>
          </a:p>
        </p:txBody>
      </p:sp>
      <p:sp>
        <p:nvSpPr>
          <p:cNvPr id="112" name="Shape 11"/>
          <p:cNvSpPr/>
          <p:nvPr/>
        </p:nvSpPr>
        <p:spPr>
          <a:xfrm>
            <a:off x="715975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3" name="Text 12"/>
          <p:cNvSpPr txBox="1"/>
          <p:nvPr/>
        </p:nvSpPr>
        <p:spPr>
          <a:xfrm>
            <a:off x="726948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FFD TBA</a:t>
            </a:r>
            <a:endParaRPr lang="en-US" sz="950" dirty="0"/>
          </a:p>
        </p:txBody>
      </p:sp>
      <p:sp>
        <p:nvSpPr>
          <p:cNvPr id="114" name="Text 13"/>
          <p:cNvSpPr txBox="1"/>
          <p:nvPr/>
        </p:nvSpPr>
        <p:spPr>
          <a:xfrm>
            <a:off x="726948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25,923</a:t>
            </a:r>
            <a:endParaRPr lang="en-US" sz="2600" dirty="0"/>
          </a:p>
        </p:txBody>
      </p:sp>
      <p:sp>
        <p:nvSpPr>
          <p:cNvPr id="115" name="Text 14"/>
          <p:cNvSpPr txBox="1"/>
          <p:nvPr/>
        </p:nvSpPr>
        <p:spPr>
          <a:xfrm>
            <a:off x="726948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without FFD (TARGET-38)</a:t>
            </a:r>
            <a:endParaRPr lang="en-US" sz="1050" dirty="0"/>
          </a:p>
        </p:txBody>
      </p:sp>
      <p:sp>
        <p:nvSpPr>
          <p:cNvPr id="116" name="Shape 15"/>
          <p:cNvSpPr/>
          <p:nvPr/>
        </p:nvSpPr>
        <p:spPr>
          <a:xfrm>
            <a:off x="940003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7" name="Text 16"/>
          <p:cNvSpPr txBox="1"/>
          <p:nvPr/>
        </p:nvSpPr>
        <p:spPr>
          <a:xfrm>
            <a:off x="950976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ALERTS</a:t>
            </a:r>
            <a:endParaRPr lang="en-US" sz="950" dirty="0"/>
          </a:p>
        </p:txBody>
      </p:sp>
      <p:sp>
        <p:nvSpPr>
          <p:cNvPr id="118" name="Text 17"/>
          <p:cNvSpPr txBox="1"/>
          <p:nvPr/>
        </p:nvSpPr>
        <p:spPr>
          <a:xfrm>
            <a:off x="950976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600" dirty="0"/>
          </a:p>
        </p:txBody>
      </p:sp>
      <p:sp>
        <p:nvSpPr>
          <p:cNvPr id="119" name="Text 18"/>
          <p:cNvSpPr txBox="1"/>
          <p:nvPr/>
        </p:nvSpPr>
        <p:spPr>
          <a:xfrm>
            <a:off x="950976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warnings</a:t>
            </a:r>
            <a:endParaRPr lang="en-US" sz="105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7168"/>
          <a:ext cx="72694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658368"/>
                <a:gridCol w="685800"/>
                <a:gridCol w="658368"/>
                <a:gridCol w="822960"/>
                <a:gridCol w="548640"/>
                <a:gridCol w="603504"/>
                <a:gridCol w="502920"/>
                <a:gridCol w="45720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MERCHANT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QTY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OVERDUE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≤30D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FFD TBA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/ WARN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TNA LATE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ON-TIME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Rajee &amp; Pelu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Toufiq Mustafiz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92,758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45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4,306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/ 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Sharf &amp; Sanaul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Redwan Ahmed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/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Sharf &amp; Sanaul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Fahima Sorna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130,924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45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11,028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21,423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Uzzal &amp; Sanaul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Asifa Zaman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45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5,705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/ 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Uzzal &amp; Sanaul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Anmol Abonee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56,856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45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7,975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19,397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/ 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Rajee &amp; Pelu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Target: Nitu Saha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D945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/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1" name="Text 19"/>
          <p:cNvSpPr txBox="1"/>
          <p:nvPr/>
        </p:nvSpPr>
        <p:spPr>
          <a:xfrm>
            <a:off x="8183880" y="239572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TARGET-37 OPEN BY FFD</a:t>
            </a:r>
            <a:endParaRPr lang="en-US" sz="900" dirty="0"/>
          </a:p>
        </p:txBody>
      </p:sp>
      <p:sp>
        <p:nvSpPr>
          <p:cNvPr id="122" name="Shape 20"/>
          <p:cNvSpPr/>
          <p:nvPr/>
        </p:nvSpPr>
        <p:spPr>
          <a:xfrm>
            <a:off x="8183880" y="2651760"/>
            <a:ext cx="345643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23" name="Text 21"/>
          <p:cNvSpPr txBox="1"/>
          <p:nvPr/>
        </p:nvSpPr>
        <p:spPr>
          <a:xfrm>
            <a:off x="8183880" y="270662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26</a:t>
            </a:r>
            <a:endParaRPr lang="en-US" sz="1000" dirty="0"/>
          </a:p>
        </p:txBody>
      </p:sp>
      <p:sp>
        <p:nvSpPr>
          <p:cNvPr id="124" name="m Oct 26"/>
          <p:cNvSpPr/>
          <p:nvPr/>
        </p:nvSpPr>
        <p:spPr>
          <a:xfrm>
            <a:off x="8915400" y="2752344"/>
            <a:ext cx="1764792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5" name="Text 23"/>
          <p:cNvSpPr txBox="1"/>
          <p:nvPr/>
        </p:nvSpPr>
        <p:spPr>
          <a:xfrm>
            <a:off x="10725912" y="27066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55,399</a:t>
            </a:r>
            <a:endParaRPr lang="en-US" sz="1000" dirty="0"/>
          </a:p>
        </p:txBody>
      </p:sp>
      <p:sp>
        <p:nvSpPr>
          <p:cNvPr id="126" name="Text 24"/>
          <p:cNvSpPr txBox="1"/>
          <p:nvPr/>
        </p:nvSpPr>
        <p:spPr>
          <a:xfrm>
            <a:off x="8183880" y="292608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26</a:t>
            </a:r>
            <a:endParaRPr lang="en-US" sz="1000" dirty="0"/>
          </a:p>
        </p:txBody>
      </p:sp>
      <p:sp>
        <p:nvSpPr>
          <p:cNvPr id="127" name="m Nov 26"/>
          <p:cNvSpPr/>
          <p:nvPr/>
        </p:nvSpPr>
        <p:spPr>
          <a:xfrm>
            <a:off x="8915400" y="2971800"/>
            <a:ext cx="169824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8" name="Text 26"/>
          <p:cNvSpPr txBox="1"/>
          <p:nvPr/>
        </p:nvSpPr>
        <p:spPr>
          <a:xfrm>
            <a:off x="10725912" y="29260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5,331</a:t>
            </a:r>
            <a:endParaRPr lang="en-US" sz="1000" dirty="0"/>
          </a:p>
        </p:txBody>
      </p:sp>
      <p:sp>
        <p:nvSpPr>
          <p:cNvPr id="129" name="Text 27"/>
          <p:cNvSpPr txBox="1"/>
          <p:nvPr/>
        </p:nvSpPr>
        <p:spPr>
          <a:xfrm>
            <a:off x="8183880" y="31455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26</a:t>
            </a:r>
            <a:endParaRPr lang="en-US" sz="1000" dirty="0"/>
          </a:p>
        </p:txBody>
      </p:sp>
      <p:sp>
        <p:nvSpPr>
          <p:cNvPr id="130" name="m Dec 26"/>
          <p:cNvSpPr/>
          <p:nvPr/>
        </p:nvSpPr>
        <p:spPr>
          <a:xfrm>
            <a:off x="8915400" y="3191256"/>
            <a:ext cx="101971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1" name="Text 29"/>
          <p:cNvSpPr txBox="1"/>
          <p:nvPr/>
        </p:nvSpPr>
        <p:spPr>
          <a:xfrm>
            <a:off x="10725912" y="31455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3,201</a:t>
            </a:r>
            <a:endParaRPr lang="en-US" sz="1000" dirty="0"/>
          </a:p>
        </p:txBody>
      </p:sp>
      <p:sp>
        <p:nvSpPr>
          <p:cNvPr id="132" name="Text 30"/>
          <p:cNvSpPr txBox="1"/>
          <p:nvPr/>
        </p:nvSpPr>
        <p:spPr>
          <a:xfrm>
            <a:off x="8183880" y="3364992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TARGET-38 OPEN BY FFD</a:t>
            </a:r>
            <a:endParaRPr lang="en-US" sz="900" dirty="0"/>
          </a:p>
        </p:txBody>
      </p:sp>
      <p:sp>
        <p:nvSpPr>
          <p:cNvPr id="133" name="Shape 31"/>
          <p:cNvSpPr/>
          <p:nvPr/>
        </p:nvSpPr>
        <p:spPr>
          <a:xfrm>
            <a:off x="8183880" y="3621024"/>
            <a:ext cx="345643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34" name="Text 32"/>
          <p:cNvSpPr txBox="1"/>
          <p:nvPr/>
        </p:nvSpPr>
        <p:spPr>
          <a:xfrm>
            <a:off x="8183880" y="36758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26</a:t>
            </a:r>
            <a:endParaRPr lang="en-US" sz="1000" dirty="0"/>
          </a:p>
        </p:txBody>
      </p:sp>
      <p:sp>
        <p:nvSpPr>
          <p:cNvPr id="135" name="m Jan 26"/>
          <p:cNvSpPr/>
          <p:nvPr/>
        </p:nvSpPr>
        <p:spPr>
          <a:xfrm>
            <a:off x="8915400" y="3721608"/>
            <a:ext cx="44127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36" name="Text 34"/>
          <p:cNvSpPr txBox="1"/>
          <p:nvPr/>
        </p:nvSpPr>
        <p:spPr>
          <a:xfrm>
            <a:off x="10725912" y="3675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</a:t>
            </a:r>
            <a:endParaRPr lang="en-US" sz="1000" dirty="0"/>
          </a:p>
        </p:txBody>
      </p:sp>
      <p:sp>
        <p:nvSpPr>
          <p:cNvPr id="137" name="Text 35"/>
          <p:cNvSpPr txBox="1"/>
          <p:nvPr/>
        </p:nvSpPr>
        <p:spPr>
          <a:xfrm>
            <a:off x="8183880" y="389077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26</a:t>
            </a:r>
            <a:endParaRPr lang="en-US" sz="1000" dirty="0"/>
          </a:p>
        </p:txBody>
      </p:sp>
      <p:sp>
        <p:nvSpPr>
          <p:cNvPr id="138" name="m Nov 26"/>
          <p:cNvSpPr/>
          <p:nvPr/>
        </p:nvSpPr>
        <p:spPr>
          <a:xfrm>
            <a:off x="8915400" y="3936492"/>
            <a:ext cx="728514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39" name="Text 37"/>
          <p:cNvSpPr txBox="1"/>
          <p:nvPr/>
        </p:nvSpPr>
        <p:spPr>
          <a:xfrm>
            <a:off x="10725912" y="3890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33,019</a:t>
            </a:r>
            <a:endParaRPr lang="en-US" sz="1000" dirty="0"/>
          </a:p>
        </p:txBody>
      </p:sp>
      <p:sp>
        <p:nvSpPr>
          <p:cNvPr id="140" name="Text 38"/>
          <p:cNvSpPr txBox="1"/>
          <p:nvPr/>
        </p:nvSpPr>
        <p:spPr>
          <a:xfrm>
            <a:off x="8183880" y="410565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26</a:t>
            </a:r>
            <a:endParaRPr lang="en-US" sz="1000" dirty="0"/>
          </a:p>
        </p:txBody>
      </p:sp>
      <p:sp>
        <p:nvSpPr>
          <p:cNvPr id="141" name="m Dec 26"/>
          <p:cNvSpPr/>
          <p:nvPr/>
        </p:nvSpPr>
        <p:spPr>
          <a:xfrm>
            <a:off x="8915400" y="4151376"/>
            <a:ext cx="1764792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42" name="Text 40"/>
          <p:cNvSpPr txBox="1"/>
          <p:nvPr/>
        </p:nvSpPr>
        <p:spPr>
          <a:xfrm>
            <a:off x="10725912" y="41056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79,987</a:t>
            </a:r>
            <a:endParaRPr lang="en-US" sz="1000" dirty="0"/>
          </a:p>
        </p:txBody>
      </p:sp>
      <p:sp>
        <p:nvSpPr>
          <p:cNvPr id="143" name="Text 41"/>
          <p:cNvSpPr txBox="1"/>
          <p:nvPr/>
        </p:nvSpPr>
        <p:spPr>
          <a:xfrm>
            <a:off x="8183880" y="43205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27</a:t>
            </a:r>
            <a:endParaRPr lang="en-US" sz="1000" dirty="0"/>
          </a:p>
        </p:txBody>
      </p:sp>
      <p:sp>
        <p:nvSpPr>
          <p:cNvPr id="144" name="m Jan 27"/>
          <p:cNvSpPr/>
          <p:nvPr/>
        </p:nvSpPr>
        <p:spPr>
          <a:xfrm>
            <a:off x="8915400" y="4366260"/>
            <a:ext cx="1381196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45" name="Text 43"/>
          <p:cNvSpPr txBox="1"/>
          <p:nvPr/>
        </p:nvSpPr>
        <p:spPr>
          <a:xfrm>
            <a:off x="10725912" y="43205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62,601</a:t>
            </a:r>
            <a:endParaRPr lang="en-US" sz="1000" dirty="0"/>
          </a:p>
        </p:txBody>
      </p:sp>
      <p:sp>
        <p:nvSpPr>
          <p:cNvPr id="146" name="Text 44"/>
          <p:cNvSpPr txBox="1"/>
          <p:nvPr/>
        </p:nvSpPr>
        <p:spPr>
          <a:xfrm>
            <a:off x="8183880" y="453542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27</a:t>
            </a:r>
            <a:endParaRPr lang="en-US" sz="1000" dirty="0"/>
          </a:p>
        </p:txBody>
      </p:sp>
      <p:sp>
        <p:nvSpPr>
          <p:cNvPr id="147" name="m Feb 27"/>
          <p:cNvSpPr/>
          <p:nvPr/>
        </p:nvSpPr>
        <p:spPr>
          <a:xfrm>
            <a:off x="8915400" y="4581144"/>
            <a:ext cx="1104653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48" name="Text 46"/>
          <p:cNvSpPr txBox="1"/>
          <p:nvPr/>
        </p:nvSpPr>
        <p:spPr>
          <a:xfrm>
            <a:off x="10725912" y="45354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50,067</a:t>
            </a:r>
            <a:endParaRPr lang="en-US" sz="1000" dirty="0"/>
          </a:p>
        </p:txBody>
      </p:sp>
      <p:sp>
        <p:nvSpPr>
          <p:cNvPr id="149" name="Text 47"/>
          <p:cNvSpPr txBox="1"/>
          <p:nvPr/>
        </p:nvSpPr>
        <p:spPr>
          <a:xfrm>
            <a:off x="8183880" y="475030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27</a:t>
            </a:r>
            <a:endParaRPr lang="en-US" sz="1000" dirty="0"/>
          </a:p>
        </p:txBody>
      </p:sp>
      <p:sp>
        <p:nvSpPr>
          <p:cNvPr id="150" name="m Mar 27"/>
          <p:cNvSpPr/>
          <p:nvPr/>
        </p:nvSpPr>
        <p:spPr>
          <a:xfrm>
            <a:off x="8915400" y="4796028"/>
            <a:ext cx="687233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51" name="Text 49"/>
          <p:cNvSpPr txBox="1"/>
          <p:nvPr/>
        </p:nvSpPr>
        <p:spPr>
          <a:xfrm>
            <a:off x="10725912" y="47503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31,148</a:t>
            </a:r>
            <a:endParaRPr lang="en-US" sz="1000" dirty="0"/>
          </a:p>
        </p:txBody>
      </p:sp>
      <p:sp>
        <p:nvSpPr>
          <p:cNvPr id="152" name="Text 50"/>
          <p:cNvSpPr txBox="1"/>
          <p:nvPr/>
        </p:nvSpPr>
        <p:spPr>
          <a:xfrm>
            <a:off x="8183880" y="49651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27</a:t>
            </a:r>
            <a:endParaRPr lang="en-US" sz="1000" dirty="0"/>
          </a:p>
        </p:txBody>
      </p:sp>
      <p:sp>
        <p:nvSpPr>
          <p:cNvPr id="153" name="m Apr 27"/>
          <p:cNvSpPr/>
          <p:nvPr/>
        </p:nvSpPr>
        <p:spPr>
          <a:xfrm>
            <a:off x="8915400" y="5010912"/>
            <a:ext cx="340329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54" name="Text 52"/>
          <p:cNvSpPr txBox="1"/>
          <p:nvPr/>
        </p:nvSpPr>
        <p:spPr>
          <a:xfrm>
            <a:off x="10725912" y="49651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15,425</a:t>
            </a:r>
            <a:endParaRPr lang="en-US" sz="1000" dirty="0"/>
          </a:p>
        </p:txBody>
      </p:sp>
      <p:sp>
        <p:nvSpPr>
          <p:cNvPr id="155" name="Text 53"/>
          <p:cNvSpPr txBox="1"/>
          <p:nvPr/>
        </p:nvSpPr>
        <p:spPr>
          <a:xfrm>
            <a:off x="8183880" y="51800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27</a:t>
            </a:r>
            <a:endParaRPr lang="en-US" sz="1000" dirty="0"/>
          </a:p>
        </p:txBody>
      </p:sp>
      <p:sp>
        <p:nvSpPr>
          <p:cNvPr id="156" name="m May 27"/>
          <p:cNvSpPr/>
          <p:nvPr/>
        </p:nvSpPr>
        <p:spPr>
          <a:xfrm>
            <a:off x="8915400" y="5225796"/>
            <a:ext cx="97168" cy="13716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57" name="Text 55"/>
          <p:cNvSpPr txBox="1"/>
          <p:nvPr/>
        </p:nvSpPr>
        <p:spPr>
          <a:xfrm>
            <a:off x="10725912" y="51800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4,404</a:t>
            </a:r>
            <a:endParaRPr lang="en-US" sz="1000" dirty="0"/>
          </a:p>
        </p:txBody>
      </p:sp>
      <p:sp>
        <p:nvSpPr>
          <p:cNvPr id="158" name="Text 56"/>
          <p:cNvSpPr txBox="1"/>
          <p:nvPr/>
        </p:nvSpPr>
        <p:spPr>
          <a:xfrm>
            <a:off x="8183880" y="539496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TBA</a:t>
            </a:r>
            <a:endParaRPr lang="en-US" sz="1000" dirty="0"/>
          </a:p>
        </p:txBody>
      </p:sp>
      <p:sp>
        <p:nvSpPr>
          <p:cNvPr id="159" name="m TBA"/>
          <p:cNvSpPr/>
          <p:nvPr/>
        </p:nvSpPr>
        <p:spPr>
          <a:xfrm>
            <a:off x="8915400" y="5440680"/>
            <a:ext cx="571952" cy="137160"/>
          </a:xfrm>
          <a:prstGeom prst="rect">
            <a:avLst/>
          </a:prstGeom>
          <a:solidFill>
            <a:srgbClr val="E3E1DC"/>
          </a:solidFill>
          <a:ln w="12700">
            <a:solidFill>
              <a:srgbClr val="E3E1DC"/>
            </a:solidFill>
            <a:prstDash val="solid"/>
          </a:ln>
        </p:spPr>
      </p:sp>
      <p:sp>
        <p:nvSpPr>
          <p:cNvPr id="160" name="Text 58"/>
          <p:cNvSpPr txBox="1"/>
          <p:nvPr/>
        </p:nvSpPr>
        <p:spPr>
          <a:xfrm>
            <a:off x="10725912" y="53949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25,923</a:t>
            </a:r>
            <a:endParaRPr lang="en-US" sz="1000" dirty="0"/>
          </a:p>
        </p:txBody>
      </p:sp>
      <p:sp>
        <p:nvSpPr>
          <p:cNvPr id="161" name="note"/>
          <p:cNvSpPr/>
          <p:nvPr/>
        </p:nvSpPr>
        <p:spPr>
          <a:xfrm>
            <a:off x="548640" y="5852160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62" name="Text 60"/>
          <p:cNvSpPr txBox="1"/>
          <p:nvPr/>
        </p:nvSpPr>
        <p:spPr>
          <a:xfrm>
            <a:off x="731520" y="5879592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= lines not marked "Shipped" in TARGET UPDATED ORDER STATUS 12-Oct (T-37 54 lines, T-38 all 225 lines); TARGET-36 fully shipped (post costing). Uzzal (Target: Rezona Akter, TARGET-28–32) has no open order and is not scored. T-38 2,000 pcs show FFD Jan-26 (2900346271B) — likely a year typo.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08 — MERCHANDISING KPI · KMART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Merchandising KPI — Kmart Australia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KMART Order Status 06-Oct · KMART-002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merchant in charge: Pelu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08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54864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QTY</a:t>
            </a:r>
            <a:endParaRPr lang="en-US" sz="950" dirty="0"/>
          </a:p>
        </p:txBody>
      </p:sp>
      <p:sp>
        <p:nvSpPr>
          <p:cNvPr id="102" name="Text 1"/>
          <p:cNvSpPr txBox="1"/>
          <p:nvPr/>
        </p:nvSpPr>
        <p:spPr>
          <a:xfrm>
            <a:off x="54864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647,961</a:t>
            </a:r>
            <a:endParaRPr lang="en-US" sz="2600" dirty="0"/>
          </a:p>
        </p:txBody>
      </p:sp>
      <p:sp>
        <p:nvSpPr>
          <p:cNvPr id="103" name="Text 2"/>
          <p:cNvSpPr txBox="1"/>
          <p:nvPr/>
        </p:nvSpPr>
        <p:spPr>
          <a:xfrm>
            <a:off x="54864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KMART-002 · FY27 Summer</a:t>
            </a:r>
            <a:endParaRPr lang="en-US" sz="1050" dirty="0"/>
          </a:p>
        </p:txBody>
      </p:sp>
      <p:sp>
        <p:nvSpPr>
          <p:cNvPr id="104" name="Shape 3"/>
          <p:cNvSpPr/>
          <p:nvPr/>
        </p:nvSpPr>
        <p:spPr>
          <a:xfrm>
            <a:off x="267919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5" name="Text 4"/>
          <p:cNvSpPr txBox="1"/>
          <p:nvPr/>
        </p:nvSpPr>
        <p:spPr>
          <a:xfrm>
            <a:off x="278892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</a:t>
            </a:r>
            <a:endParaRPr lang="en-US" sz="950" dirty="0"/>
          </a:p>
        </p:txBody>
      </p:sp>
      <p:sp>
        <p:nvSpPr>
          <p:cNvPr id="106" name="Text 5"/>
          <p:cNvSpPr txBox="1"/>
          <p:nvPr/>
        </p:nvSpPr>
        <p:spPr>
          <a:xfrm>
            <a:off x="278892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466,214</a:t>
            </a:r>
            <a:endParaRPr lang="en-US" sz="2600" dirty="0"/>
          </a:p>
        </p:txBody>
      </p:sp>
      <p:sp>
        <p:nvSpPr>
          <p:cNvPr id="107" name="Text 6"/>
          <p:cNvSpPr txBox="1"/>
          <p:nvPr/>
        </p:nvSpPr>
        <p:spPr>
          <a:xfrm>
            <a:off x="278892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71.9% of order · assumed</a:t>
            </a:r>
            <a:endParaRPr lang="en-US" sz="1050" dirty="0"/>
          </a:p>
        </p:txBody>
      </p:sp>
      <p:sp>
        <p:nvSpPr>
          <p:cNvPr id="108" name="Shape 7"/>
          <p:cNvSpPr/>
          <p:nvPr/>
        </p:nvSpPr>
        <p:spPr>
          <a:xfrm>
            <a:off x="491947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09" name="Text 8"/>
          <p:cNvSpPr txBox="1"/>
          <p:nvPr/>
        </p:nvSpPr>
        <p:spPr>
          <a:xfrm>
            <a:off x="502920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50" dirty="0"/>
          </a:p>
        </p:txBody>
      </p:sp>
      <p:sp>
        <p:nvSpPr>
          <p:cNvPr id="110" name="Text 9"/>
          <p:cNvSpPr txBox="1"/>
          <p:nvPr/>
        </p:nvSpPr>
        <p:spPr>
          <a:xfrm>
            <a:off x="502920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181,747</a:t>
            </a:r>
            <a:endParaRPr lang="en-US" sz="2600" dirty="0"/>
          </a:p>
        </p:txBody>
      </p:sp>
      <p:sp>
        <p:nvSpPr>
          <p:cNvPr id="111" name="Text 10"/>
          <p:cNvSpPr txBox="1"/>
          <p:nvPr/>
        </p:nvSpPr>
        <p:spPr>
          <a:xfrm>
            <a:off x="502920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26 – Mar 27</a:t>
            </a:r>
            <a:endParaRPr lang="en-US" sz="1050" dirty="0"/>
          </a:p>
        </p:txBody>
      </p:sp>
      <p:sp>
        <p:nvSpPr>
          <p:cNvPr id="112" name="Shape 11"/>
          <p:cNvSpPr/>
          <p:nvPr/>
        </p:nvSpPr>
        <p:spPr>
          <a:xfrm>
            <a:off x="715975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3" name="Text 12"/>
          <p:cNvSpPr txBox="1"/>
          <p:nvPr/>
        </p:nvSpPr>
        <p:spPr>
          <a:xfrm>
            <a:off x="726948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≤ 30 DAYS</a:t>
            </a:r>
            <a:endParaRPr lang="en-US" sz="950" dirty="0"/>
          </a:p>
        </p:txBody>
      </p:sp>
      <p:sp>
        <p:nvSpPr>
          <p:cNvPr id="114" name="Text 13"/>
          <p:cNvSpPr txBox="1"/>
          <p:nvPr/>
        </p:nvSpPr>
        <p:spPr>
          <a:xfrm>
            <a:off x="726948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146,874</a:t>
            </a:r>
            <a:endParaRPr lang="en-US" sz="2600" dirty="0"/>
          </a:p>
        </p:txBody>
      </p:sp>
      <p:sp>
        <p:nvSpPr>
          <p:cNvPr id="115" name="Text 14"/>
          <p:cNvSpPr txBox="1"/>
          <p:nvPr/>
        </p:nvSpPr>
        <p:spPr>
          <a:xfrm>
            <a:off x="726948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pcs to ship next 30 days</a:t>
            </a:r>
            <a:endParaRPr lang="en-US" sz="1050" dirty="0"/>
          </a:p>
        </p:txBody>
      </p:sp>
      <p:sp>
        <p:nvSpPr>
          <p:cNvPr id="116" name="Shape 15"/>
          <p:cNvSpPr/>
          <p:nvPr/>
        </p:nvSpPr>
        <p:spPr>
          <a:xfrm>
            <a:off x="9400032" y="1417320"/>
            <a:ext cx="0" cy="86868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117" name="Text 16"/>
          <p:cNvSpPr txBox="1"/>
          <p:nvPr/>
        </p:nvSpPr>
        <p:spPr>
          <a:xfrm>
            <a:off x="9509760" y="1389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50" dirty="0"/>
          </a:p>
        </p:txBody>
      </p:sp>
      <p:sp>
        <p:nvSpPr>
          <p:cNvPr id="118" name="Text 17"/>
          <p:cNvSpPr txBox="1"/>
          <p:nvPr/>
        </p:nvSpPr>
        <p:spPr>
          <a:xfrm>
            <a:off x="9509760" y="1609344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</a:t>
            </a:r>
            <a:endParaRPr lang="en-US" sz="2600" dirty="0"/>
          </a:p>
        </p:txBody>
      </p:sp>
      <p:sp>
        <p:nvSpPr>
          <p:cNvPr id="119" name="Text 18"/>
          <p:cNvSpPr txBox="1"/>
          <p:nvPr/>
        </p:nvSpPr>
        <p:spPr>
          <a:xfrm>
            <a:off x="9509760" y="205740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 · merchant: Pelu</a:t>
            </a:r>
            <a:endParaRPr lang="en-US" sz="1050" dirty="0"/>
          </a:p>
        </p:txBody>
      </p:sp>
      <p:graphicFrame>
        <p:nvGraphicFramePr>
          <p:cNvPr id="1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269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51560"/>
                <a:gridCol w="548640"/>
                <a:gridCol w="868680"/>
                <a:gridCol w="868680"/>
                <a:gridCol w="73152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QTY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KMART-002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Summer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26 – Mar 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647,961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466,214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181,747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Shipment pending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1" name="Text 19"/>
          <p:cNvSpPr txBox="1"/>
          <p:nvPr/>
        </p:nvSpPr>
        <p:spPr>
          <a:xfrm>
            <a:off x="548640" y="397764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in charge: </a:t>
            </a:r>
            <a:pPr indent="0" marL="0">
              <a:buNone/>
            </a:pPr>
            <a:r>
              <a:rPr lang="en-US" sz="11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Pelu</a:t>
            </a:r>
            <a:endParaRPr lang="en-US" sz="1100" dirty="0"/>
          </a:p>
        </p:txBody>
      </p:sp>
      <p:sp>
        <p:nvSpPr>
          <p:cNvPr id="122" name="Text 20"/>
          <p:cNvSpPr txBox="1"/>
          <p:nvPr/>
        </p:nvSpPr>
        <p:spPr>
          <a:xfrm>
            <a:off x="548640" y="42976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100 · grade A: </a:t>
            </a:r>
            <a:pPr indent="0" marL="0">
              <a:buNone/>
            </a:pPr>
            <a:r>
              <a:rPr lang="en-US" sz="11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overdue, no critical alerts, no TBA delivery dates. 146,874 pcs (81% of open) are due in the next 30 days.</a:t>
            </a:r>
            <a:endParaRPr lang="en-US" sz="1100" dirty="0"/>
          </a:p>
        </p:txBody>
      </p:sp>
      <p:sp>
        <p:nvSpPr>
          <p:cNvPr id="123" name="Text 21"/>
          <p:cNvSpPr txBox="1"/>
          <p:nvPr/>
        </p:nvSpPr>
        <p:spPr>
          <a:xfrm>
            <a:off x="8183880" y="248716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KMART-002 OPEN BY DELIVERY MONTH</a:t>
            </a:r>
            <a:endParaRPr lang="en-US" sz="900" dirty="0"/>
          </a:p>
        </p:txBody>
      </p:sp>
      <p:sp>
        <p:nvSpPr>
          <p:cNvPr id="124" name="Shape 22"/>
          <p:cNvSpPr/>
          <p:nvPr/>
        </p:nvSpPr>
        <p:spPr>
          <a:xfrm>
            <a:off x="8183880" y="2743200"/>
            <a:ext cx="345643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25" name="Text 23"/>
          <p:cNvSpPr txBox="1"/>
          <p:nvPr/>
        </p:nvSpPr>
        <p:spPr>
          <a:xfrm>
            <a:off x="8183880" y="279806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26</a:t>
            </a:r>
            <a:endParaRPr lang="en-US" sz="1000" dirty="0"/>
          </a:p>
        </p:txBody>
      </p:sp>
      <p:sp>
        <p:nvSpPr>
          <p:cNvPr id="126" name="m Oct 26"/>
          <p:cNvSpPr/>
          <p:nvPr/>
        </p:nvSpPr>
        <p:spPr>
          <a:xfrm>
            <a:off x="8915400" y="2843784"/>
            <a:ext cx="1764792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7" name="Text 25"/>
          <p:cNvSpPr txBox="1"/>
          <p:nvPr/>
        </p:nvSpPr>
        <p:spPr>
          <a:xfrm>
            <a:off x="10725912" y="2798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107,640</a:t>
            </a:r>
            <a:endParaRPr lang="en-US" sz="1000" dirty="0"/>
          </a:p>
        </p:txBody>
      </p:sp>
      <p:sp>
        <p:nvSpPr>
          <p:cNvPr id="128" name="Text 26"/>
          <p:cNvSpPr txBox="1"/>
          <p:nvPr/>
        </p:nvSpPr>
        <p:spPr>
          <a:xfrm>
            <a:off x="8183880" y="307238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26</a:t>
            </a:r>
            <a:endParaRPr lang="en-US" sz="1000" dirty="0"/>
          </a:p>
        </p:txBody>
      </p:sp>
      <p:sp>
        <p:nvSpPr>
          <p:cNvPr id="129" name="m Nov 26"/>
          <p:cNvSpPr/>
          <p:nvPr/>
        </p:nvSpPr>
        <p:spPr>
          <a:xfrm>
            <a:off x="8915400" y="3118104"/>
            <a:ext cx="830357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0" name="Text 28"/>
          <p:cNvSpPr txBox="1"/>
          <p:nvPr/>
        </p:nvSpPr>
        <p:spPr>
          <a:xfrm>
            <a:off x="10725912" y="3072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50,646</a:t>
            </a:r>
            <a:endParaRPr lang="en-US" sz="1000" dirty="0"/>
          </a:p>
        </p:txBody>
      </p:sp>
      <p:sp>
        <p:nvSpPr>
          <p:cNvPr id="131" name="Text 29"/>
          <p:cNvSpPr txBox="1"/>
          <p:nvPr/>
        </p:nvSpPr>
        <p:spPr>
          <a:xfrm>
            <a:off x="8183880" y="33467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26</a:t>
            </a:r>
            <a:endParaRPr lang="en-US" sz="1000" dirty="0"/>
          </a:p>
        </p:txBody>
      </p:sp>
      <p:sp>
        <p:nvSpPr>
          <p:cNvPr id="132" name="m Dec 26"/>
          <p:cNvSpPr/>
          <p:nvPr/>
        </p:nvSpPr>
        <p:spPr>
          <a:xfrm>
            <a:off x="8915400" y="3392424"/>
            <a:ext cx="132261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3" name="Text 31"/>
          <p:cNvSpPr txBox="1"/>
          <p:nvPr/>
        </p:nvSpPr>
        <p:spPr>
          <a:xfrm>
            <a:off x="10725912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8,067</a:t>
            </a:r>
            <a:endParaRPr lang="en-US" sz="1000" dirty="0"/>
          </a:p>
        </p:txBody>
      </p:sp>
      <p:sp>
        <p:nvSpPr>
          <p:cNvPr id="134" name="Text 32"/>
          <p:cNvSpPr txBox="1"/>
          <p:nvPr/>
        </p:nvSpPr>
        <p:spPr>
          <a:xfrm>
            <a:off x="8183880" y="362102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27</a:t>
            </a:r>
            <a:endParaRPr lang="en-US" sz="1000" dirty="0"/>
          </a:p>
        </p:txBody>
      </p:sp>
      <p:sp>
        <p:nvSpPr>
          <p:cNvPr id="135" name="m Jan 27"/>
          <p:cNvSpPr/>
          <p:nvPr/>
        </p:nvSpPr>
        <p:spPr>
          <a:xfrm>
            <a:off x="8915400" y="3666744"/>
            <a:ext cx="155985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6" name="Text 34"/>
          <p:cNvSpPr txBox="1"/>
          <p:nvPr/>
        </p:nvSpPr>
        <p:spPr>
          <a:xfrm>
            <a:off x="10725912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9,514</a:t>
            </a:r>
            <a:endParaRPr lang="en-US" sz="1000" dirty="0"/>
          </a:p>
        </p:txBody>
      </p:sp>
      <p:sp>
        <p:nvSpPr>
          <p:cNvPr id="137" name="Text 35"/>
          <p:cNvSpPr txBox="1"/>
          <p:nvPr/>
        </p:nvSpPr>
        <p:spPr>
          <a:xfrm>
            <a:off x="8183880" y="389534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27</a:t>
            </a:r>
            <a:endParaRPr lang="en-US" sz="1000" dirty="0"/>
          </a:p>
        </p:txBody>
      </p:sp>
      <p:sp>
        <p:nvSpPr>
          <p:cNvPr id="138" name="m Feb 27"/>
          <p:cNvSpPr/>
          <p:nvPr/>
        </p:nvSpPr>
        <p:spPr>
          <a:xfrm>
            <a:off x="8915400" y="3941064"/>
            <a:ext cx="71320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9" name="Text 37"/>
          <p:cNvSpPr txBox="1"/>
          <p:nvPr/>
        </p:nvSpPr>
        <p:spPr>
          <a:xfrm>
            <a:off x="10725912" y="38953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4,350</a:t>
            </a:r>
            <a:endParaRPr lang="en-US" sz="1000" dirty="0"/>
          </a:p>
        </p:txBody>
      </p:sp>
      <p:sp>
        <p:nvSpPr>
          <p:cNvPr id="140" name="Text 38"/>
          <p:cNvSpPr txBox="1"/>
          <p:nvPr/>
        </p:nvSpPr>
        <p:spPr>
          <a:xfrm>
            <a:off x="8183880" y="416966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27</a:t>
            </a:r>
            <a:endParaRPr lang="en-US" sz="1000" dirty="0"/>
          </a:p>
        </p:txBody>
      </p:sp>
      <p:sp>
        <p:nvSpPr>
          <p:cNvPr id="141" name="m Mar 27"/>
          <p:cNvSpPr/>
          <p:nvPr/>
        </p:nvSpPr>
        <p:spPr>
          <a:xfrm>
            <a:off x="8915400" y="4215384"/>
            <a:ext cx="27432" cy="13716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42" name="Text 40"/>
          <p:cNvSpPr txBox="1"/>
          <p:nvPr/>
        </p:nvSpPr>
        <p:spPr>
          <a:xfrm>
            <a:off x="10725912" y="41696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1,530</a:t>
            </a:r>
            <a:endParaRPr lang="en-US" sz="1000" dirty="0"/>
          </a:p>
        </p:txBody>
      </p:sp>
      <p:sp>
        <p:nvSpPr>
          <p:cNvPr id="143" name="note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44" name="Text 42"/>
          <p:cNvSpPr txBox="1"/>
          <p:nvPr/>
        </p:nvSpPr>
        <p:spPr>
          <a:xfrm>
            <a:off x="731520" y="5788152"/>
            <a:ext cx="10744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Updated Order Status 06-Oct (KMART-002, GMTS QTY). The file has no shipped qty — lines with delivery date up to 13-Oct are counted as shipped (assumed) until the shipped qty is updated. KMART-001 (closed) is not included.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08 — ORDER BOOK BY FILE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Order qty by FILE — source and shipment status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TARGET UPDATED ORDER STATUS 12-Oct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KMART Order Status 06-Oct · open files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08</a:t>
            </a:r>
            <a:endParaRPr lang="en-US" sz="8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53312"/>
          <a:ext cx="1109167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1143000"/>
                <a:gridCol w="1600200"/>
                <a:gridCol w="548640"/>
                <a:gridCol w="960120"/>
                <a:gridCol w="960120"/>
                <a:gridCol w="822960"/>
                <a:gridCol w="31363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SEASON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FFD / DELIVERY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QTY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SHIPPED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SHIPMENT 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FY26 Q3–Q4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 25 – Jul 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12-Oct file · post costing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316,361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315,073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· 1,288 short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Q1–Q2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26 – Dec 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12-Oct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576,777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509,255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63,931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 · Oct 55,399 · Nov 5,331 · Dec 3,201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Q2–Q3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 26 – May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12-Oct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304,574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304,574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 · Nov 26 – May 27 + 25,923 TBA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KMART-002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FY27 Summer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26 – Mar 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 06-Oct file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647,961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466,214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181,747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Pending · Oct 107,640 · Nov 50,646 · Dec–Mar 23,461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1,564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1,845,673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1,290,542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550,252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" name="note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03" name="Text 1"/>
          <p:cNvSpPr txBox="1"/>
          <p:nvPr/>
        </p:nvSpPr>
        <p:spPr>
          <a:xfrm>
            <a:off x="731520" y="5788152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order qty comes from: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qty = QTY column of TARGET UPDATED ORDER STATUS-12.10.26 (TARGET-36/37/38) and GMTS QTY of KMART Updated Order Status 06-Oct (KMART-002), all lines. Shipped: TARGET-36 = post costing 315,073; TARGET-37 = QTY ± Short/Excess on lines marked "Shipped"; TARGET-38 nothing shipped; KMART-002 assumed by delivery date (no shipped qty in the file).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08 — WHAT WE MAKE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Products we make for Target &amp; Kmart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Product description · order qty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TARGET-36, 37, 38 · KMART-002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08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548640" y="135331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AUSTRALIA</a:t>
            </a:r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TARGET-36, 37, 38 · 1,197,728 pcs · 136 styles</a:t>
            </a:r>
            <a:endParaRPr lang="en-US" sz="1100" dirty="0"/>
          </a:p>
        </p:txBody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70866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868680"/>
                <a:gridCol w="868680"/>
                <a:gridCol w="914400"/>
                <a:gridCol w="1280160"/>
                <a:gridCol w="5943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TARGET-38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QTY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170,462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106,167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201,465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478,094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Shorts (denim &amp; woven)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270,320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17,818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294,330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Jeggings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86,888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Jackets &amp; shackets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36,502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Linen pants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Skirts &amp; skorts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58,480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 shorts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44,597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Cargo pants &amp; jeans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42,855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Pants &amp; chinos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Overalls &amp; shortalls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16,515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312,381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576,777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304,574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1,193,732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3" name="bar Jeans"/>
          <p:cNvSpPr/>
          <p:nvPr/>
        </p:nvSpPr>
        <p:spPr>
          <a:xfrm>
            <a:off x="5852160" y="2002536"/>
            <a:ext cx="1143000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4" name="bar Shorts (denim &amp; woven)"/>
          <p:cNvSpPr/>
          <p:nvPr/>
        </p:nvSpPr>
        <p:spPr>
          <a:xfrm>
            <a:off x="5852160" y="2276856"/>
            <a:ext cx="703667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5" name="bar Jeggings"/>
          <p:cNvSpPr/>
          <p:nvPr/>
        </p:nvSpPr>
        <p:spPr>
          <a:xfrm>
            <a:off x="5852160" y="2551176"/>
            <a:ext cx="207727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6" name="bar Jackets &amp; shackets"/>
          <p:cNvSpPr/>
          <p:nvPr/>
        </p:nvSpPr>
        <p:spPr>
          <a:xfrm>
            <a:off x="5852160" y="2825496"/>
            <a:ext cx="172707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7" name="bar Linen pants"/>
          <p:cNvSpPr/>
          <p:nvPr/>
        </p:nvSpPr>
        <p:spPr>
          <a:xfrm>
            <a:off x="5852160" y="3099816"/>
            <a:ext cx="163697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8" name="bar Skirts &amp; skorts"/>
          <p:cNvSpPr/>
          <p:nvPr/>
        </p:nvSpPr>
        <p:spPr>
          <a:xfrm>
            <a:off x="5852160" y="3374136"/>
            <a:ext cx="139811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9" name="bar Cargo shorts"/>
          <p:cNvSpPr/>
          <p:nvPr/>
        </p:nvSpPr>
        <p:spPr>
          <a:xfrm>
            <a:off x="5852160" y="3648456"/>
            <a:ext cx="106620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0" name="bar Cargo pants &amp; jeans"/>
          <p:cNvSpPr/>
          <p:nvPr/>
        </p:nvSpPr>
        <p:spPr>
          <a:xfrm>
            <a:off x="5852160" y="3922776"/>
            <a:ext cx="102455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1" name="bar Pants &amp; chinos"/>
          <p:cNvSpPr/>
          <p:nvPr/>
        </p:nvSpPr>
        <p:spPr>
          <a:xfrm>
            <a:off x="5852160" y="4197096"/>
            <a:ext cx="61370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2" name="bar Overalls &amp; shortalls"/>
          <p:cNvSpPr/>
          <p:nvPr/>
        </p:nvSpPr>
        <p:spPr>
          <a:xfrm>
            <a:off x="5852160" y="4471416"/>
            <a:ext cx="39483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3" name="bar Dresses"/>
          <p:cNvSpPr/>
          <p:nvPr/>
        </p:nvSpPr>
        <p:spPr>
          <a:xfrm>
            <a:off x="5852160" y="4745736"/>
            <a:ext cx="27432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4" name="bar Shirts"/>
          <p:cNvSpPr/>
          <p:nvPr/>
        </p:nvSpPr>
        <p:spPr>
          <a:xfrm>
            <a:off x="5852160" y="5020056"/>
            <a:ext cx="27432" cy="109728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5" name="Text 13"/>
          <p:cNvSpPr txBox="1"/>
          <p:nvPr/>
        </p:nvSpPr>
        <p:spPr>
          <a:xfrm>
            <a:off x="548640" y="554126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customer: </a:t>
            </a:r>
            <a:pPr indent="0" marL="0">
              <a:buNone/>
            </a:pPr>
            <a:r>
              <a:rPr lang="en-US" sz="9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45% · Men 35% · Girls 20%</a:t>
            </a:r>
            <a:endParaRPr lang="en-US" sz="950" dirty="0"/>
          </a:p>
        </p:txBody>
      </p:sp>
      <p:sp>
        <p:nvSpPr>
          <p:cNvPr id="116" name="Text 14"/>
          <p:cNvSpPr txBox="1"/>
          <p:nvPr/>
        </p:nvSpPr>
        <p:spPr>
          <a:xfrm>
            <a:off x="8001000" y="1353312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AUSTRALIA</a:t>
            </a:r>
            <a:pPr indent="0" marL="0">
              <a:buNone/>
            </a:pPr>
            <a:r>
              <a:rPr lang="en-US" sz="11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KMART-002 · 647,961 pcs</a:t>
            </a:r>
            <a:endParaRPr lang="en-US" sz="1100" dirty="0"/>
          </a:p>
        </p:txBody>
      </p:sp>
      <p:sp>
        <p:nvSpPr>
          <p:cNvPr id="117" name="Shape 15"/>
          <p:cNvSpPr/>
          <p:nvPr/>
        </p:nvSpPr>
        <p:spPr>
          <a:xfrm>
            <a:off x="8001000" y="1645920"/>
            <a:ext cx="3639312" cy="0"/>
          </a:xfrm>
          <a:prstGeom prst="line">
            <a:avLst/>
          </a:prstGeom>
          <a:noFill/>
          <a:ln w="15875">
            <a:solidFill>
              <a:srgbClr val="1B1D24"/>
            </a:solidFill>
            <a:prstDash val="solid"/>
          </a:ln>
        </p:spPr>
      </p:sp>
      <p:sp>
        <p:nvSpPr>
          <p:cNvPr id="118" name="Text 16"/>
          <p:cNvSpPr txBox="1"/>
          <p:nvPr/>
        </p:nvSpPr>
        <p:spPr>
          <a:xfrm>
            <a:off x="8001000" y="1719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Boardshorts</a:t>
            </a:r>
            <a:endParaRPr lang="en-US" sz="1100" dirty="0"/>
          </a:p>
        </p:txBody>
      </p:sp>
      <p:sp>
        <p:nvSpPr>
          <p:cNvPr id="119" name="Text 17"/>
          <p:cNvSpPr txBox="1"/>
          <p:nvPr/>
        </p:nvSpPr>
        <p:spPr>
          <a:xfrm>
            <a:off x="9829800" y="171907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263,896</a:t>
            </a:r>
            <a:pPr algn="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40.7%</a:t>
            </a:r>
            <a:endParaRPr lang="en-US" sz="1100" dirty="0"/>
          </a:p>
        </p:txBody>
      </p:sp>
      <p:sp>
        <p:nvSpPr>
          <p:cNvPr id="120" name="k Boardshorts"/>
          <p:cNvSpPr/>
          <p:nvPr/>
        </p:nvSpPr>
        <p:spPr>
          <a:xfrm>
            <a:off x="8001000" y="1975104"/>
            <a:ext cx="3639312" cy="9144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1" name="Text 19"/>
          <p:cNvSpPr txBox="1"/>
          <p:nvPr/>
        </p:nvSpPr>
        <p:spPr>
          <a:xfrm>
            <a:off x="8001000" y="2084832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Print Boardie · 5 styles</a:t>
            </a:r>
            <a:endParaRPr lang="en-US" sz="850" dirty="0"/>
          </a:p>
        </p:txBody>
      </p:sp>
      <p:sp>
        <p:nvSpPr>
          <p:cNvPr id="122" name="Text 20"/>
          <p:cNvSpPr txBox="1"/>
          <p:nvPr/>
        </p:nvSpPr>
        <p:spPr>
          <a:xfrm>
            <a:off x="8001000" y="2286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Volley shorts</a:t>
            </a:r>
            <a:endParaRPr lang="en-US" sz="1100" dirty="0"/>
          </a:p>
        </p:txBody>
      </p:sp>
      <p:sp>
        <p:nvSpPr>
          <p:cNvPr id="123" name="Text 21"/>
          <p:cNvSpPr txBox="1"/>
          <p:nvPr/>
        </p:nvSpPr>
        <p:spPr>
          <a:xfrm>
            <a:off x="9829800" y="2286000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208,676</a:t>
            </a:r>
            <a:pPr algn="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32.2%</a:t>
            </a:r>
            <a:endParaRPr lang="en-US" sz="1100" dirty="0"/>
          </a:p>
        </p:txBody>
      </p:sp>
      <p:sp>
        <p:nvSpPr>
          <p:cNvPr id="124" name="k Volley shorts"/>
          <p:cNvSpPr/>
          <p:nvPr/>
        </p:nvSpPr>
        <p:spPr>
          <a:xfrm>
            <a:off x="8001000" y="2542032"/>
            <a:ext cx="2877789" cy="9144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5" name="Text 23"/>
          <p:cNvSpPr txBox="1"/>
          <p:nvPr/>
        </p:nvSpPr>
        <p:spPr>
          <a:xfrm>
            <a:off x="8001000" y="2651760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Slub Volley · 4 styles</a:t>
            </a:r>
            <a:endParaRPr lang="en-US" sz="850" dirty="0"/>
          </a:p>
        </p:txBody>
      </p:sp>
      <p:sp>
        <p:nvSpPr>
          <p:cNvPr id="126" name="Text 24"/>
          <p:cNvSpPr txBox="1"/>
          <p:nvPr/>
        </p:nvSpPr>
        <p:spPr>
          <a:xfrm>
            <a:off x="8001000" y="28529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Pants &amp; chinos</a:t>
            </a:r>
            <a:endParaRPr lang="en-US" sz="1100" dirty="0"/>
          </a:p>
        </p:txBody>
      </p:sp>
      <p:sp>
        <p:nvSpPr>
          <p:cNvPr id="127" name="Text 25"/>
          <p:cNvSpPr txBox="1"/>
          <p:nvPr/>
        </p:nvSpPr>
        <p:spPr>
          <a:xfrm>
            <a:off x="9829800" y="285292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109,026</a:t>
            </a:r>
            <a:pPr algn="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16.8%</a:t>
            </a:r>
            <a:endParaRPr lang="en-US" sz="1100" dirty="0"/>
          </a:p>
        </p:txBody>
      </p:sp>
      <p:sp>
        <p:nvSpPr>
          <p:cNvPr id="128" name="k Pants &amp; chinos"/>
          <p:cNvSpPr/>
          <p:nvPr/>
        </p:nvSpPr>
        <p:spPr>
          <a:xfrm>
            <a:off x="8001000" y="3108960"/>
            <a:ext cx="1503545" cy="9144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9" name="Text 27"/>
          <p:cNvSpPr txBox="1"/>
          <p:nvPr/>
        </p:nvSpPr>
        <p:spPr>
          <a:xfrm>
            <a:off x="8001000" y="3218688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Cotton Slub Pant · 4 styles</a:t>
            </a:r>
            <a:endParaRPr lang="en-US" sz="850" dirty="0"/>
          </a:p>
        </p:txBody>
      </p:sp>
      <p:sp>
        <p:nvSpPr>
          <p:cNvPr id="130" name="Text 28"/>
          <p:cNvSpPr txBox="1"/>
          <p:nvPr/>
        </p:nvSpPr>
        <p:spPr>
          <a:xfrm>
            <a:off x="8001000" y="34198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 (denim &amp; woven)</a:t>
            </a:r>
            <a:endParaRPr lang="en-US" sz="1100" dirty="0"/>
          </a:p>
        </p:txBody>
      </p:sp>
      <p:sp>
        <p:nvSpPr>
          <p:cNvPr id="131" name="Text 29"/>
          <p:cNvSpPr txBox="1"/>
          <p:nvPr/>
        </p:nvSpPr>
        <p:spPr>
          <a:xfrm>
            <a:off x="9829800" y="341985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66,363</a:t>
            </a:r>
            <a:pPr algn="r"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10.2%</a:t>
            </a:r>
            <a:endParaRPr lang="en-US" sz="1100" dirty="0"/>
          </a:p>
        </p:txBody>
      </p:sp>
      <p:sp>
        <p:nvSpPr>
          <p:cNvPr id="132" name="k Shorts (denim &amp; woven)"/>
          <p:cNvSpPr/>
          <p:nvPr/>
        </p:nvSpPr>
        <p:spPr>
          <a:xfrm>
            <a:off x="8001000" y="3675888"/>
            <a:ext cx="915193" cy="9144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33" name="Text 31"/>
          <p:cNvSpPr txBox="1"/>
          <p:nvPr/>
        </p:nvSpPr>
        <p:spPr>
          <a:xfrm>
            <a:off x="8001000" y="3785616"/>
            <a:ext cx="3639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Pleated Short · 4 styles</a:t>
            </a:r>
            <a:endParaRPr lang="en-US" sz="850" dirty="0"/>
          </a:p>
        </p:txBody>
      </p:sp>
      <p:sp>
        <p:nvSpPr>
          <p:cNvPr id="134" name="Text 32"/>
          <p:cNvSpPr txBox="1"/>
          <p:nvPr/>
        </p:nvSpPr>
        <p:spPr>
          <a:xfrm>
            <a:off x="8001000" y="4032504"/>
            <a:ext cx="3639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customer: </a:t>
            </a:r>
            <a:pPr indent="0" marL="0">
              <a:buNone/>
            </a:pPr>
            <a:r>
              <a:rPr lang="en-US" sz="9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100%</a:t>
            </a:r>
            <a:endParaRPr lang="en-US" sz="950" dirty="0"/>
          </a:p>
        </p:txBody>
      </p:sp>
      <p:sp>
        <p:nvSpPr>
          <p:cNvPr id="135" name="note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0909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36" name="Text 34"/>
          <p:cNvSpPr txBox="1"/>
          <p:nvPr/>
        </p:nvSpPr>
        <p:spPr>
          <a:xfrm>
            <a:off x="731520" y="5788152"/>
            <a:ext cx="107442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grouped by keywords in the Product Description of each order line of TARGET-36, 37, 38 (TARGET UPDATED ORDER STATUS 12-Oct) and KMART-002 (KMART Order Status 06-Oct). Qty = order qty (QTY / GMTS QTY). "Other" (3,996 pcs, TARGET-36 blank description) not shown.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09 — SWOT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SWOT — Target Australia &amp; Kmart Australia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Order Status · post costing · cut to ship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Revenue tab 2026 YTD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09</a:t>
            </a:r>
            <a:endParaRPr lang="en-US" sz="800" dirty="0"/>
          </a:p>
        </p:txBody>
      </p:sp>
      <p:sp>
        <p:nvSpPr>
          <p:cNvPr id="101" name="Text 0"/>
          <p:cNvSpPr txBox="1"/>
          <p:nvPr/>
        </p:nvSpPr>
        <p:spPr>
          <a:xfrm>
            <a:off x="1417320" y="1371600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AUSTRALIA</a:t>
            </a:r>
            <a:endParaRPr lang="en-US" sz="1100" dirty="0"/>
          </a:p>
        </p:txBody>
      </p:sp>
      <p:sp>
        <p:nvSpPr>
          <p:cNvPr id="102" name="Text 1"/>
          <p:cNvSpPr txBox="1"/>
          <p:nvPr/>
        </p:nvSpPr>
        <p:spPr>
          <a:xfrm>
            <a:off x="6583680" y="1371600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AUSTRALIA</a:t>
            </a:r>
            <a:endParaRPr lang="en-US" sz="1100" dirty="0"/>
          </a:p>
        </p:txBody>
      </p:sp>
      <p:sp>
        <p:nvSpPr>
          <p:cNvPr id="103" name="swot S"/>
          <p:cNvSpPr/>
          <p:nvPr/>
        </p:nvSpPr>
        <p:spPr>
          <a:xfrm>
            <a:off x="548640" y="1682496"/>
            <a:ext cx="749808" cy="987552"/>
          </a:xfrm>
          <a:prstGeom prst="roundRect">
            <a:avLst>
              <a:gd name="adj" fmla="val 7317"/>
            </a:avLst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04" name="Text 3"/>
          <p:cNvSpPr txBox="1"/>
          <p:nvPr/>
        </p:nvSpPr>
        <p:spPr>
          <a:xfrm>
            <a:off x="548640" y="1792224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600" dirty="0"/>
          </a:p>
        </p:txBody>
      </p:sp>
      <p:sp>
        <p:nvSpPr>
          <p:cNvPr id="105" name="Text 4"/>
          <p:cNvSpPr txBox="1"/>
          <p:nvPr/>
        </p:nvSpPr>
        <p:spPr>
          <a:xfrm>
            <a:off x="548640" y="228600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650" dirty="0"/>
          </a:p>
        </p:txBody>
      </p:sp>
      <p:sp>
        <p:nvSpPr>
          <p:cNvPr id="106" name="TARGETS"/>
          <p:cNvSpPr/>
          <p:nvPr/>
        </p:nvSpPr>
        <p:spPr>
          <a:xfrm>
            <a:off x="1417320" y="1682496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7" name="Text 6"/>
          <p:cNvSpPr txBox="1"/>
          <p:nvPr/>
        </p:nvSpPr>
        <p:spPr>
          <a:xfrm>
            <a:off x="1554480" y="1755648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open book: TARGET-37 63,931 + TARGET-38 304,574 pcs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TARGET-36 closed: 99.6% shipped, CM $859K vs $649K budget (+33%)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orders costed at 9.29¢ CPM — above the 8.43¢ standard</a:t>
            </a:r>
            <a:endParaRPr lang="en-US" sz="1000" dirty="0"/>
          </a:p>
        </p:txBody>
      </p:sp>
      <p:sp>
        <p:nvSpPr>
          <p:cNvPr id="108" name="KMARTS"/>
          <p:cNvSpPr/>
          <p:nvPr/>
        </p:nvSpPr>
        <p:spPr>
          <a:xfrm>
            <a:off x="6583680" y="1682496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9" name="Text 8"/>
          <p:cNvSpPr txBox="1"/>
          <p:nvPr/>
        </p:nvSpPr>
        <p:spPr>
          <a:xfrm>
            <a:off x="6720840" y="1755648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runs: 15.1 days per style (run score 100) — only 4 styles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men’s shorts, SMV 14.96 → 27.7 pcs per man-day (factory 20.6)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KMART-002 on time: nothing overdue, no critical alerts, no TBA</a:t>
            </a:r>
            <a:endParaRPr lang="en-US" sz="1000" dirty="0"/>
          </a:p>
        </p:txBody>
      </p:sp>
      <p:sp>
        <p:nvSpPr>
          <p:cNvPr id="110" name="swot W"/>
          <p:cNvSpPr/>
          <p:nvPr/>
        </p:nvSpPr>
        <p:spPr>
          <a:xfrm>
            <a:off x="548640" y="2761488"/>
            <a:ext cx="749808" cy="987552"/>
          </a:xfrm>
          <a:prstGeom prst="roundRect">
            <a:avLst>
              <a:gd name="adj" fmla="val 7317"/>
            </a:avLst>
          </a:prstGeom>
          <a:solidFill>
            <a:srgbClr val="D9453B"/>
          </a:solidFill>
          <a:ln w="12700">
            <a:solidFill>
              <a:srgbClr val="D9453B"/>
            </a:solidFill>
            <a:prstDash val="solid"/>
          </a:ln>
        </p:spPr>
      </p:sp>
      <p:sp>
        <p:nvSpPr>
          <p:cNvPr id="111" name="Text 10"/>
          <p:cNvSpPr txBox="1"/>
          <p:nvPr/>
        </p:nvSpPr>
        <p:spPr>
          <a:xfrm>
            <a:off x="548640" y="2871216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2600" dirty="0"/>
          </a:p>
        </p:txBody>
      </p:sp>
      <p:sp>
        <p:nvSpPr>
          <p:cNvPr id="112" name="Text 11"/>
          <p:cNvSpPr txBox="1"/>
          <p:nvPr/>
        </p:nvSpPr>
        <p:spPr>
          <a:xfrm>
            <a:off x="548640" y="33649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650" dirty="0"/>
          </a:p>
        </p:txBody>
      </p:sp>
      <p:sp>
        <p:nvSpPr>
          <p:cNvPr id="113" name="TARGETW"/>
          <p:cNvSpPr/>
          <p:nvPr/>
        </p:nvSpPr>
        <p:spPr>
          <a:xfrm>
            <a:off x="1417320" y="2761488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4" name="Text 13"/>
          <p:cNvSpPr txBox="1"/>
          <p:nvPr/>
        </p:nvSpPr>
        <p:spPr>
          <a:xfrm>
            <a:off x="1554480" y="2834640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$2,201 per line-day vs $2,500 benchmark (factory $2,554)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66.7% vs 69.5% factory · CM $0.0760 / SMV-min vs $0.0843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runs: 2.8 days per style (96 styles in 590 line-days)</a:t>
            </a:r>
            <a:endParaRPr lang="en-US" sz="1000" dirty="0"/>
          </a:p>
        </p:txBody>
      </p:sp>
      <p:sp>
        <p:nvSpPr>
          <p:cNvPr id="115" name="KMARTW"/>
          <p:cNvSpPr/>
          <p:nvPr/>
        </p:nvSpPr>
        <p:spPr>
          <a:xfrm>
            <a:off x="6583680" y="2761488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6" name="Text 15"/>
          <p:cNvSpPr txBox="1"/>
          <p:nvPr/>
        </p:nvSpPr>
        <p:spPr>
          <a:xfrm>
            <a:off x="6720840" y="2834640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CM rate: $0.0710 / SMV-min vs $0.0843 standard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$2,200 per line-day · $29.36 earned per man-day vs $34.71 factory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share: 2.9% of factory CM (value score 28.6)</a:t>
            </a:r>
            <a:endParaRPr lang="en-US" sz="1000" dirty="0"/>
          </a:p>
        </p:txBody>
      </p:sp>
      <p:sp>
        <p:nvSpPr>
          <p:cNvPr id="117" name="swot O"/>
          <p:cNvSpPr/>
          <p:nvPr/>
        </p:nvSpPr>
        <p:spPr>
          <a:xfrm>
            <a:off x="548640" y="3840480"/>
            <a:ext cx="749808" cy="987552"/>
          </a:xfrm>
          <a:prstGeom prst="roundRect">
            <a:avLst>
              <a:gd name="adj" fmla="val 7317"/>
            </a:avLst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18" name="Text 17"/>
          <p:cNvSpPr txBox="1"/>
          <p:nvPr/>
        </p:nvSpPr>
        <p:spPr>
          <a:xfrm>
            <a:off x="548640" y="3950208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2600" dirty="0"/>
          </a:p>
        </p:txBody>
      </p:sp>
      <p:sp>
        <p:nvSpPr>
          <p:cNvPr id="119" name="Text 18"/>
          <p:cNvSpPr txBox="1"/>
          <p:nvPr/>
        </p:nvSpPr>
        <p:spPr>
          <a:xfrm>
            <a:off x="548640" y="4443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650" dirty="0"/>
          </a:p>
        </p:txBody>
      </p:sp>
      <p:sp>
        <p:nvSpPr>
          <p:cNvPr id="120" name="TARGETO"/>
          <p:cNvSpPr/>
          <p:nvPr/>
        </p:nvSpPr>
        <p:spPr>
          <a:xfrm>
            <a:off x="1417320" y="3840480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1" name="Text 20"/>
          <p:cNvSpPr txBox="1"/>
          <p:nvPr/>
        </p:nvSpPr>
        <p:spPr>
          <a:xfrm>
            <a:off x="1554480" y="3913632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TARGET-38: 44 styles, 304,574 pcs — plan longer runs per line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 40% + shorts 25% = repeat bodies → fixed methods &amp; SMV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wastage 2% → 1% and CPM 8¢ → 10¢ (pointer 09)</a:t>
            </a:r>
            <a:endParaRPr lang="en-US" sz="1000" dirty="0"/>
          </a:p>
        </p:txBody>
      </p:sp>
      <p:sp>
        <p:nvSpPr>
          <p:cNvPr id="122" name="KMARTO"/>
          <p:cNvSpPr/>
          <p:nvPr/>
        </p:nvSpPr>
        <p:spPr>
          <a:xfrm>
            <a:off x="6583680" y="3840480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3" name="Text 22"/>
          <p:cNvSpPr txBox="1"/>
          <p:nvPr/>
        </p:nvSpPr>
        <p:spPr>
          <a:xfrm>
            <a:off x="6720840" y="3913632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146,874 pcs due in the next 30 days — keep lines dedicated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boardies / volleys — re-price CM per minute on next order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styles or qty to lift value share</a:t>
            </a:r>
            <a:endParaRPr lang="en-US" sz="1000" dirty="0"/>
          </a:p>
        </p:txBody>
      </p:sp>
      <p:sp>
        <p:nvSpPr>
          <p:cNvPr id="124" name="swot T"/>
          <p:cNvSpPr/>
          <p:nvPr/>
        </p:nvSpPr>
        <p:spPr>
          <a:xfrm>
            <a:off x="548640" y="4919472"/>
            <a:ext cx="749808" cy="987552"/>
          </a:xfrm>
          <a:prstGeom prst="roundRect">
            <a:avLst>
              <a:gd name="adj" fmla="val 731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25" name="Text 24"/>
          <p:cNvSpPr txBox="1"/>
          <p:nvPr/>
        </p:nvSpPr>
        <p:spPr>
          <a:xfrm>
            <a:off x="548640" y="502920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126" name="Text 25"/>
          <p:cNvSpPr txBox="1"/>
          <p:nvPr/>
        </p:nvSpPr>
        <p:spPr>
          <a:xfrm>
            <a:off x="548640" y="55229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650" dirty="0"/>
          </a:p>
        </p:txBody>
      </p:sp>
      <p:sp>
        <p:nvSpPr>
          <p:cNvPr id="127" name="TARGETT"/>
          <p:cNvSpPr/>
          <p:nvPr/>
        </p:nvSpPr>
        <p:spPr>
          <a:xfrm>
            <a:off x="1417320" y="4919472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8" name="Text 27"/>
          <p:cNvSpPr txBox="1"/>
          <p:nvPr/>
        </p:nvSpPr>
        <p:spPr>
          <a:xfrm>
            <a:off x="1554480" y="4992624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21,678 pcs past FFD (TARGET-37 Oct) · 25,923 pcs FFD TBA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$/line-day fell $2,720 (May) → $1,891 (Sep); efficiency 74% (Feb) → 58% (Oct)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cycle 296 days on TARGET-36 vs ≤ 90 target</a:t>
            </a:r>
            <a:endParaRPr lang="en-US" sz="1000" dirty="0"/>
          </a:p>
        </p:txBody>
      </p:sp>
      <p:sp>
        <p:nvSpPr>
          <p:cNvPr id="129" name="KMARTT"/>
          <p:cNvSpPr/>
          <p:nvPr/>
        </p:nvSpPr>
        <p:spPr>
          <a:xfrm>
            <a:off x="6583680" y="4919472"/>
            <a:ext cx="5056632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30" name="Text 29"/>
          <p:cNvSpPr txBox="1"/>
          <p:nvPr/>
        </p:nvSpPr>
        <p:spPr>
          <a:xfrm>
            <a:off x="6720840" y="4992624"/>
            <a:ext cx="47823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 peak: 107,640 pcs to ship in one month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pressure on basic shorts keeps CM/min low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men’s shorts — one category, one season; shipped qty not in file</a:t>
            </a:r>
            <a:endParaRPr lang="en-US" sz="1000" dirty="0"/>
          </a:p>
        </p:txBody>
      </p:sp>
      <p:sp>
        <p:nvSpPr>
          <p:cNvPr id="131" name="Text 30"/>
          <p:cNvSpPr txBox="1"/>
          <p:nvPr/>
        </p:nvSpPr>
        <p:spPr>
          <a:xfrm>
            <a:off x="548640" y="6053328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Order Status 12-Oct, TARGET-36 post costing, Cut to Ship 18-Oct, BTB L/C and the Revenue tab (01 Jan – 10 Oct 2026).</a:t>
            </a:r>
            <a:endParaRPr lang="en-US" sz="90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POINTER 09 — IMPROVEMENT PLAN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Improvement plan — from the Revenue tab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Buyer wise CM &amp; earned report 11-Oct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01 Jan – 10 Oct 2026 · Buyer KPI ranking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09</a:t>
            </a:r>
            <a:endParaRPr lang="en-US" sz="8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960120"/>
                <a:gridCol w="77724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TAB · 2026 YTD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per line-day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per SMV-minute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per man-day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$29.36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$34.71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 (defects / 100)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per style (run)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Line-days · CM earned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 · $1.30M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 · $0.63M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8,626 · $22.0M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 KPI grade · 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D7B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#4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869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#9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2" name="Text 0"/>
          <p:cNvSpPr txBox="1"/>
          <p:nvPr/>
        </p:nvSpPr>
        <p:spPr>
          <a:xfrm>
            <a:off x="6675120" y="13716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LEVER IS WORTH (CM $, 2026 YTD BASIS)</a:t>
            </a:r>
            <a:endParaRPr lang="en-US" sz="90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645920"/>
          <a:ext cx="4965192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950976"/>
                <a:gridCol w="95097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6F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B1D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per line-day to $2,500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+$176K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+$86K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 to 75%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+$162K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+$61K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per SMV-min to $0.0843 (standard)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+$142K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+$118K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1D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per SMV-min to $0.10 (pointer 09 goal)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+$410K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+$257K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" name="Text 1"/>
          <p:cNvSpPr txBox="1"/>
          <p:nvPr/>
        </p:nvSpPr>
        <p:spPr>
          <a:xfrm>
            <a:off x="6675120" y="34290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Levers overlap — do not add them up.</a:t>
            </a:r>
            <a:endParaRPr lang="en-US" sz="900" dirty="0"/>
          </a:p>
        </p:txBody>
      </p:sp>
      <p:sp>
        <p:nvSpPr>
          <p:cNvPr id="105" name="plan TARGET"/>
          <p:cNvSpPr/>
          <p:nvPr/>
        </p:nvSpPr>
        <p:spPr>
          <a:xfrm>
            <a:off x="548640" y="4041648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06" name="bar TARGET"/>
          <p:cNvSpPr/>
          <p:nvPr/>
        </p:nvSpPr>
        <p:spPr>
          <a:xfrm>
            <a:off x="548640" y="4041648"/>
            <a:ext cx="64008" cy="1645920"/>
          </a:xfrm>
          <a:prstGeom prst="rect">
            <a:avLst/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7" name="Text 4"/>
          <p:cNvSpPr txBox="1"/>
          <p:nvPr/>
        </p:nvSpPr>
        <p:spPr>
          <a:xfrm>
            <a:off x="77724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— IMPROVEMENT PLAN</a:t>
            </a:r>
            <a:endParaRPr lang="en-US" sz="950" dirty="0"/>
          </a:p>
        </p:txBody>
      </p:sp>
      <p:sp>
        <p:nvSpPr>
          <p:cNvPr id="108" name="Text 5"/>
          <p:cNvSpPr txBox="1"/>
          <p:nvPr/>
        </p:nvSpPr>
        <p:spPr>
          <a:xfrm>
            <a:off x="777240" y="4370832"/>
            <a:ext cx="5074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TARGET-38 by body: jeans / shorts / jeggings lines stay on one product for 5+ days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drive on TARGET lines: from 66.7% to 75% (layout, pre-production, WIP)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every new order at ≥ 10¢ CPM; cut wastage 2% → 1%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TARGET-37 overdue (21,678 pcs) and fix FFD on 25,923 TBA pcs</a:t>
            </a:r>
            <a:endParaRPr lang="en-US" sz="1000" dirty="0"/>
          </a:p>
        </p:txBody>
      </p:sp>
      <p:sp>
        <p:nvSpPr>
          <p:cNvPr id="109" name="plan KMART"/>
          <p:cNvSpPr/>
          <p:nvPr/>
        </p:nvSpPr>
        <p:spPr>
          <a:xfrm>
            <a:off x="6172200" y="4041648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10" name="bar KMART"/>
          <p:cNvSpPr/>
          <p:nvPr/>
        </p:nvSpPr>
        <p:spPr>
          <a:xfrm>
            <a:off x="6172200" y="4041648"/>
            <a:ext cx="64008" cy="1645920"/>
          </a:xfrm>
          <a:prstGeom prst="rect">
            <a:avLst/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11" name="Text 8"/>
          <p:cNvSpPr txBox="1"/>
          <p:nvPr/>
        </p:nvSpPr>
        <p:spPr>
          <a:xfrm>
            <a:off x="6400800" y="41148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— IMPROVEMENT PLAN</a:t>
            </a:r>
            <a:endParaRPr lang="en-US" sz="950" dirty="0"/>
          </a:p>
        </p:txBody>
      </p:sp>
      <p:sp>
        <p:nvSpPr>
          <p:cNvPr id="112" name="Text 9"/>
          <p:cNvSpPr txBox="1"/>
          <p:nvPr/>
        </p:nvSpPr>
        <p:spPr>
          <a:xfrm>
            <a:off x="6400800" y="4370832"/>
            <a:ext cx="5074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Re-price repeat boardshort / volley orders towards $0.0843 per SMV-minute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dedicated lines through the Oct–Nov peak (158,286 pcs)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efficiency 68.4% → 75% on long runs (target $2,500 / line-day)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shipped qty from Kmart-002 file each week (now assumed)</a:t>
            </a:r>
            <a:endParaRPr lang="en-US" sz="1000" dirty="0"/>
          </a:p>
        </p:txBody>
      </p:sp>
      <p:sp>
        <p:nvSpPr>
          <p:cNvPr id="113" name="note"/>
          <p:cNvSpPr/>
          <p:nvPr/>
        </p:nvSpPr>
        <p:spPr>
          <a:xfrm>
            <a:off x="548640" y="5779008"/>
            <a:ext cx="11091672" cy="475488"/>
          </a:xfrm>
          <a:prstGeom prst="roundRect">
            <a:avLst>
              <a:gd name="adj" fmla="val 11538"/>
            </a:avLst>
          </a:prstGeom>
          <a:solidFill>
            <a:srgbClr val="EEEBE6"/>
          </a:solidFill>
          <a:ln w="12700">
            <a:solidFill>
              <a:srgbClr val="EEEBE6"/>
            </a:solidFill>
            <a:prstDash val="solid"/>
          </a:ln>
        </p:spPr>
      </p:sp>
      <p:sp>
        <p:nvSpPr>
          <p:cNvPr id="114" name="Text 11"/>
          <p:cNvSpPr txBox="1"/>
          <p:nvPr/>
        </p:nvSpPr>
        <p:spPr>
          <a:xfrm>
            <a:off x="731520" y="5806440"/>
            <a:ext cx="10744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</a:t>
            </a:r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tab = Buyer wise average CM &amp; earned report (11-Oct, sheet 2026, 01 Jan – 10 Oct 2026) and Buyer KPI ranking. $ impact = simple pro-rata on 2026 earned so far (TARGET $1,298,800 · KMART $629,188); levers overlap, so do not add them up.</a:t>
            </a:r>
            <a:endParaRPr lang="en-US" sz="950" dirty="0"/>
          </a:p>
        </p:txBody>
      </p:sp>
      <p:sp>
        <p:nvSpPr>
          <p:cNvPr id="990" name="Back to map" descr="Go to the deck map (page 2)">
            <a:hlinkClick r:id="rId2" action="ppaction://hlinksldjump"/>
          </p:cNvPr>
          <p:cNvSpPr/>
          <p:nvPr/>
        </p:nvSpPr>
        <p:spPr>
          <a:xfrm>
            <a:off x="10817352" y="109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1D24"/>
          </a:solidFill>
          <a:ln w="9525">
            <a:solidFill>
              <a:srgbClr val="1B1D24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900" b="1" spc="100">
                <a:solidFill>
                  <a:srgbClr val="FFFFFF"/>
                </a:solidFill>
                <a:latin typeface="Arial"/>
              </a:rPr>
              <a:t>◂ MAP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7BD8"/>
                </a:solidFill>
              </a:rPr>
              <a:t>CONTENTS — DECK MAP</a:t>
            </a:r>
            <a:endParaRPr lang="en-US" sz="10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548640" y="6400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1D24"/>
                </a:solidFill>
              </a:rPr>
              <a:t>Everything on one page — click a box to open it</a:t>
            </a:r>
            <a:endParaRPr lang="en-US" sz="2400" dirty="0"/>
          </a:p>
        </p:txBody>
      </p:sp>
      <p:sp>
        <p:nvSpPr>
          <p:cNvPr id="4" name="Text 2"/>
          <p:cNvSpPr/>
          <p:nvPr>
            <p:ph idx="104" type="body" hasCustomPrompt="1"/>
          </p:nvPr>
        </p:nvSpPr>
        <p:spPr>
          <a:xfrm>
            <a:off x="8503920" y="6858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All 18 pages, grouped by pointer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1B1D24"/>
                </a:solidFill>
              </a:rPr>
              <a:t>◂ MAP on every page brings you back</a:t>
            </a:r>
            <a:endParaRPr lang="en-US" sz="9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9811512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" dirty="0">
                <a:solidFill>
                  <a:srgbClr val="6B6F78"/>
                </a:solidFill>
              </a:rPr>
              <a:t>MAP</a:t>
            </a:r>
            <a:endParaRPr lang="en-US" sz="800" dirty="0"/>
          </a:p>
        </p:txBody>
      </p:sp>
      <p:sp>
        <p:nvSpPr>
          <p:cNvPr id="101" name="map root"/>
          <p:cNvSpPr/>
          <p:nvPr/>
        </p:nvSpPr>
        <p:spPr>
          <a:xfrm>
            <a:off x="3813048" y="1325880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1B1D24"/>
          </a:solidFill>
          <a:ln w="12700">
            <a:solidFill>
              <a:srgbClr val="1B1D24"/>
            </a:solidFill>
            <a:prstDash val="solid"/>
          </a:ln>
        </p:spPr>
      </p:sp>
      <p:sp>
        <p:nvSpPr>
          <p:cNvPr id="102" name="Text 1"/>
          <p:cNvSpPr txBox="1"/>
          <p:nvPr/>
        </p:nvSpPr>
        <p:spPr>
          <a:xfrm>
            <a:off x="3813048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Account Review — Joy's team</a:t>
            </a:r>
            <a:endParaRPr lang="en-US" sz="1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9CC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Australia · Kmart Australia · Week 41 · 18 pages</a:t>
            </a:r>
            <a:endParaRPr lang="en-US" sz="1200" dirty="0"/>
          </a:p>
        </p:txBody>
      </p:sp>
      <p:sp>
        <p:nvSpPr>
          <p:cNvPr id="103" name="Shape 2"/>
          <p:cNvSpPr/>
          <p:nvPr/>
        </p:nvSpPr>
        <p:spPr>
          <a:xfrm>
            <a:off x="6099048" y="1783080"/>
            <a:ext cx="0" cy="118872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04" name="Shape 3"/>
          <p:cNvSpPr/>
          <p:nvPr/>
        </p:nvSpPr>
        <p:spPr>
          <a:xfrm>
            <a:off x="2354580" y="1901952"/>
            <a:ext cx="7662672" cy="0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05" name="Shape 4"/>
          <p:cNvSpPr/>
          <p:nvPr/>
        </p:nvSpPr>
        <p:spPr>
          <a:xfrm>
            <a:off x="2354580" y="1901952"/>
            <a:ext cx="0" cy="109728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06" name="map group 01–03"/>
          <p:cNvSpPr/>
          <p:nvPr/>
        </p:nvSpPr>
        <p:spPr>
          <a:xfrm>
            <a:off x="548640" y="2011680"/>
            <a:ext cx="36118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7" name="map head 01–03"/>
          <p:cNvSpPr/>
          <p:nvPr/>
        </p:nvSpPr>
        <p:spPr>
          <a:xfrm>
            <a:off x="548640" y="2011680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2D7BD8"/>
          </a:solidFill>
          <a:ln w="12700">
            <a:solidFill>
              <a:srgbClr val="2D7BD8"/>
            </a:solidFill>
            <a:prstDash val="solid"/>
          </a:ln>
        </p:spPr>
      </p:sp>
      <p:sp>
        <p:nvSpPr>
          <p:cNvPr id="108" name="Text 7"/>
          <p:cNvSpPr txBox="1"/>
          <p:nvPr/>
        </p:nvSpPr>
        <p:spPr>
          <a:xfrm>
            <a:off x="676656" y="2011680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&amp; UPCOMING ORDERS</a:t>
            </a:r>
            <a:endParaRPr lang="en-US" sz="1000" dirty="0"/>
          </a:p>
        </p:txBody>
      </p:sp>
      <p:sp>
        <p:nvSpPr>
          <p:cNvPr id="109" name="Shape 8"/>
          <p:cNvSpPr/>
          <p:nvPr/>
        </p:nvSpPr>
        <p:spPr>
          <a:xfrm>
            <a:off x="694944" y="2596896"/>
            <a:ext cx="109728" cy="0"/>
          </a:xfrm>
          <a:prstGeom prst="line">
            <a:avLst/>
          </a:prstGeom>
          <a:noFill/>
          <a:ln w="12700">
            <a:solidFill>
              <a:srgbClr val="2D7BD8"/>
            </a:solidFill>
            <a:prstDash val="solid"/>
          </a:ln>
        </p:spPr>
      </p:sp>
      <p:sp>
        <p:nvSpPr>
          <p:cNvPr id="110" name="goto:3">
            <a:hlinkClick r:id="rId2" action="ppaction://hlinksldjump"/>
          </p:cNvPr>
          <p:cNvSpPr/>
          <p:nvPr/>
        </p:nvSpPr>
        <p:spPr>
          <a:xfrm>
            <a:off x="804672" y="241401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orders booked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34,920 pcs · FOB $258K · CPM 9.29¢</a:t>
            </a:r>
            <a:endParaRPr lang="en-US" sz="1100" dirty="0"/>
          </a:p>
        </p:txBody>
      </p:sp>
      <p:sp>
        <p:nvSpPr>
          <p:cNvPr id="111" name="Shape 10"/>
          <p:cNvSpPr/>
          <p:nvPr/>
        </p:nvSpPr>
        <p:spPr>
          <a:xfrm>
            <a:off x="694944" y="3008376"/>
            <a:ext cx="109728" cy="0"/>
          </a:xfrm>
          <a:prstGeom prst="line">
            <a:avLst/>
          </a:prstGeom>
          <a:noFill/>
          <a:ln w="12700">
            <a:solidFill>
              <a:srgbClr val="2D7BD8"/>
            </a:solidFill>
            <a:prstDash val="solid"/>
          </a:ln>
        </p:spPr>
      </p:sp>
      <p:sp>
        <p:nvSpPr>
          <p:cNvPr id="112" name="goto:4">
            <a:hlinkClick r:id="rId3" action="ppaction://hlinksldjump"/>
          </p:cNvPr>
          <p:cNvSpPr/>
          <p:nvPr/>
        </p:nvSpPr>
        <p:spPr>
          <a:xfrm>
            <a:off x="804672" y="282549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orders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349,309 pcs · T-38 308,648 · Kmart 40,661</a:t>
            </a:r>
            <a:endParaRPr lang="en-US" sz="1100" dirty="0"/>
          </a:p>
        </p:txBody>
      </p:sp>
      <p:sp>
        <p:nvSpPr>
          <p:cNvPr id="113" name="Shape 12"/>
          <p:cNvSpPr/>
          <p:nvPr/>
        </p:nvSpPr>
        <p:spPr>
          <a:xfrm>
            <a:off x="6185916" y="1901952"/>
            <a:ext cx="0" cy="109728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14" name="map group 07"/>
          <p:cNvSpPr/>
          <p:nvPr/>
        </p:nvSpPr>
        <p:spPr>
          <a:xfrm>
            <a:off x="4379976" y="2011680"/>
            <a:ext cx="36118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15" name="map head 07"/>
          <p:cNvSpPr/>
          <p:nvPr/>
        </p:nvSpPr>
        <p:spPr>
          <a:xfrm>
            <a:off x="4379976" y="2011680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1E9E6A"/>
          </a:solidFill>
          <a:ln w="12700">
            <a:solidFill>
              <a:srgbClr val="1E9E6A"/>
            </a:solidFill>
            <a:prstDash val="solid"/>
          </a:ln>
        </p:spPr>
      </p:sp>
      <p:sp>
        <p:nvSpPr>
          <p:cNvPr id="116" name="Text 15"/>
          <p:cNvSpPr txBox="1"/>
          <p:nvPr/>
        </p:nvSpPr>
        <p:spPr>
          <a:xfrm>
            <a:off x="4507992" y="2011680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CLOSING — TARGET-36</a:t>
            </a:r>
            <a:endParaRPr lang="en-US" sz="1000" dirty="0"/>
          </a:p>
        </p:txBody>
      </p:sp>
      <p:sp>
        <p:nvSpPr>
          <p:cNvPr id="117" name="Shape 16"/>
          <p:cNvSpPr/>
          <p:nvPr/>
        </p:nvSpPr>
        <p:spPr>
          <a:xfrm>
            <a:off x="4526280" y="2596896"/>
            <a:ext cx="109728" cy="0"/>
          </a:xfrm>
          <a:prstGeom prst="line">
            <a:avLst/>
          </a:prstGeom>
          <a:noFill/>
          <a:ln w="12700">
            <a:solidFill>
              <a:srgbClr val="1E9E6A"/>
            </a:solidFill>
            <a:prstDash val="solid"/>
          </a:ln>
        </p:spPr>
      </p:sp>
      <p:sp>
        <p:nvSpPr>
          <p:cNvPr id="118" name="goto:6">
            <a:hlinkClick r:id="rId4" action="ppaction://hlinksldjump"/>
          </p:cNvPr>
          <p:cNvSpPr/>
          <p:nvPr/>
        </p:nvSpPr>
        <p:spPr>
          <a:xfrm>
            <a:off x="4636008" y="241401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Post-costing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Export $2.86M · CM $859K</a:t>
            </a:r>
            <a:endParaRPr lang="en-US" sz="1100" dirty="0"/>
          </a:p>
        </p:txBody>
      </p:sp>
      <p:sp>
        <p:nvSpPr>
          <p:cNvPr id="119" name="Shape 18"/>
          <p:cNvSpPr/>
          <p:nvPr/>
        </p:nvSpPr>
        <p:spPr>
          <a:xfrm>
            <a:off x="4526280" y="3008376"/>
            <a:ext cx="109728" cy="0"/>
          </a:xfrm>
          <a:prstGeom prst="line">
            <a:avLst/>
          </a:prstGeom>
          <a:noFill/>
          <a:ln w="12700">
            <a:solidFill>
              <a:srgbClr val="1E9E6A"/>
            </a:solidFill>
            <a:prstDash val="solid"/>
          </a:ln>
        </p:spPr>
      </p:sp>
      <p:sp>
        <p:nvSpPr>
          <p:cNvPr id="120" name="goto:7">
            <a:hlinkClick r:id="rId5" action="ppaction://hlinksldjump"/>
          </p:cNvPr>
          <p:cNvSpPr/>
          <p:nvPr/>
        </p:nvSpPr>
        <p:spPr>
          <a:xfrm>
            <a:off x="4636008" y="282549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&amp; wash spend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BTB $1.98M · 69.5% of export</a:t>
            </a:r>
            <a:endParaRPr lang="en-US" sz="1100" dirty="0"/>
          </a:p>
        </p:txBody>
      </p:sp>
      <p:sp>
        <p:nvSpPr>
          <p:cNvPr id="121" name="Shape 20"/>
          <p:cNvSpPr/>
          <p:nvPr/>
        </p:nvSpPr>
        <p:spPr>
          <a:xfrm>
            <a:off x="4526280" y="3419856"/>
            <a:ext cx="109728" cy="0"/>
          </a:xfrm>
          <a:prstGeom prst="line">
            <a:avLst/>
          </a:prstGeom>
          <a:noFill/>
          <a:ln w="12700">
            <a:solidFill>
              <a:srgbClr val="1E9E6A"/>
            </a:solidFill>
            <a:prstDash val="solid"/>
          </a:ln>
        </p:spPr>
      </p:sp>
      <p:sp>
        <p:nvSpPr>
          <p:cNvPr id="122" name="goto:8">
            <a:hlinkClick r:id="rId6" action="ppaction://hlinksldjump"/>
          </p:cNvPr>
          <p:cNvSpPr/>
          <p:nvPr/>
        </p:nvSpPr>
        <p:spPr>
          <a:xfrm>
            <a:off x="4636008" y="323697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scorecard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Ship-to-PO 99.6% · 53 styles · 60 colours</a:t>
            </a:r>
            <a:endParaRPr lang="en-US" sz="1100" dirty="0"/>
          </a:p>
        </p:txBody>
      </p:sp>
      <p:sp>
        <p:nvSpPr>
          <p:cNvPr id="123" name="Shape 22"/>
          <p:cNvSpPr/>
          <p:nvPr/>
        </p:nvSpPr>
        <p:spPr>
          <a:xfrm>
            <a:off x="4526280" y="3831336"/>
            <a:ext cx="109728" cy="0"/>
          </a:xfrm>
          <a:prstGeom prst="line">
            <a:avLst/>
          </a:prstGeom>
          <a:noFill/>
          <a:ln w="12700">
            <a:solidFill>
              <a:srgbClr val="1E9E6A"/>
            </a:solidFill>
            <a:prstDash val="solid"/>
          </a:ln>
        </p:spPr>
      </p:sp>
      <p:sp>
        <p:nvSpPr>
          <p:cNvPr id="124" name="goto:9">
            <a:hlinkClick r:id="rId7" action="ppaction://hlinksldjump"/>
          </p:cNvPr>
          <p:cNvSpPr/>
          <p:nvPr/>
        </p:nvSpPr>
        <p:spPr>
          <a:xfrm>
            <a:off x="4636008" y="364845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to ship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94.3% · 20,262 pcs cut, not shipped</a:t>
            </a:r>
            <a:endParaRPr lang="en-US" sz="1100" dirty="0"/>
          </a:p>
        </p:txBody>
      </p:sp>
      <p:sp>
        <p:nvSpPr>
          <p:cNvPr id="125" name="Shape 24"/>
          <p:cNvSpPr/>
          <p:nvPr/>
        </p:nvSpPr>
        <p:spPr>
          <a:xfrm>
            <a:off x="10017252" y="1901952"/>
            <a:ext cx="0" cy="109728"/>
          </a:xfrm>
          <a:prstGeom prst="line">
            <a:avLst/>
          </a:prstGeom>
          <a:noFill/>
          <a:ln w="12700">
            <a:solidFill>
              <a:srgbClr val="6B6F78"/>
            </a:solidFill>
            <a:prstDash val="solid"/>
          </a:ln>
        </p:spPr>
      </p:sp>
      <p:sp>
        <p:nvSpPr>
          <p:cNvPr id="126" name="map group 08"/>
          <p:cNvSpPr/>
          <p:nvPr/>
        </p:nvSpPr>
        <p:spPr>
          <a:xfrm>
            <a:off x="8211312" y="2011680"/>
            <a:ext cx="3611880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7" name="map head 08"/>
          <p:cNvSpPr/>
          <p:nvPr/>
        </p:nvSpPr>
        <p:spPr>
          <a:xfrm>
            <a:off x="8211312" y="2011680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E8692F"/>
          </a:solidFill>
          <a:ln w="12700">
            <a:solidFill>
              <a:srgbClr val="E8692F"/>
            </a:solidFill>
            <a:prstDash val="solid"/>
          </a:ln>
        </p:spPr>
      </p:sp>
      <p:sp>
        <p:nvSpPr>
          <p:cNvPr id="128" name="Text 27"/>
          <p:cNvSpPr txBox="1"/>
          <p:nvPr/>
        </p:nvSpPr>
        <p:spPr>
          <a:xfrm>
            <a:off x="8339328" y="2011680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MERCHANDISING KPI</a:t>
            </a:r>
            <a:endParaRPr lang="en-US" sz="1000" dirty="0"/>
          </a:p>
        </p:txBody>
      </p:sp>
      <p:sp>
        <p:nvSpPr>
          <p:cNvPr id="129" name="Shape 28"/>
          <p:cNvSpPr/>
          <p:nvPr/>
        </p:nvSpPr>
        <p:spPr>
          <a:xfrm>
            <a:off x="8357616" y="2596896"/>
            <a:ext cx="109728" cy="0"/>
          </a:xfrm>
          <a:prstGeom prst="line">
            <a:avLst/>
          </a:prstGeom>
          <a:noFill/>
          <a:ln w="12700">
            <a:solidFill>
              <a:srgbClr val="E8692F"/>
            </a:solidFill>
            <a:prstDash val="solid"/>
          </a:ln>
        </p:spPr>
      </p:sp>
      <p:sp>
        <p:nvSpPr>
          <p:cNvPr id="130" name="goto:10">
            <a:hlinkClick r:id="rId8" action="ppaction://hlinksldjump"/>
          </p:cNvPr>
          <p:cNvSpPr/>
          <p:nvPr/>
        </p:nvSpPr>
        <p:spPr>
          <a:xfrm>
            <a:off x="8467344" y="241401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Australia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Open 368,506 · overdue 21,678 · 21 critical</a:t>
            </a:r>
            <a:endParaRPr lang="en-US" sz="1100" dirty="0"/>
          </a:p>
        </p:txBody>
      </p:sp>
      <p:sp>
        <p:nvSpPr>
          <p:cNvPr id="131" name="Shape 30"/>
          <p:cNvSpPr/>
          <p:nvPr/>
        </p:nvSpPr>
        <p:spPr>
          <a:xfrm>
            <a:off x="8357616" y="3008376"/>
            <a:ext cx="109728" cy="0"/>
          </a:xfrm>
          <a:prstGeom prst="line">
            <a:avLst/>
          </a:prstGeom>
          <a:noFill/>
          <a:ln w="12700">
            <a:solidFill>
              <a:srgbClr val="E8692F"/>
            </a:solidFill>
            <a:prstDash val="solid"/>
          </a:ln>
        </p:spPr>
      </p:sp>
      <p:sp>
        <p:nvSpPr>
          <p:cNvPr id="132" name="goto:11">
            <a:hlinkClick r:id="rId9" action="ppaction://hlinksldjump"/>
          </p:cNvPr>
          <p:cNvSpPr/>
          <p:nvPr/>
        </p:nvSpPr>
        <p:spPr>
          <a:xfrm>
            <a:off x="8467344" y="282549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Kmart Australia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Open 181,747 · score 100 · Pelu</a:t>
            </a:r>
            <a:endParaRPr lang="en-US" sz="1100" dirty="0"/>
          </a:p>
        </p:txBody>
      </p:sp>
      <p:sp>
        <p:nvSpPr>
          <p:cNvPr id="133" name="Shape 32"/>
          <p:cNvSpPr/>
          <p:nvPr/>
        </p:nvSpPr>
        <p:spPr>
          <a:xfrm>
            <a:off x="8357616" y="3419856"/>
            <a:ext cx="109728" cy="0"/>
          </a:xfrm>
          <a:prstGeom prst="line">
            <a:avLst/>
          </a:prstGeom>
          <a:noFill/>
          <a:ln w="12700">
            <a:solidFill>
              <a:srgbClr val="E8692F"/>
            </a:solidFill>
            <a:prstDash val="solid"/>
          </a:ln>
        </p:spPr>
      </p:sp>
      <p:sp>
        <p:nvSpPr>
          <p:cNvPr id="134" name="goto:12">
            <a:hlinkClick r:id="rId10" action="ppaction://hlinksldjump"/>
          </p:cNvPr>
          <p:cNvSpPr/>
          <p:nvPr/>
        </p:nvSpPr>
        <p:spPr>
          <a:xfrm>
            <a:off x="8467344" y="323697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book by file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Order 1,845,673 · open 550,252</a:t>
            </a:r>
            <a:endParaRPr lang="en-US" sz="1100" dirty="0"/>
          </a:p>
        </p:txBody>
      </p:sp>
      <p:sp>
        <p:nvSpPr>
          <p:cNvPr id="135" name="Shape 34"/>
          <p:cNvSpPr/>
          <p:nvPr/>
        </p:nvSpPr>
        <p:spPr>
          <a:xfrm>
            <a:off x="8357616" y="3831336"/>
            <a:ext cx="109728" cy="0"/>
          </a:xfrm>
          <a:prstGeom prst="line">
            <a:avLst/>
          </a:prstGeom>
          <a:noFill/>
          <a:ln w="12700">
            <a:solidFill>
              <a:srgbClr val="E8692F"/>
            </a:solidFill>
            <a:prstDash val="solid"/>
          </a:ln>
        </p:spPr>
      </p:sp>
      <p:sp>
        <p:nvSpPr>
          <p:cNvPr id="136" name="goto:13">
            <a:hlinkClick r:id="rId11" action="ppaction://hlinksldjump"/>
          </p:cNvPr>
          <p:cNvSpPr/>
          <p:nvPr/>
        </p:nvSpPr>
        <p:spPr>
          <a:xfrm>
            <a:off x="8467344" y="3648456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we make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Target 1,197,728 pcs · jeans 39.9%</a:t>
            </a:r>
            <a:endParaRPr lang="en-US" sz="1100" dirty="0"/>
          </a:p>
        </p:txBody>
      </p:sp>
      <p:sp>
        <p:nvSpPr>
          <p:cNvPr id="137" name="map group 09"/>
          <p:cNvSpPr/>
          <p:nvPr/>
        </p:nvSpPr>
        <p:spPr>
          <a:xfrm>
            <a:off x="548640" y="4224528"/>
            <a:ext cx="3611880" cy="1673352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9453B"/>
            </a:solidFill>
            <a:prstDash val="solid"/>
          </a:ln>
        </p:spPr>
      </p:sp>
      <p:sp>
        <p:nvSpPr>
          <p:cNvPr id="138" name="map head 09"/>
          <p:cNvSpPr/>
          <p:nvPr/>
        </p:nvSpPr>
        <p:spPr>
          <a:xfrm>
            <a:off x="548640" y="4224528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D9453B"/>
          </a:solidFill>
          <a:ln w="12700">
            <a:solidFill>
              <a:srgbClr val="D9453B"/>
            </a:solidFill>
            <a:prstDash val="solid"/>
          </a:ln>
        </p:spPr>
      </p:sp>
      <p:sp>
        <p:nvSpPr>
          <p:cNvPr id="139" name="Text 38"/>
          <p:cNvSpPr txBox="1"/>
          <p:nvPr/>
        </p:nvSpPr>
        <p:spPr>
          <a:xfrm>
            <a:off x="676656" y="4224528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MANAGEMENT</a:t>
            </a:r>
            <a:endParaRPr lang="en-US" sz="1000" dirty="0"/>
          </a:p>
        </p:txBody>
      </p:sp>
      <p:sp>
        <p:nvSpPr>
          <p:cNvPr id="140" name="Shape 39"/>
          <p:cNvSpPr/>
          <p:nvPr/>
        </p:nvSpPr>
        <p:spPr>
          <a:xfrm>
            <a:off x="694944" y="4809744"/>
            <a:ext cx="109728" cy="0"/>
          </a:xfrm>
          <a:prstGeom prst="line">
            <a:avLst/>
          </a:prstGeom>
          <a:noFill/>
          <a:ln w="12700">
            <a:solidFill>
              <a:srgbClr val="D9453B"/>
            </a:solidFill>
            <a:prstDash val="solid"/>
          </a:ln>
        </p:spPr>
      </p:sp>
      <p:sp>
        <p:nvSpPr>
          <p:cNvPr id="141" name="goto:14">
            <a:hlinkClick r:id="rId12" action="ppaction://hlinksldjump"/>
          </p:cNvPr>
          <p:cNvSpPr/>
          <p:nvPr/>
        </p:nvSpPr>
        <p:spPr>
          <a:xfrm>
            <a:off x="804672" y="462686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Target &amp; Kmart</a:t>
            </a:r>
            <a:endParaRPr lang="en-US" sz="1100" dirty="0"/>
          </a:p>
        </p:txBody>
      </p:sp>
      <p:sp>
        <p:nvSpPr>
          <p:cNvPr id="142" name="Shape 41"/>
          <p:cNvSpPr/>
          <p:nvPr/>
        </p:nvSpPr>
        <p:spPr>
          <a:xfrm>
            <a:off x="694944" y="5221224"/>
            <a:ext cx="109728" cy="0"/>
          </a:xfrm>
          <a:prstGeom prst="line">
            <a:avLst/>
          </a:prstGeom>
          <a:noFill/>
          <a:ln w="12700">
            <a:solidFill>
              <a:srgbClr val="D9453B"/>
            </a:solidFill>
            <a:prstDash val="solid"/>
          </a:ln>
        </p:spPr>
      </p:sp>
      <p:sp>
        <p:nvSpPr>
          <p:cNvPr id="143" name="goto:15">
            <a:hlinkClick r:id="rId13" action="ppaction://hlinksldjump"/>
          </p:cNvPr>
          <p:cNvSpPr/>
          <p:nvPr/>
        </p:nvSpPr>
        <p:spPr>
          <a:xfrm>
            <a:off x="804672" y="503834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plan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$/line-day: Target $2,201 · Kmart $2,200</a:t>
            </a:r>
            <a:endParaRPr lang="en-US" sz="1100" dirty="0"/>
          </a:p>
        </p:txBody>
      </p:sp>
      <p:sp>
        <p:nvSpPr>
          <p:cNvPr id="144" name="Shape 43"/>
          <p:cNvSpPr/>
          <p:nvPr/>
        </p:nvSpPr>
        <p:spPr>
          <a:xfrm>
            <a:off x="694944" y="5632704"/>
            <a:ext cx="109728" cy="0"/>
          </a:xfrm>
          <a:prstGeom prst="line">
            <a:avLst/>
          </a:prstGeom>
          <a:noFill/>
          <a:ln w="12700">
            <a:solidFill>
              <a:srgbClr val="D9453B"/>
            </a:solidFill>
            <a:prstDash val="solid"/>
          </a:ln>
        </p:spPr>
      </p:sp>
      <p:sp>
        <p:nvSpPr>
          <p:cNvPr id="145" name="goto:16">
            <a:hlinkClick r:id="rId14" action="ppaction://hlinksldjump"/>
          </p:cNvPr>
          <p:cNvSpPr/>
          <p:nvPr/>
        </p:nvSpPr>
        <p:spPr>
          <a:xfrm>
            <a:off x="804672" y="544982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CM further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CPM 8¢ → 10¢ · wastage 2% → 1%</a:t>
            </a:r>
            <a:endParaRPr lang="en-US" sz="1100" dirty="0"/>
          </a:p>
        </p:txBody>
      </p:sp>
      <p:sp>
        <p:nvSpPr>
          <p:cNvPr id="146" name="map group 06"/>
          <p:cNvSpPr/>
          <p:nvPr/>
        </p:nvSpPr>
        <p:spPr>
          <a:xfrm>
            <a:off x="4379976" y="4224528"/>
            <a:ext cx="3611880" cy="85039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7" name="map head 06"/>
          <p:cNvSpPr/>
          <p:nvPr/>
        </p:nvSpPr>
        <p:spPr>
          <a:xfrm>
            <a:off x="4379976" y="4224528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8" name="Text 47"/>
          <p:cNvSpPr txBox="1"/>
          <p:nvPr/>
        </p:nvSpPr>
        <p:spPr>
          <a:xfrm>
            <a:off x="4507992" y="4224528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ADDITION</a:t>
            </a:r>
            <a:endParaRPr lang="en-US" sz="1000" dirty="0"/>
          </a:p>
        </p:txBody>
      </p:sp>
      <p:sp>
        <p:nvSpPr>
          <p:cNvPr id="149" name="Shape 48"/>
          <p:cNvSpPr/>
          <p:nvPr/>
        </p:nvSpPr>
        <p:spPr>
          <a:xfrm>
            <a:off x="4526280" y="4809744"/>
            <a:ext cx="109728" cy="0"/>
          </a:xfrm>
          <a:prstGeom prst="line">
            <a:avLst/>
          </a:prstGeom>
          <a:noFill/>
          <a:ln w="12700">
            <a:solidFill>
              <a:srgbClr val="B7791F"/>
            </a:solidFill>
            <a:prstDash val="solid"/>
          </a:ln>
        </p:spPr>
      </p:sp>
      <p:sp>
        <p:nvSpPr>
          <p:cNvPr id="150" name="goto:5">
            <a:hlinkClick r:id="rId15" action="ppaction://hlinksldjump"/>
          </p:cNvPr>
          <p:cNvSpPr/>
          <p:nvPr/>
        </p:nvSpPr>
        <p:spPr>
          <a:xfrm>
            <a:off x="4636008" y="462686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design &amp; development adds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Design / SOS · QA · CC · advertising · online samples</a:t>
            </a:r>
            <a:endParaRPr lang="en-US" sz="1100" dirty="0"/>
          </a:p>
        </p:txBody>
      </p:sp>
      <p:sp>
        <p:nvSpPr>
          <p:cNvPr id="151" name="map group 05"/>
          <p:cNvSpPr/>
          <p:nvPr/>
        </p:nvSpPr>
        <p:spPr>
          <a:xfrm>
            <a:off x="8211312" y="4224528"/>
            <a:ext cx="361188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1B1D24"/>
            </a:solidFill>
            <a:prstDash val="solid"/>
          </a:ln>
        </p:spPr>
      </p:sp>
      <p:sp>
        <p:nvSpPr>
          <p:cNvPr id="152" name="map head 05"/>
          <p:cNvSpPr/>
          <p:nvPr/>
        </p:nvSpPr>
        <p:spPr>
          <a:xfrm>
            <a:off x="8211312" y="4224528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1B1D24"/>
          </a:solidFill>
          <a:ln w="12700">
            <a:solidFill>
              <a:srgbClr val="1B1D24"/>
            </a:solidFill>
            <a:prstDash val="solid"/>
          </a:ln>
        </p:spPr>
      </p:sp>
      <p:sp>
        <p:nvSpPr>
          <p:cNvPr id="153" name="Text 52"/>
          <p:cNvSpPr txBox="1"/>
          <p:nvPr/>
        </p:nvSpPr>
        <p:spPr>
          <a:xfrm>
            <a:off x="8339328" y="4224528"/>
            <a:ext cx="3355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</a:t>
            </a:r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154" name="Shape 53"/>
          <p:cNvSpPr/>
          <p:nvPr/>
        </p:nvSpPr>
        <p:spPr>
          <a:xfrm>
            <a:off x="8357616" y="4809744"/>
            <a:ext cx="109728" cy="0"/>
          </a:xfrm>
          <a:prstGeom prst="line">
            <a:avLst/>
          </a:prstGeom>
          <a:noFill/>
          <a:ln w="12700">
            <a:solidFill>
              <a:srgbClr val="1B1D24"/>
            </a:solidFill>
            <a:prstDash val="solid"/>
          </a:ln>
        </p:spPr>
      </p:sp>
      <p:sp>
        <p:nvSpPr>
          <p:cNvPr id="155" name="goto:17">
            <a:hlinkClick r:id="rId16" action="ppaction://hlinksldjump"/>
          </p:cNvPr>
          <p:cNvSpPr/>
          <p:nvPr/>
        </p:nvSpPr>
        <p:spPr>
          <a:xfrm>
            <a:off x="8467344" y="462686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Organogram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Joy · Uzzal · 3 teams</a:t>
            </a:r>
            <a:endParaRPr lang="en-US" sz="1100" dirty="0"/>
          </a:p>
        </p:txBody>
      </p:sp>
      <p:sp>
        <p:nvSpPr>
          <p:cNvPr id="156" name="Shape 55"/>
          <p:cNvSpPr/>
          <p:nvPr/>
        </p:nvSpPr>
        <p:spPr>
          <a:xfrm>
            <a:off x="8357616" y="5221224"/>
            <a:ext cx="109728" cy="0"/>
          </a:xfrm>
          <a:prstGeom prst="line">
            <a:avLst/>
          </a:prstGeom>
          <a:noFill/>
          <a:ln w="12700">
            <a:solidFill>
              <a:srgbClr val="1B1D24"/>
            </a:solidFill>
            <a:prstDash val="solid"/>
          </a:ln>
        </p:spPr>
      </p:sp>
      <p:sp>
        <p:nvSpPr>
          <p:cNvPr id="157" name="goto:18">
            <a:hlinkClick r:id="rId17" action="ppaction://hlinksldjump"/>
          </p:cNvPr>
          <p:cNvSpPr/>
          <p:nvPr/>
        </p:nvSpPr>
        <p:spPr>
          <a:xfrm>
            <a:off x="8467344" y="5038344"/>
            <a:ext cx="3227832" cy="365760"/>
          </a:xfrm>
          <a:prstGeom prst="roundRect">
            <a:avLst>
              <a:gd name="adj" fmla="val 12500"/>
            </a:avLst>
          </a:prstGeom>
          <a:solidFill>
            <a:srgbClr val="F7F5F1"/>
          </a:solidFill>
          <a:ln w="9525">
            <a:solidFill>
              <a:srgbClr val="D9D6D0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</a:t>
            </a:r>
            <a:pPr indent="0" marL="0">
              <a:buNone/>
            </a:pPr>
            <a:r>
              <a:rPr lang="en-US" sz="1050" b="1" dirty="0">
                <a:solidFill>
                  <a:srgbClr val="1B1D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responsibilities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Team leader &amp; team member · growth plan</a:t>
            </a:r>
            <a:endParaRPr lang="en-US" sz="1100" dirty="0"/>
          </a:p>
        </p:txBody>
      </p:sp>
      <p:sp>
        <p:nvSpPr>
          <p:cNvPr id="158" name="Text 57"/>
          <p:cNvSpPr txBox="1"/>
          <p:nvPr/>
        </p:nvSpPr>
        <p:spPr>
          <a:xfrm>
            <a:off x="548640" y="6053328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box to open that page · every page has a  ◂ MAP  button (top right) to come back here.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rling Review">
  <a:themeElements>
    <a:clrScheme name="Sterling Review">
      <a:dk1>
        <a:srgbClr val="1B1D24"/>
      </a:dk1>
      <a:lt1>
        <a:srgbClr val="FFFFFF"/>
      </a:lt1>
      <a:dk2>
        <a:srgbClr val="16213E"/>
      </a:dk2>
      <a:lt2>
        <a:srgbClr val="F7F5F1"/>
      </a:lt2>
      <a:accent1>
        <a:srgbClr val="2D7BD8"/>
      </a:accent1>
      <a:accent2>
        <a:srgbClr val="E8692F"/>
      </a:accent2>
      <a:accent3>
        <a:srgbClr val="8E8A84"/>
      </a:accent3>
      <a:accent4>
        <a:srgbClr val="C9C5BE"/>
      </a:accent4>
      <a:accent5>
        <a:srgbClr val="1E9E6A"/>
      </a:accent5>
      <a:accent6>
        <a:srgbClr val="D9453B"/>
      </a:accent6>
      <a:hlink>
        <a:srgbClr val="2D7BD8"/>
      </a:hlink>
      <a:folHlink>
        <a:srgbClr val="6B6F78"/>
      </a:folHlink>
    </a:clrScheme>
    <a:fontScheme name="Sterling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Sterling Styles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Account Review</dc:title>
  <dc:subject>PptxGenJS Presentation</dc:subject>
  <dc:creator>Muhashin Joy</dc:creator>
  <cp:lastModifiedBy>Muhashin Joy</cp:lastModifiedBy>
  <cp:revision>1</cp:revision>
  <dcterms:created xsi:type="dcterms:W3CDTF">2026-10-12T04:58:50Z</dcterms:created>
  <dcterms:modified xsi:type="dcterms:W3CDTF">2026-10-12T04:58:50Z</dcterms:modified>
</cp:coreProperties>
</file>