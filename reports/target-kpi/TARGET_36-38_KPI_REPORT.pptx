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050" b="0"/>
              <a:t>Order Qty by Department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33D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E75B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9D18E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030A0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F4B183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3E6491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415 34.8%</c:v>
                </c:pt>
                <c:pt idx="1">
                  <c:v>220 30.5%</c:v>
                </c:pt>
                <c:pt idx="2">
                  <c:v>340 16.1%</c:v>
                </c:pt>
                <c:pt idx="3">
                  <c:v>290 11.3%</c:v>
                </c:pt>
                <c:pt idx="4">
                  <c:v>320 4.2%</c:v>
                </c:pt>
                <c:pt idx="5">
                  <c:v>250 1.7%</c:v>
                </c:pt>
                <c:pt idx="6">
                  <c:v>225 1.4%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416863.05462184874</c:v>
                </c:pt>
                <c:pt idx="1">
                  <c:v>365528.0</c:v>
                </c:pt>
                <c:pt idx="2">
                  <c:v>193061.0</c:v>
                </c:pt>
                <c:pt idx="3">
                  <c:v>135170.0</c:v>
                </c:pt>
                <c:pt idx="4">
                  <c:v>49888.0</c:v>
                </c:pt>
                <c:pt idx="5">
                  <c:v>20616.0</c:v>
                </c:pt>
                <c:pt idx="6">
                  <c:v>16878.0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050" b="0"/>
              <a:t>Order Qty by Product Group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33D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E75B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9D18E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030A0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F4B183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Bottom 58.0%</c:v>
                </c:pt>
                <c:pt idx="1">
                  <c:v>Short 28.3%</c:v>
                </c:pt>
                <c:pt idx="2">
                  <c:v>Outerwear 6.0%</c:v>
                </c:pt>
                <c:pt idx="3">
                  <c:v>Skirt / Dress 6.0%</c:v>
                </c:pt>
                <c:pt idx="4">
                  <c:v>Top / Shirt 1.2%</c:v>
                </c:pt>
                <c:pt idx="5">
                  <c:v>One-Piece 0.5%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694640.1428571428</c:v>
                </c:pt>
                <c:pt idx="1">
                  <c:v>338926.9117647059</c:v>
                </c:pt>
                <c:pt idx="2">
                  <c:v>72240.0</c:v>
                </c:pt>
                <c:pt idx="3">
                  <c:v>71588.0</c:v>
                </c:pt>
                <c:pt idx="4">
                  <c:v>14402.0</c:v>
                </c:pt>
                <c:pt idx="5">
                  <c:v>6207.0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vs Shipped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 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TARGET-36</c:v>
                </c:pt>
                <c:pt idx="1">
                  <c:v>TARGET-37</c:v>
                </c:pt>
                <c:pt idx="2">
                  <c:v>TARGET-38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316377.2857142857</c:v>
                </c:pt>
                <c:pt idx="1">
                  <c:v>576776.7689075631</c:v>
                </c:pt>
                <c:pt idx="2">
                  <c:v>304850.0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Shipped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Sheet1!$A$2:$A$4</c:f>
              <c:strCache>
                <c:ptCount val="3"/>
                <c:pt idx="0">
                  <c:v>TARGET-36</c:v>
                </c:pt>
                <c:pt idx="1">
                  <c:v>TARGET-37</c:v>
                </c:pt>
                <c:pt idx="2">
                  <c:v>TARGET-38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315529.2857142857</c:v>
                </c:pt>
                <c:pt idx="1">
                  <c:v>564422.1022408963</c:v>
                </c:pt>
                <c:pt idx="2">
                  <c:v>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Qty vs Shipped Qty by FFD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 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Sheet1!$A$2:$A$19</c:f>
              <c:strCache>
                <c:ptCount val="18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  <c:pt idx="10">
                  <c:v>Oct-26</c:v>
                </c:pt>
                <c:pt idx="11">
                  <c:v>Nov-26</c:v>
                </c:pt>
                <c:pt idx="12">
                  <c:v>Dec-26</c:v>
                </c:pt>
                <c:pt idx="13">
                  <c:v>Jan-27</c:v>
                </c:pt>
                <c:pt idx="14">
                  <c:v>Feb-27</c:v>
                </c:pt>
                <c:pt idx="15">
                  <c:v>Mar-27</c:v>
                </c:pt>
                <c:pt idx="16">
                  <c:v>Apr-27</c:v>
                </c:pt>
                <c:pt idx="17">
                  <c:v>May-27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87392.0</c:v>
                </c:pt>
                <c:pt idx="1">
                  <c:v>49348.0</c:v>
                </c:pt>
                <c:pt idx="2">
                  <c:v>70769.0</c:v>
                </c:pt>
                <c:pt idx="3">
                  <c:v>55872.28571428572</c:v>
                </c:pt>
                <c:pt idx="4">
                  <c:v>56286.0</c:v>
                </c:pt>
                <c:pt idx="5">
                  <c:v>47884.0</c:v>
                </c:pt>
                <c:pt idx="6">
                  <c:v>124255.66666666667</c:v>
                </c:pt>
                <c:pt idx="7">
                  <c:v>97751.33613445378</c:v>
                </c:pt>
                <c:pt idx="8">
                  <c:v>156549.3151260504</c:v>
                </c:pt>
                <c:pt idx="9">
                  <c:v>53870.0</c:v>
                </c:pt>
                <c:pt idx="10">
                  <c:v>84644.45098039215</c:v>
                </c:pt>
                <c:pt idx="11">
                  <c:v>38350.0</c:v>
                </c:pt>
                <c:pt idx="12">
                  <c:v>83188.0</c:v>
                </c:pt>
                <c:pt idx="13">
                  <c:v>63431.0</c:v>
                </c:pt>
                <c:pt idx="14">
                  <c:v>49612.0</c:v>
                </c:pt>
                <c:pt idx="15">
                  <c:v>32467.0</c:v>
                </c:pt>
                <c:pt idx="16">
                  <c:v>15996.0</c:v>
                </c:pt>
                <c:pt idx="17">
                  <c:v>4415.0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Shipped 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Sheet1!$A$2:$A$19</c:f>
              <c:strCache>
                <c:ptCount val="18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  <c:pt idx="10">
                  <c:v>Oct-26</c:v>
                </c:pt>
                <c:pt idx="11">
                  <c:v>Nov-26</c:v>
                </c:pt>
                <c:pt idx="12">
                  <c:v>Dec-26</c:v>
                </c:pt>
                <c:pt idx="13">
                  <c:v>Jan-27</c:v>
                </c:pt>
                <c:pt idx="14">
                  <c:v>Feb-27</c:v>
                </c:pt>
                <c:pt idx="15">
                  <c:v>Mar-27</c:v>
                </c:pt>
                <c:pt idx="16">
                  <c:v>Apr-27</c:v>
                </c:pt>
                <c:pt idx="17">
                  <c:v>May-27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87278.0</c:v>
                </c:pt>
                <c:pt idx="1">
                  <c:v>49020.0</c:v>
                </c:pt>
                <c:pt idx="2">
                  <c:v>70769.0</c:v>
                </c:pt>
                <c:pt idx="3">
                  <c:v>55592.28571428572</c:v>
                </c:pt>
                <c:pt idx="4">
                  <c:v>56160.0</c:v>
                </c:pt>
                <c:pt idx="5">
                  <c:v>47884.0</c:v>
                </c:pt>
                <c:pt idx="6">
                  <c:v>123512.0</c:v>
                </c:pt>
                <c:pt idx="7">
                  <c:v>95783.33613445378</c:v>
                </c:pt>
                <c:pt idx="8">
                  <c:v>156266.3151260504</c:v>
                </c:pt>
                <c:pt idx="9">
                  <c:v>53734.0</c:v>
                </c:pt>
                <c:pt idx="10">
                  <c:v>83952.45098039215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Trend Line — Monthly Order Qty (FFD)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Qty</c:v>
                </c:pt>
              </c:strCache>
            </c:strRef>
          </c:tx>
          <c:spPr>
            <a:ln w="25400">
              <a:solidFill>
                <a:srgbClr val="E8A33D"/>
              </a:solidFill>
            </a:ln>
          </c:spPr>
          <c:marker>
            <c:size val="5"/>
            <c:spPr>
              <a:solidFill>
                <a:srgbClr val="E8A33D"/>
              </a:solidFill>
              <a:ln>
                <a:solidFill>
                  <a:srgbClr val="E8A33D"/>
                </a:solidFill>
              </a:ln>
            </c:spPr>
          </c:marker>
          <c:cat>
            <c:strRef>
              <c:f>Sheet1!$A$2:$A$19</c:f>
              <c:strCache>
                <c:ptCount val="18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  <c:pt idx="10">
                  <c:v>Oct-26</c:v>
                </c:pt>
                <c:pt idx="11">
                  <c:v>Nov-26</c:v>
                </c:pt>
                <c:pt idx="12">
                  <c:v>Dec-26</c:v>
                </c:pt>
                <c:pt idx="13">
                  <c:v>Jan-27</c:v>
                </c:pt>
                <c:pt idx="14">
                  <c:v>Feb-27</c:v>
                </c:pt>
                <c:pt idx="15">
                  <c:v>Mar-27</c:v>
                </c:pt>
                <c:pt idx="16">
                  <c:v>Apr-27</c:v>
                </c:pt>
                <c:pt idx="17">
                  <c:v>May-27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87392.0</c:v>
                </c:pt>
                <c:pt idx="1">
                  <c:v>49348.0</c:v>
                </c:pt>
                <c:pt idx="2">
                  <c:v>70769.0</c:v>
                </c:pt>
                <c:pt idx="3">
                  <c:v>55872.28571428572</c:v>
                </c:pt>
                <c:pt idx="4">
                  <c:v>56286.0</c:v>
                </c:pt>
                <c:pt idx="5">
                  <c:v>47884.0</c:v>
                </c:pt>
                <c:pt idx="6">
                  <c:v>124255.66666666667</c:v>
                </c:pt>
                <c:pt idx="7">
                  <c:v>97751.33613445378</c:v>
                </c:pt>
                <c:pt idx="8">
                  <c:v>156549.3151260504</c:v>
                </c:pt>
                <c:pt idx="9">
                  <c:v>53870.0</c:v>
                </c:pt>
                <c:pt idx="10">
                  <c:v>84644.45098039215</c:v>
                </c:pt>
                <c:pt idx="11">
                  <c:v>38350.0</c:v>
                </c:pt>
                <c:pt idx="12">
                  <c:v>83188.0</c:v>
                </c:pt>
                <c:pt idx="13">
                  <c:v>63431.0</c:v>
                </c:pt>
                <c:pt idx="14">
                  <c:v>49612.0</c:v>
                </c:pt>
                <c:pt idx="15">
                  <c:v>32467.0</c:v>
                </c:pt>
                <c:pt idx="16">
                  <c:v>15996.0</c:v>
                </c:pt>
                <c:pt idx="17">
                  <c:v>4415.0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Qty vs Shipped Qty by FFD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 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87392.0</c:v>
                </c:pt>
                <c:pt idx="1">
                  <c:v>918768.0546218487</c:v>
                </c:pt>
                <c:pt idx="2">
                  <c:v>165921.0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Shipped 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Sheet1!$A$2:$A$4</c:f>
              <c:strCache>
                <c:ptCount val="3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87278.0</c:v>
                </c:pt>
                <c:pt idx="1">
                  <c:v>792673.387955182</c:v>
                </c:pt>
                <c:pt idx="2">
                  <c:v>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50" b="0"/>
              <a:t>Order Value Split by Year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33D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E75B6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2025 7.1%</c:v>
                </c:pt>
                <c:pt idx="1">
                  <c:v>2026 76.8%</c:v>
                </c:pt>
                <c:pt idx="2">
                  <c:v>2027 14.2%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771646.0769999999</c:v>
                </c:pt>
                <c:pt idx="1">
                  <c:v>8328442.535495797</c:v>
                </c:pt>
                <c:pt idx="2">
                  <c:v>1543300.755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75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Qty vs Shipped 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 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TARGET-36</c:v>
                </c:pt>
                <c:pt idx="1">
                  <c:v>TARGET-37</c:v>
                </c:pt>
                <c:pt idx="2">
                  <c:v>TARGET-38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316377.2857142857</c:v>
                </c:pt>
                <c:pt idx="1">
                  <c:v>576776.7689075631</c:v>
                </c:pt>
                <c:pt idx="2">
                  <c:v>304850.0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Shipped 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Sheet1!$A$2:$A$4</c:f>
              <c:strCache>
                <c:ptCount val="3"/>
                <c:pt idx="0">
                  <c:v>TARGET-36</c:v>
                </c:pt>
                <c:pt idx="1">
                  <c:v>TARGET-37</c:v>
                </c:pt>
                <c:pt idx="2">
                  <c:v>TARGET-38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315529.2857142857</c:v>
                </c:pt>
                <c:pt idx="1">
                  <c:v>564422.1022408963</c:v>
                </c:pt>
                <c:pt idx="2">
                  <c:v>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Value by File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 Value</c:v>
                </c:pt>
              </c:strCache>
            </c:strRef>
          </c:tx>
          <c:spPr>
            <a:solidFill>
              <a:srgbClr val="2E6B4F"/>
            </a:solidFill>
          </c:spPr>
          <c:cat>
            <c:strRef>
              <c:f>Sheet1!$A$2:$A$4</c:f>
              <c:strCache>
                <c:ptCount val="3"/>
                <c:pt idx="0">
                  <c:v>TARGET-36</c:v>
                </c:pt>
                <c:pt idx="1">
                  <c:v>TARGET-37</c:v>
                </c:pt>
                <c:pt idx="2">
                  <c:v>TARGET-38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2888121.066142857</c:v>
                </c:pt>
                <c:pt idx="1">
                  <c:v>5069297.606352941</c:v>
                </c:pt>
                <c:pt idx="2">
                  <c:v>2885605.3949999996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Ship % by department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Ship %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225</c:v>
                </c:pt>
                <c:pt idx="1">
                  <c:v>250</c:v>
                </c:pt>
                <c:pt idx="2">
                  <c:v>320</c:v>
                </c:pt>
                <c:pt idx="3">
                  <c:v>290</c:v>
                </c:pt>
                <c:pt idx="4">
                  <c:v>340</c:v>
                </c:pt>
                <c:pt idx="5">
                  <c:v>220</c:v>
                </c:pt>
                <c:pt idx="6">
                  <c:v>415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0.99903784477229</c:v>
                </c:pt>
                <c:pt idx="3">
                  <c:v>0.560420211585411</c:v>
                </c:pt>
                <c:pt idx="4">
                  <c:v>0.5274239748058903</c:v>
                </c:pt>
                <c:pt idx="5">
                  <c:v>0.7317524238909194</c:v>
                </c:pt>
                <c:pt idx="6">
                  <c:v>0.9237047603186669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Average FOB per piece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FOB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Sheet1!$A$2:$A$8</c:f>
              <c:strCache>
                <c:ptCount val="7"/>
                <c:pt idx="0">
                  <c:v>225</c:v>
                </c:pt>
                <c:pt idx="1">
                  <c:v>250</c:v>
                </c:pt>
                <c:pt idx="2">
                  <c:v>320</c:v>
                </c:pt>
                <c:pt idx="3">
                  <c:v>290</c:v>
                </c:pt>
                <c:pt idx="4">
                  <c:v>340</c:v>
                </c:pt>
                <c:pt idx="5">
                  <c:v>220</c:v>
                </c:pt>
                <c:pt idx="6">
                  <c:v>415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11.082546510250028</c:v>
                </c:pt>
                <c:pt idx="1">
                  <c:v>13.22196352347691</c:v>
                </c:pt>
                <c:pt idx="2">
                  <c:v>7.208392799871713</c:v>
                </c:pt>
                <c:pt idx="3">
                  <c:v>10.369009321595028</c:v>
                </c:pt>
                <c:pt idx="4">
                  <c:v>6.72531225881975</c:v>
                </c:pt>
                <c:pt idx="5">
                  <c:v>9.915554376135344</c:v>
                </c:pt>
                <c:pt idx="6">
                  <c:v>8.87435153218758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$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Monthly Order Qty (FFD)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Sheet1!$A$2:$A$19</c:f>
              <c:strCache>
                <c:ptCount val="18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  <c:pt idx="10">
                  <c:v>Oct-26</c:v>
                </c:pt>
                <c:pt idx="11">
                  <c:v>Nov-26</c:v>
                </c:pt>
                <c:pt idx="12">
                  <c:v>Dec-26</c:v>
                </c:pt>
                <c:pt idx="13">
                  <c:v>Jan-27</c:v>
                </c:pt>
                <c:pt idx="14">
                  <c:v>Feb-27</c:v>
                </c:pt>
                <c:pt idx="15">
                  <c:v>Mar-27</c:v>
                </c:pt>
                <c:pt idx="16">
                  <c:v>Apr-27</c:v>
                </c:pt>
                <c:pt idx="17">
                  <c:v>May-27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10914.0</c:v>
                </c:pt>
                <c:pt idx="1">
                  <c:v>13522.0</c:v>
                </c:pt>
                <c:pt idx="2">
                  <c:v>11177.0</c:v>
                </c:pt>
                <c:pt idx="3">
                  <c:v>6420.285714285715</c:v>
                </c:pt>
                <c:pt idx="4">
                  <c:v>18068.0</c:v>
                </c:pt>
                <c:pt idx="5">
                  <c:v>29848.0</c:v>
                </c:pt>
                <c:pt idx="6">
                  <c:v>81015.66666666667</c:v>
                </c:pt>
                <c:pt idx="7">
                  <c:v>50829.336134453784</c:v>
                </c:pt>
                <c:pt idx="8">
                  <c:v>85434.31512605042</c:v>
                </c:pt>
                <c:pt idx="9">
                  <c:v>28048.0</c:v>
                </c:pt>
                <c:pt idx="10">
                  <c:v>52102.450980392154</c:v>
                </c:pt>
                <c:pt idx="11">
                  <c:v>6021.0</c:v>
                </c:pt>
                <c:pt idx="12">
                  <c:v>7233.0</c:v>
                </c:pt>
                <c:pt idx="13">
                  <c:v>5080.0</c:v>
                </c:pt>
                <c:pt idx="14">
                  <c:v>4050.0</c:v>
                </c:pt>
                <c:pt idx="15">
                  <c:v>2600.0</c:v>
                </c:pt>
                <c:pt idx="16">
                  <c:v>2500.0</c:v>
                </c:pt>
                <c:pt idx="17">
                  <c:v>2000.0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T-36</c:v>
                </c:pt>
                <c:pt idx="1">
                  <c:v>T-37</c:v>
                </c:pt>
                <c:pt idx="2">
                  <c:v>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49697.28571428571</c:v>
                </c:pt>
                <c:pt idx="1">
                  <c:v>343501.768907563</c:v>
                </c:pt>
                <c:pt idx="2">
                  <c:v>23664.0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Top Product Types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Sheet1!$A$2:$A$7</c:f>
              <c:strCache>
                <c:ptCount val="6"/>
                <c:pt idx="0">
                  <c:v>Straight Fit Jean</c:v>
                </c:pt>
                <c:pt idx="1">
                  <c:v>Chino Short</c:v>
                </c:pt>
                <c:pt idx="2">
                  <c:v>Cargo Short</c:v>
                </c:pt>
                <c:pt idx="3">
                  <c:v>Linen Pant</c:v>
                </c:pt>
                <c:pt idx="4">
                  <c:v>Textured Cotton Short</c:v>
                </c:pt>
                <c:pt idx="5">
                  <c:v>Linen Short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29362.0</c:v>
                </c:pt>
                <c:pt idx="1">
                  <c:v>36190.0</c:v>
                </c:pt>
                <c:pt idx="2">
                  <c:v>44596.666666666664</c:v>
                </c:pt>
                <c:pt idx="3">
                  <c:v>47393.0</c:v>
                </c:pt>
                <c:pt idx="4">
                  <c:v>70500.91176470589</c:v>
                </c:pt>
                <c:pt idx="5">
                  <c:v>100796.0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Monthly Order Qty (FFD)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Sheet1!$A$2:$A$17</c:f>
              <c:strCache>
                <c:ptCount val="16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  <c:pt idx="10">
                  <c:v>Oct-26</c:v>
                </c:pt>
                <c:pt idx="11">
                  <c:v>Nov-26</c:v>
                </c:pt>
                <c:pt idx="12">
                  <c:v>Dec-26</c:v>
                </c:pt>
                <c:pt idx="13">
                  <c:v>Jan-27</c:v>
                </c:pt>
                <c:pt idx="14">
                  <c:v>Feb-27</c:v>
                </c:pt>
                <c:pt idx="15">
                  <c:v>Mar-27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34116.0</c:v>
                </c:pt>
                <c:pt idx="1">
                  <c:v>15700.0</c:v>
                </c:pt>
                <c:pt idx="2">
                  <c:v>19216.0</c:v>
                </c:pt>
                <c:pt idx="3">
                  <c:v>26488.0</c:v>
                </c:pt>
                <c:pt idx="4">
                  <c:v>18212.0</c:v>
                </c:pt>
                <c:pt idx="5">
                  <c:v>8828.0</c:v>
                </c:pt>
                <c:pt idx="6">
                  <c:v>34834.0</c:v>
                </c:pt>
                <c:pt idx="7">
                  <c:v>38034.0</c:v>
                </c:pt>
                <c:pt idx="8">
                  <c:v>40870.0</c:v>
                </c:pt>
                <c:pt idx="9">
                  <c:v>14912.0</c:v>
                </c:pt>
                <c:pt idx="10">
                  <c:v>18430.0</c:v>
                </c:pt>
                <c:pt idx="11">
                  <c:v>12410.0</c:v>
                </c:pt>
                <c:pt idx="12">
                  <c:v>27614.0</c:v>
                </c:pt>
                <c:pt idx="13">
                  <c:v>10546.0</c:v>
                </c:pt>
                <c:pt idx="14">
                  <c:v>13687.0</c:v>
                </c:pt>
                <c:pt idx="15">
                  <c:v>10208.0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T-36</c:v>
                </c:pt>
                <c:pt idx="1">
                  <c:v>T-37</c:v>
                </c:pt>
                <c:pt idx="2">
                  <c:v>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118242.0</c:v>
                </c:pt>
                <c:pt idx="1">
                  <c:v>153606.0</c:v>
                </c:pt>
                <c:pt idx="2">
                  <c:v>93680.0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Top Product Types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Sheet1!$A$2:$A$7</c:f>
              <c:strCache>
                <c:ptCount val="6"/>
                <c:pt idx="0">
                  <c:v>Wide Leg Jean</c:v>
                </c:pt>
                <c:pt idx="1">
                  <c:v>Bermuda Short</c:v>
                </c:pt>
                <c:pt idx="2">
                  <c:v>Slouch Fit Jean</c:v>
                </c:pt>
                <c:pt idx="3">
                  <c:v>Shacket</c:v>
                </c:pt>
                <c:pt idx="4">
                  <c:v>Barrel Fit Jean</c:v>
                </c:pt>
                <c:pt idx="5">
                  <c:v>Jegging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29708.0</c:v>
                </c:pt>
                <c:pt idx="1">
                  <c:v>38044.0</c:v>
                </c:pt>
                <c:pt idx="2">
                  <c:v>38932.0</c:v>
                </c:pt>
                <c:pt idx="3">
                  <c:v>44822.0</c:v>
                </c:pt>
                <c:pt idx="4">
                  <c:v>57924.0</c:v>
                </c:pt>
                <c:pt idx="5">
                  <c:v>72768.0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Monthly Order Qty (FFD)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Sheet1!$A$2:$A$19</c:f>
              <c:strCache>
                <c:ptCount val="18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  <c:pt idx="10">
                  <c:v>Oct-26</c:v>
                </c:pt>
                <c:pt idx="11">
                  <c:v>Nov-26</c:v>
                </c:pt>
                <c:pt idx="12">
                  <c:v>Dec-26</c:v>
                </c:pt>
                <c:pt idx="13">
                  <c:v>Jan-27</c:v>
                </c:pt>
                <c:pt idx="14">
                  <c:v>Feb-27</c:v>
                </c:pt>
                <c:pt idx="15">
                  <c:v>Mar-27</c:v>
                </c:pt>
                <c:pt idx="16">
                  <c:v>Apr-27</c:v>
                </c:pt>
                <c:pt idx="17">
                  <c:v>May-27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17916.0</c:v>
                </c:pt>
                <c:pt idx="1">
                  <c:v>15614.0</c:v>
                </c:pt>
                <c:pt idx="2">
                  <c:v>22297.0</c:v>
                </c:pt>
                <c:pt idx="3">
                  <c:v>9504.0</c:v>
                </c:pt>
                <c:pt idx="4">
                  <c:v>12814.0</c:v>
                </c:pt>
                <c:pt idx="5">
                  <c:v>4804.0</c:v>
                </c:pt>
                <c:pt idx="6">
                  <c:v>2200.0</c:v>
                </c:pt>
                <c:pt idx="7">
                  <c:v>1496.0</c:v>
                </c:pt>
                <c:pt idx="8">
                  <c:v>11910.0</c:v>
                </c:pt>
                <c:pt idx="9">
                  <c:v>1500.0</c:v>
                </c:pt>
                <c:pt idx="10">
                  <c:v>1908.0</c:v>
                </c:pt>
                <c:pt idx="11">
                  <c:v>6307.0</c:v>
                </c:pt>
                <c:pt idx="12">
                  <c:v>20731.0</c:v>
                </c:pt>
                <c:pt idx="13">
                  <c:v>27127.0</c:v>
                </c:pt>
                <c:pt idx="14">
                  <c:v>11571.0</c:v>
                </c:pt>
                <c:pt idx="15">
                  <c:v>14355.0</c:v>
                </c:pt>
                <c:pt idx="16">
                  <c:v>9492.0</c:v>
                </c:pt>
                <c:pt idx="17">
                  <c:v>1515.0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T-36</c:v>
                </c:pt>
                <c:pt idx="1">
                  <c:v>T-37</c:v>
                </c:pt>
                <c:pt idx="2">
                  <c:v>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78145.0</c:v>
                </c:pt>
                <c:pt idx="1">
                  <c:v>23818.0</c:v>
                </c:pt>
                <c:pt idx="2">
                  <c:v>91098.0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Top Product Types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Sheet1!$A$2:$A$7</c:f>
              <c:strCache>
                <c:ptCount val="6"/>
                <c:pt idx="0">
                  <c:v>Denim Jacket</c:v>
                </c:pt>
                <c:pt idx="1">
                  <c:v>Denim Skirt</c:v>
                </c:pt>
                <c:pt idx="2">
                  <c:v>Fashion Jean - Up Hem</c:v>
                </c:pt>
                <c:pt idx="3">
                  <c:v>Wide Leg Jean</c:v>
                </c:pt>
                <c:pt idx="4">
                  <c:v>Straight Fit Jean</c:v>
                </c:pt>
                <c:pt idx="5">
                  <c:v>Barrel Fit Jean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12418.0</c:v>
                </c:pt>
                <c:pt idx="1">
                  <c:v>15318.0</c:v>
                </c:pt>
                <c:pt idx="2">
                  <c:v>26015.0</c:v>
                </c:pt>
                <c:pt idx="3">
                  <c:v>34558.0</c:v>
                </c:pt>
                <c:pt idx="4">
                  <c:v>38290.0</c:v>
                </c:pt>
                <c:pt idx="5">
                  <c:v>49947.0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Monthly Order Qty (FFD)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Sheet1!$A$2:$A$19</c:f>
              <c:strCache>
                <c:ptCount val="18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  <c:pt idx="6">
                  <c:v>Jun-26</c:v>
                </c:pt>
                <c:pt idx="7">
                  <c:v>Jul-26</c:v>
                </c:pt>
                <c:pt idx="8">
                  <c:v>Aug-26</c:v>
                </c:pt>
                <c:pt idx="9">
                  <c:v>Sep-26</c:v>
                </c:pt>
                <c:pt idx="10">
                  <c:v>Oct-26</c:v>
                </c:pt>
                <c:pt idx="11">
                  <c:v>Nov-26</c:v>
                </c:pt>
                <c:pt idx="12">
                  <c:v>Dec-26</c:v>
                </c:pt>
                <c:pt idx="13">
                  <c:v>Jan-27</c:v>
                </c:pt>
                <c:pt idx="14">
                  <c:v>Feb-27</c:v>
                </c:pt>
                <c:pt idx="15">
                  <c:v>Mar-27</c:v>
                </c:pt>
                <c:pt idx="16">
                  <c:v>Apr-27</c:v>
                </c:pt>
                <c:pt idx="17">
                  <c:v>May-27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13710.0</c:v>
                </c:pt>
                <c:pt idx="1">
                  <c:v>500.0</c:v>
                </c:pt>
                <c:pt idx="2">
                  <c:v>9295.0</c:v>
                </c:pt>
                <c:pt idx="3">
                  <c:v>9110.0</c:v>
                </c:pt>
                <c:pt idx="4">
                  <c:v>3196.0</c:v>
                </c:pt>
                <c:pt idx="5">
                  <c:v>4404.0</c:v>
                </c:pt>
                <c:pt idx="6">
                  <c:v>2302.0</c:v>
                </c:pt>
                <c:pt idx="7">
                  <c:v>7392.0</c:v>
                </c:pt>
                <c:pt idx="8">
                  <c:v>11327.0</c:v>
                </c:pt>
                <c:pt idx="9">
                  <c:v>7810.0</c:v>
                </c:pt>
                <c:pt idx="10">
                  <c:v>6706.0</c:v>
                </c:pt>
                <c:pt idx="11">
                  <c:v>9008.0</c:v>
                </c:pt>
                <c:pt idx="12">
                  <c:v>15300.0</c:v>
                </c:pt>
                <c:pt idx="13">
                  <c:v>11306.0</c:v>
                </c:pt>
                <c:pt idx="14">
                  <c:v>14904.0</c:v>
                </c:pt>
                <c:pt idx="15">
                  <c:v>1800.0</c:v>
                </c:pt>
                <c:pt idx="16">
                  <c:v>1700.0</c:v>
                </c:pt>
                <c:pt idx="17">
                  <c:v>900.0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T-36</c:v>
                </c:pt>
                <c:pt idx="1">
                  <c:v>T-37</c:v>
                </c:pt>
                <c:pt idx="2">
                  <c:v>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38415.0</c:v>
                </c:pt>
                <c:pt idx="1">
                  <c:v>37841.0</c:v>
                </c:pt>
                <c:pt idx="2">
                  <c:v>58914.0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Top Product Types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Sheet1!$A$2:$A$7</c:f>
              <c:strCache>
                <c:ptCount val="6"/>
                <c:pt idx="0">
                  <c:v>Bermuda Short</c:v>
                </c:pt>
                <c:pt idx="1">
                  <c:v>Midi Skirt</c:v>
                </c:pt>
                <c:pt idx="2">
                  <c:v>Jegging</c:v>
                </c:pt>
                <c:pt idx="3">
                  <c:v>Wide Leg Jean</c:v>
                </c:pt>
                <c:pt idx="4">
                  <c:v>Slouch Fit Jean</c:v>
                </c:pt>
                <c:pt idx="5">
                  <c:v>Barrel Fit Jean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5304.0</c:v>
                </c:pt>
                <c:pt idx="1">
                  <c:v>7420.0</c:v>
                </c:pt>
                <c:pt idx="2">
                  <c:v>14120.0</c:v>
                </c:pt>
                <c:pt idx="3">
                  <c:v>18503.0</c:v>
                </c:pt>
                <c:pt idx="4">
                  <c:v>22299.0</c:v>
                </c:pt>
                <c:pt idx="5">
                  <c:v>53024.0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Monthly Order Qty (FFD)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Sheet1!$A$2:$A$10</c:f>
              <c:strCache>
                <c:ptCount val="9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Jun-26</c:v>
                </c:pt>
                <c:pt idx="6">
                  <c:v>Aug-26</c:v>
                </c:pt>
                <c:pt idx="7">
                  <c:v>Sep-26</c:v>
                </c:pt>
                <c:pt idx="8">
                  <c:v>Oct-26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10736.0</c:v>
                </c:pt>
                <c:pt idx="1">
                  <c:v>4012.0</c:v>
                </c:pt>
                <c:pt idx="2">
                  <c:v>8784.0</c:v>
                </c:pt>
                <c:pt idx="3">
                  <c:v>4350.0</c:v>
                </c:pt>
                <c:pt idx="4">
                  <c:v>3996.0</c:v>
                </c:pt>
                <c:pt idx="5">
                  <c:v>3904.0</c:v>
                </c:pt>
                <c:pt idx="6">
                  <c:v>7008.0</c:v>
                </c:pt>
                <c:pt idx="7">
                  <c:v>1600.0</c:v>
                </c:pt>
                <c:pt idx="8">
                  <c:v>5498.0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T-36</c:v>
                </c:pt>
                <c:pt idx="1">
                  <c:v>T-37</c:v>
                </c:pt>
                <c:pt idx="2">
                  <c:v>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31878.0</c:v>
                </c:pt>
                <c:pt idx="1">
                  <c:v>18010.0</c:v>
                </c:pt>
                <c:pt idx="2">
                  <c:v>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Top Product Types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Sheet1!$A$2:$A$4</c:f>
              <c:strCache>
                <c:ptCount val="3"/>
                <c:pt idx="0">
                  <c:v>Pull-on Jean</c:v>
                </c:pt>
                <c:pt idx="1">
                  <c:v>Denim Skirt</c:v>
                </c:pt>
                <c:pt idx="2">
                  <c:v>Wide Leg Cargo Jean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6000.0</c:v>
                </c:pt>
                <c:pt idx="1">
                  <c:v>15946.0</c:v>
                </c:pt>
                <c:pt idx="2">
                  <c:v>27942.0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Monthly Order Qty (FFD)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Dec-26</c:v>
                </c:pt>
                <c:pt idx="1">
                  <c:v>Jan-27</c:v>
                </c:pt>
                <c:pt idx="2">
                  <c:v>Feb-27</c:v>
                </c:pt>
                <c:pt idx="3">
                  <c:v>Mar-27</c:v>
                </c:pt>
                <c:pt idx="4">
                  <c:v>Apr-27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10816.0</c:v>
                </c:pt>
                <c:pt idx="1">
                  <c:v>4400.0</c:v>
                </c:pt>
                <c:pt idx="2">
                  <c:v>1800.0</c:v>
                </c:pt>
                <c:pt idx="3">
                  <c:v>1800.0</c:v>
                </c:pt>
                <c:pt idx="4">
                  <c:v>1800.0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T-36</c:v>
                </c:pt>
                <c:pt idx="1">
                  <c:v>T-37</c:v>
                </c:pt>
                <c:pt idx="2">
                  <c:v>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20616.0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Top Product Types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Sheet1!$A$2:$A$3</c:f>
              <c:strCache>
                <c:ptCount val="2"/>
                <c:pt idx="0">
                  <c:v>Bootcut Jean</c:v>
                </c:pt>
                <c:pt idx="1">
                  <c:v>Slim Fit Jean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7808.0</c:v>
                </c:pt>
                <c:pt idx="1">
                  <c:v>12808.0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Qty vs Shipped Qty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 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FY26/Q3</c:v>
                </c:pt>
                <c:pt idx="1">
                  <c:v>FY26/Q4</c:v>
                </c:pt>
                <c:pt idx="2">
                  <c:v>FY27/Q1</c:v>
                </c:pt>
                <c:pt idx="3">
                  <c:v>FY27/Q2</c:v>
                </c:pt>
                <c:pt idx="4">
                  <c:v>FY27/Q3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233430.2857142857</c:v>
                </c:pt>
                <c:pt idx="1">
                  <c:v>82947.0</c:v>
                </c:pt>
                <c:pt idx="2">
                  <c:v>287667.7675070028</c:v>
                </c:pt>
                <c:pt idx="3">
                  <c:v>291317.00140056026</c:v>
                </c:pt>
                <c:pt idx="4">
                  <c:v>302642.0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Shipped Qty</c:v>
                </c:pt>
              </c:strCache>
            </c:strRef>
          </c:tx>
          <c:spPr>
            <a:solidFill>
              <a:srgbClr val="A9D18E"/>
            </a:solidFill>
          </c:spPr>
          <c:cat>
            <c:strRef>
              <c:f>Sheet1!$A$2:$A$6</c:f>
              <c:strCache>
                <c:ptCount val="5"/>
                <c:pt idx="0">
                  <c:v>FY26/Q3</c:v>
                </c:pt>
                <c:pt idx="1">
                  <c:v>FY26/Q4</c:v>
                </c:pt>
                <c:pt idx="2">
                  <c:v>FY27/Q1</c:v>
                </c:pt>
                <c:pt idx="3">
                  <c:v>FY27/Q2</c:v>
                </c:pt>
                <c:pt idx="4">
                  <c:v>FY27/Q3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232782.2857142857</c:v>
                </c:pt>
                <c:pt idx="1">
                  <c:v>82747.0</c:v>
                </c:pt>
                <c:pt idx="2">
                  <c:v>283515.1008403361</c:v>
                </c:pt>
                <c:pt idx="3">
                  <c:v>280907.00140056026</c:v>
                </c:pt>
                <c:pt idx="4">
                  <c:v>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Qty by Merchandiser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7030A0"/>
            </a:solidFill>
          </c:spPr>
          <c:cat>
            <c:strRef>
              <c:f>Sheet1!$A$2:$A$7</c:f>
              <c:strCache>
                <c:ptCount val="6"/>
                <c:pt idx="0">
                  <c:v>Redwan Ahmed</c:v>
                </c:pt>
                <c:pt idx="1">
                  <c:v>Nitu Saha</c:v>
                </c:pt>
                <c:pt idx="2">
                  <c:v>Asifa Zaman</c:v>
                </c:pt>
                <c:pt idx="3">
                  <c:v>Toufiq Mustafiz</c:v>
                </c:pt>
                <c:pt idx="4">
                  <c:v>Fahima Sorna</c:v>
                </c:pt>
                <c:pt idx="5">
                  <c:v>Anmol Abonee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6098.0</c:v>
                </c:pt>
                <c:pt idx="1">
                  <c:v>49888.0</c:v>
                </c:pt>
                <c:pt idx="2">
                  <c:v>145950.0</c:v>
                </c:pt>
                <c:pt idx="3">
                  <c:v>193061.0</c:v>
                </c:pt>
                <c:pt idx="4">
                  <c:v>386144.0</c:v>
                </c:pt>
                <c:pt idx="5">
                  <c:v>416863.05462184874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Top 16 Product Types by Order Qty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Sheet1!$A$2:$A$17</c:f>
              <c:strCache>
                <c:ptCount val="16"/>
                <c:pt idx="0">
                  <c:v>Denim Short</c:v>
                </c:pt>
                <c:pt idx="1">
                  <c:v>Pull-on Jean</c:v>
                </c:pt>
                <c:pt idx="2">
                  <c:v>Denim Skirt</c:v>
                </c:pt>
                <c:pt idx="3">
                  <c:v>Slim Fit Jean</c:v>
                </c:pt>
                <c:pt idx="4">
                  <c:v>Chino Short</c:v>
                </c:pt>
                <c:pt idx="5">
                  <c:v>Bermuda Short</c:v>
                </c:pt>
                <c:pt idx="6">
                  <c:v>Cargo Short</c:v>
                </c:pt>
                <c:pt idx="7">
                  <c:v>Linen Pant</c:v>
                </c:pt>
                <c:pt idx="8">
                  <c:v>Shacket</c:v>
                </c:pt>
                <c:pt idx="9">
                  <c:v>Slouch Fit Jean</c:v>
                </c:pt>
                <c:pt idx="10">
                  <c:v>Straight Fit Jean</c:v>
                </c:pt>
                <c:pt idx="11">
                  <c:v>Textured Cotton Short</c:v>
                </c:pt>
                <c:pt idx="12">
                  <c:v>Wide Leg Jean</c:v>
                </c:pt>
                <c:pt idx="13">
                  <c:v>Jegging</c:v>
                </c:pt>
                <c:pt idx="14">
                  <c:v>Linen Short</c:v>
                </c:pt>
                <c:pt idx="15">
                  <c:v>Barrel Fit Jean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28364.0</c:v>
                </c:pt>
                <c:pt idx="1">
                  <c:v>28706.0</c:v>
                </c:pt>
                <c:pt idx="2">
                  <c:v>31264.0</c:v>
                </c:pt>
                <c:pt idx="3">
                  <c:v>32734.0</c:v>
                </c:pt>
                <c:pt idx="4">
                  <c:v>36190.0</c:v>
                </c:pt>
                <c:pt idx="5">
                  <c:v>43348.0</c:v>
                </c:pt>
                <c:pt idx="6">
                  <c:v>44596.66666666667</c:v>
                </c:pt>
                <c:pt idx="7">
                  <c:v>47393.0</c:v>
                </c:pt>
                <c:pt idx="8">
                  <c:v>48822.0</c:v>
                </c:pt>
                <c:pt idx="9">
                  <c:v>61231.0</c:v>
                </c:pt>
                <c:pt idx="10">
                  <c:v>67652.0</c:v>
                </c:pt>
                <c:pt idx="11">
                  <c:v>70500.91176470589</c:v>
                </c:pt>
                <c:pt idx="12">
                  <c:v>82769.0</c:v>
                </c:pt>
                <c:pt idx="13">
                  <c:v>86888.0</c:v>
                </c:pt>
                <c:pt idx="14">
                  <c:v>100796.0</c:v>
                </c:pt>
                <c:pt idx="15">
                  <c:v>160895.0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050" b="0"/>
              <a:t>Order Qty Share by Product Group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33D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E75B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9D18E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030A0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F4B183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Bottom 58.0%</c:v>
                </c:pt>
                <c:pt idx="1">
                  <c:v>Short 28.3%</c:v>
                </c:pt>
                <c:pt idx="2">
                  <c:v>Outerwear 6.0%</c:v>
                </c:pt>
                <c:pt idx="3">
                  <c:v>Skirt / Dress 6.0%</c:v>
                </c:pt>
                <c:pt idx="4">
                  <c:v>Top / Shirt 1.2%</c:v>
                </c:pt>
                <c:pt idx="5">
                  <c:v>One-Piece 0.5%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694640.1428571428</c:v>
                </c:pt>
                <c:pt idx="1">
                  <c:v>338926.9117647059</c:v>
                </c:pt>
                <c:pt idx="2">
                  <c:v>72240.0</c:v>
                </c:pt>
                <c:pt idx="3">
                  <c:v>71588.0</c:v>
                </c:pt>
                <c:pt idx="4">
                  <c:v>14402.0</c:v>
                </c:pt>
                <c:pt idx="5">
                  <c:v>6207.0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Value by Product Group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Sheet1!$A$2:$A$7</c:f>
              <c:strCache>
                <c:ptCount val="6"/>
                <c:pt idx="0">
                  <c:v>Bottom</c:v>
                </c:pt>
                <c:pt idx="1">
                  <c:v>Short</c:v>
                </c:pt>
                <c:pt idx="2">
                  <c:v>Outerwear</c:v>
                </c:pt>
                <c:pt idx="3">
                  <c:v>Skirt / Dress</c:v>
                </c:pt>
                <c:pt idx="4">
                  <c:v>Top / Shirt</c:v>
                </c:pt>
                <c:pt idx="5">
                  <c:v>One-Piece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6565432.675142857</c:v>
                </c:pt>
                <c:pt idx="1">
                  <c:v>2734958.2123529413</c:v>
                </c:pt>
                <c:pt idx="2">
                  <c:v>818318.4</c:v>
                </c:pt>
                <c:pt idx="3">
                  <c:v>547489.8</c:v>
                </c:pt>
                <c:pt idx="4">
                  <c:v>127168.98</c:v>
                </c:pt>
                <c:pt idx="5">
                  <c:v>49656.0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SMV value per minute — before vs after the floor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Rate before</c:v>
                </c:pt>
              </c:strCache>
            </c:strRef>
          </c:tx>
          <c:spPr>
            <a:solidFill>
              <a:srgbClr val="B3261E"/>
            </a:solidFill>
          </c:spPr>
          <c:cat>
            <c:strRef>
              <c:f>Sheet1!$A$2:$A$10</c:f>
              <c:strCache>
                <c:ptCount val="9"/>
                <c:pt idx="0">
                  <c:v>4150332746P</c:v>
                </c:pt>
                <c:pt idx="1">
                  <c:v>4150326197</c:v>
                </c:pt>
                <c:pt idx="2">
                  <c:v>2200334751B</c:v>
                </c:pt>
                <c:pt idx="3">
                  <c:v>2200336905A</c:v>
                </c:pt>
                <c:pt idx="4">
                  <c:v>4150319304</c:v>
                </c:pt>
                <c:pt idx="5">
                  <c:v>4150320825P</c:v>
                </c:pt>
                <c:pt idx="6">
                  <c:v>4150326214</c:v>
                </c:pt>
                <c:pt idx="7">
                  <c:v>2200334756</c:v>
                </c:pt>
                <c:pt idx="8">
                  <c:v>4150339326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0.04934602677202902</c:v>
                </c:pt>
                <c:pt idx="1">
                  <c:v>0.051514731328534215</c:v>
                </c:pt>
                <c:pt idx="2">
                  <c:v>0.05947980151197255</c:v>
                </c:pt>
                <c:pt idx="3">
                  <c:v>0.06360710221123703</c:v>
                </c:pt>
                <c:pt idx="4">
                  <c:v>0.06351864423826406</c:v>
                </c:pt>
                <c:pt idx="5">
                  <c:v>0.06884290450219227</c:v>
                </c:pt>
                <c:pt idx="6">
                  <c:v>0.06417146595817458</c:v>
                </c:pt>
                <c:pt idx="7">
                  <c:v>0.06647984588662838</c:v>
                </c:pt>
                <c:pt idx="8">
                  <c:v>0.06676778673451497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Rate after</c:v>
                </c:pt>
              </c:strCache>
            </c:strRef>
          </c:tx>
          <c:spPr>
            <a:solidFill>
              <a:srgbClr val="2E6B4F"/>
            </a:solidFill>
          </c:spPr>
          <c:cat>
            <c:strRef>
              <c:f>Sheet1!$A$2:$A$10</c:f>
              <c:strCache>
                <c:ptCount val="9"/>
                <c:pt idx="0">
                  <c:v>4150332746P</c:v>
                </c:pt>
                <c:pt idx="1">
                  <c:v>4150326197</c:v>
                </c:pt>
                <c:pt idx="2">
                  <c:v>2200334751B</c:v>
                </c:pt>
                <c:pt idx="3">
                  <c:v>2200336905A</c:v>
                </c:pt>
                <c:pt idx="4">
                  <c:v>4150319304</c:v>
                </c:pt>
                <c:pt idx="5">
                  <c:v>4150320825P</c:v>
                </c:pt>
                <c:pt idx="6">
                  <c:v>4150326214</c:v>
                </c:pt>
                <c:pt idx="7">
                  <c:v>2200334756</c:v>
                </c:pt>
                <c:pt idx="8">
                  <c:v>4150339326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0.08</c:v>
                </c:pt>
                <c:pt idx="1">
                  <c:v>0.08</c:v>
                </c:pt>
                <c:pt idx="2">
                  <c:v>0.08</c:v>
                </c:pt>
                <c:pt idx="3">
                  <c:v>0.08</c:v>
                </c:pt>
                <c:pt idx="4">
                  <c:v>0.08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$0.0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50" b="0"/>
              <a:t>Efficiency vs SMV value — one dot per style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Styles</c:v>
                </c:pt>
              </c:strCache>
            </c:strRef>
          </c:tx>
          <c:spPr>
            <a:ln w="47625">
              <a:noFill/>
            </a:ln>
          </c:spPr>
          <c:marker>
            <c:size val="6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marker>
          <c:xVal>
            <c:numRef>
              <c:f>Sheet1!$A$2:$A$96</c:f>
              <c:numCache>
                <c:formatCode>General</c:formatCode>
                <c:ptCount val="95"/>
                <c:pt idx="0">
                  <c:v>77.94247938799055</c:v>
                </c:pt>
                <c:pt idx="1">
                  <c:v>75.21678387017458</c:v>
                </c:pt>
                <c:pt idx="2">
                  <c:v>79.14477465173451</c:v>
                </c:pt>
                <c:pt idx="3">
                  <c:v>68.26003761669885</c:v>
                </c:pt>
                <c:pt idx="4">
                  <c:v>75.07305228001498</c:v>
                </c:pt>
                <c:pt idx="5">
                  <c:v>70.2818752379202</c:v>
                </c:pt>
                <c:pt idx="6">
                  <c:v>77.34188814929006</c:v>
                </c:pt>
                <c:pt idx="7">
                  <c:v>74.16342873176205</c:v>
                </c:pt>
                <c:pt idx="8">
                  <c:v>74.08877092119053</c:v>
                </c:pt>
                <c:pt idx="9">
                  <c:v>76.26126467784498</c:v>
                </c:pt>
                <c:pt idx="10">
                  <c:v>82.28836805555554</c:v>
                </c:pt>
                <c:pt idx="11">
                  <c:v>72.68317718054</c:v>
                </c:pt>
                <c:pt idx="12">
                  <c:v>70.63489505247375</c:v>
                </c:pt>
                <c:pt idx="13">
                  <c:v>78.58238455715367</c:v>
                </c:pt>
                <c:pt idx="14">
                  <c:v>66.14613636363636</c:v>
                </c:pt>
                <c:pt idx="15">
                  <c:v>58.19850574712644</c:v>
                </c:pt>
                <c:pt idx="16">
                  <c:v>68.00815665780537</c:v>
                </c:pt>
                <c:pt idx="17">
                  <c:v>60.37335968379446</c:v>
                </c:pt>
                <c:pt idx="18">
                  <c:v>76.1811855417391</c:v>
                </c:pt>
                <c:pt idx="19">
                  <c:v>62.53308943089431</c:v>
                </c:pt>
                <c:pt idx="20">
                  <c:v>62.05297959183673</c:v>
                </c:pt>
                <c:pt idx="21">
                  <c:v>64.31612334801761</c:v>
                </c:pt>
                <c:pt idx="22">
                  <c:v>57.98508960573477</c:v>
                </c:pt>
                <c:pt idx="23">
                  <c:v>69.77091462596444</c:v>
                </c:pt>
                <c:pt idx="24">
                  <c:v>72.44162037037036</c:v>
                </c:pt>
                <c:pt idx="25">
                  <c:v>67.3135687869511</c:v>
                </c:pt>
                <c:pt idx="26">
                  <c:v>73.5367</c:v>
                </c:pt>
                <c:pt idx="27">
                  <c:v>81.39326633165828</c:v>
                </c:pt>
                <c:pt idx="28">
                  <c:v>60.572383419689125</c:v>
                </c:pt>
                <c:pt idx="29">
                  <c:v>69.41016759776537</c:v>
                </c:pt>
                <c:pt idx="30">
                  <c:v>76.54994382022473</c:v>
                </c:pt>
                <c:pt idx="31">
                  <c:v>58.40207865168541</c:v>
                </c:pt>
                <c:pt idx="32">
                  <c:v>72.71433874709977</c:v>
                </c:pt>
                <c:pt idx="33">
                  <c:v>67.62736842105262</c:v>
                </c:pt>
                <c:pt idx="34">
                  <c:v>73.19730994152047</c:v>
                </c:pt>
                <c:pt idx="35">
                  <c:v>56.08759048249913</c:v>
                </c:pt>
                <c:pt idx="36">
                  <c:v>71.54910256410257</c:v>
                </c:pt>
                <c:pt idx="37">
                  <c:v>70.04958620689654</c:v>
                </c:pt>
                <c:pt idx="38">
                  <c:v>67.68307692307692</c:v>
                </c:pt>
                <c:pt idx="39">
                  <c:v>69.78303703703703</c:v>
                </c:pt>
                <c:pt idx="40">
                  <c:v>56.10970370370371</c:v>
                </c:pt>
                <c:pt idx="41">
                  <c:v>55.04328244274809</c:v>
                </c:pt>
                <c:pt idx="42">
                  <c:v>80.51809160305345</c:v>
                </c:pt>
                <c:pt idx="43">
                  <c:v>49.53325581395349</c:v>
                </c:pt>
                <c:pt idx="44">
                  <c:v>74.59718749999999</c:v>
                </c:pt>
                <c:pt idx="45">
                  <c:v>77.64874015748032</c:v>
                </c:pt>
                <c:pt idx="46">
                  <c:v>62.44359621451105</c:v>
                </c:pt>
                <c:pt idx="47">
                  <c:v>89.73730964467006</c:v>
                </c:pt>
                <c:pt idx="48">
                  <c:v>60.340037669132506</c:v>
                </c:pt>
                <c:pt idx="49">
                  <c:v>71.32991304347826</c:v>
                </c:pt>
                <c:pt idx="50">
                  <c:v>60.943274336283196</c:v>
                </c:pt>
                <c:pt idx="51">
                  <c:v>63.866964285714275</c:v>
                </c:pt>
                <c:pt idx="52">
                  <c:v>62.877292747087566</c:v>
                </c:pt>
                <c:pt idx="53">
                  <c:v>52.285294117647055</c:v>
                </c:pt>
                <c:pt idx="54">
                  <c:v>67.32382352941175</c:v>
                </c:pt>
                <c:pt idx="55">
                  <c:v>55.4362</c:v>
                </c:pt>
                <c:pt idx="56">
                  <c:v>74.52443298969072</c:v>
                </c:pt>
                <c:pt idx="57">
                  <c:v>80.71524163436578</c:v>
                </c:pt>
                <c:pt idx="58">
                  <c:v>74.42133333333334</c:v>
                </c:pt>
                <c:pt idx="59">
                  <c:v>68.03044444444444</c:v>
                </c:pt>
                <c:pt idx="60">
                  <c:v>66.81213483146068</c:v>
                </c:pt>
                <c:pt idx="61">
                  <c:v>71.92023255813955</c:v>
                </c:pt>
                <c:pt idx="62">
                  <c:v>66.94321428571428</c:v>
                </c:pt>
                <c:pt idx="63">
                  <c:v>60.40804878048781</c:v>
                </c:pt>
                <c:pt idx="64">
                  <c:v>61.6</c:v>
                </c:pt>
                <c:pt idx="65">
                  <c:v>64.01354430379746</c:v>
                </c:pt>
                <c:pt idx="66">
                  <c:v>81.35</c:v>
                </c:pt>
                <c:pt idx="67">
                  <c:v>51.99083333333333</c:v>
                </c:pt>
                <c:pt idx="68">
                  <c:v>81.99869565217391</c:v>
                </c:pt>
                <c:pt idx="69">
                  <c:v>66.4602985074627</c:v>
                </c:pt>
                <c:pt idx="70">
                  <c:v>71.9990909090909</c:v>
                </c:pt>
                <c:pt idx="71">
                  <c:v>64.84307692307692</c:v>
                </c:pt>
                <c:pt idx="72">
                  <c:v>52.81136645962733</c:v>
                </c:pt>
                <c:pt idx="73">
                  <c:v>66.83467741935483</c:v>
                </c:pt>
                <c:pt idx="74">
                  <c:v>69.36256287888519</c:v>
                </c:pt>
                <c:pt idx="75">
                  <c:v>44.67216666666666</c:v>
                </c:pt>
                <c:pt idx="76">
                  <c:v>52.46750402576489</c:v>
                </c:pt>
                <c:pt idx="77">
                  <c:v>70.9775</c:v>
                </c:pt>
                <c:pt idx="78">
                  <c:v>54.010000000000005</c:v>
                </c:pt>
                <c:pt idx="79">
                  <c:v>47.88345454545455</c:v>
                </c:pt>
                <c:pt idx="80">
                  <c:v>50.586481481481485</c:v>
                </c:pt>
                <c:pt idx="81">
                  <c:v>64.30777777777777</c:v>
                </c:pt>
                <c:pt idx="82">
                  <c:v>63.160000000000004</c:v>
                </c:pt>
                <c:pt idx="83">
                  <c:v>64.8308695652174</c:v>
                </c:pt>
                <c:pt idx="84">
                  <c:v>75.47565217391305</c:v>
                </c:pt>
                <c:pt idx="85">
                  <c:v>77.73363636363638</c:v>
                </c:pt>
                <c:pt idx="86">
                  <c:v>71.41999999999999</c:v>
                </c:pt>
                <c:pt idx="87">
                  <c:v>41.5264705882353</c:v>
                </c:pt>
                <c:pt idx="88">
                  <c:v>79.17999999999999</c:v>
                </c:pt>
                <c:pt idx="89">
                  <c:v>72.22</c:v>
                </c:pt>
                <c:pt idx="90">
                  <c:v>61.370000000000005</c:v>
                </c:pt>
                <c:pt idx="91">
                  <c:v>65.03</c:v>
                </c:pt>
                <c:pt idx="92">
                  <c:v>58.15</c:v>
                </c:pt>
                <c:pt idx="93">
                  <c:v>60.29</c:v>
                </c:pt>
                <c:pt idx="94">
                  <c:v>35.22875816993464</c:v>
                </c:pt>
              </c:numCache>
            </c:numRef>
          </c:xVal>
          <c:yVal>
            <c:numRef>
              <c:f>Sheet1!$B$2:$B$96</c:f>
              <c:numCache>
                <c:formatCode>General</c:formatCode>
                <c:ptCount val="95"/>
                <c:pt idx="0">
                  <c:v>0.07295272545487129</c:v>
                </c:pt>
                <c:pt idx="1">
                  <c:v>0.08636393462327187</c:v>
                </c:pt>
                <c:pt idx="2">
                  <c:v>0.08272073182007987</c:v>
                </c:pt>
                <c:pt idx="3">
                  <c:v>0.07211705589209054</c:v>
                </c:pt>
                <c:pt idx="4">
                  <c:v>0.06862048098119043</c:v>
                </c:pt>
                <c:pt idx="5">
                  <c:v>0.06796949403318338</c:v>
                </c:pt>
                <c:pt idx="6">
                  <c:v>0.07223139858880129</c:v>
                </c:pt>
                <c:pt idx="7">
                  <c:v>0.06417146595817458</c:v>
                </c:pt>
                <c:pt idx="8">
                  <c:v>0.07562589250380906</c:v>
                </c:pt>
                <c:pt idx="9">
                  <c:v>0.06962783901812489</c:v>
                </c:pt>
                <c:pt idx="10">
                  <c:v>0.06843683612704539</c:v>
                </c:pt>
                <c:pt idx="11">
                  <c:v>0.051514731328534215</c:v>
                </c:pt>
                <c:pt idx="12">
                  <c:v>0.07940086338464221</c:v>
                </c:pt>
                <c:pt idx="13">
                  <c:v>0.08499988846858737</c:v>
                </c:pt>
                <c:pt idx="14">
                  <c:v>0.07443961191033792</c:v>
                </c:pt>
                <c:pt idx="15">
                  <c:v>0.07180325049445352</c:v>
                </c:pt>
                <c:pt idx="16">
                  <c:v>0.07448779424585877</c:v>
                </c:pt>
                <c:pt idx="17">
                  <c:v>0.07041521033624164</c:v>
                </c:pt>
                <c:pt idx="18">
                  <c:v>0.08169223344153079</c:v>
                </c:pt>
                <c:pt idx="19">
                  <c:v>0.09350229172283633</c:v>
                </c:pt>
                <c:pt idx="20">
                  <c:v>0.07336573945388682</c:v>
                </c:pt>
                <c:pt idx="21">
                  <c:v>0.07374513316394611</c:v>
                </c:pt>
                <c:pt idx="22">
                  <c:v>0.07950735996311786</c:v>
                </c:pt>
                <c:pt idx="23">
                  <c:v>0.08032383487748919</c:v>
                </c:pt>
                <c:pt idx="24">
                  <c:v>0.08137321307618266</c:v>
                </c:pt>
                <c:pt idx="25">
                  <c:v>0.08309861597267122</c:v>
                </c:pt>
                <c:pt idx="26">
                  <c:v>0.07445062152539196</c:v>
                </c:pt>
                <c:pt idx="27">
                  <c:v>0.08174993838407338</c:v>
                </c:pt>
                <c:pt idx="28">
                  <c:v>0.07916453541955908</c:v>
                </c:pt>
                <c:pt idx="29">
                  <c:v>0.08021662949984071</c:v>
                </c:pt>
                <c:pt idx="30">
                  <c:v>0.07968135941999777</c:v>
                </c:pt>
                <c:pt idx="31">
                  <c:v>0.06884290450219227</c:v>
                </c:pt>
                <c:pt idx="32">
                  <c:v>0.06647984588662838</c:v>
                </c:pt>
                <c:pt idx="33">
                  <c:v>0.08292385333015213</c:v>
                </c:pt>
                <c:pt idx="34">
                  <c:v>0.07865143837046971</c:v>
                </c:pt>
                <c:pt idx="35">
                  <c:v>0.09149659863945578</c:v>
                </c:pt>
                <c:pt idx="36">
                  <c:v>0.06951252116567151</c:v>
                </c:pt>
                <c:pt idx="37">
                  <c:v>0.07673714979231124</c:v>
                </c:pt>
                <c:pt idx="38">
                  <c:v>0.08127349972170725</c:v>
                </c:pt>
                <c:pt idx="39">
                  <c:v>0.07209205248734098</c:v>
                </c:pt>
                <c:pt idx="40">
                  <c:v>0.07720761004229383</c:v>
                </c:pt>
                <c:pt idx="41">
                  <c:v>0.091574061576761</c:v>
                </c:pt>
                <c:pt idx="42">
                  <c:v>0.08641344823917438</c:v>
                </c:pt>
                <c:pt idx="43">
                  <c:v>0.07361510108948995</c:v>
                </c:pt>
                <c:pt idx="44">
                  <c:v>0.08182662863299314</c:v>
                </c:pt>
                <c:pt idx="45">
                  <c:v>0.07419996859709649</c:v>
                </c:pt>
                <c:pt idx="46">
                  <c:v>0.08181016404682086</c:v>
                </c:pt>
                <c:pt idx="47">
                  <c:v>0.07773400539154135</c:v>
                </c:pt>
                <c:pt idx="48">
                  <c:v>0.10002150358319911</c:v>
                </c:pt>
                <c:pt idx="49">
                  <c:v>0.06798354882570032</c:v>
                </c:pt>
                <c:pt idx="50">
                  <c:v>0.07792732896212219</c:v>
                </c:pt>
                <c:pt idx="51">
                  <c:v>0.07567469496983716</c:v>
                </c:pt>
                <c:pt idx="52">
                  <c:v>0.07102689100641722</c:v>
                </c:pt>
                <c:pt idx="53">
                  <c:v>0.07781896771675996</c:v>
                </c:pt>
                <c:pt idx="54">
                  <c:v>0.0751526538280883</c:v>
                </c:pt>
                <c:pt idx="55">
                  <c:v>0.08099607944509069</c:v>
                </c:pt>
                <c:pt idx="56">
                  <c:v>0.10404420409122972</c:v>
                </c:pt>
                <c:pt idx="57">
                  <c:v>0.06676778673451497</c:v>
                </c:pt>
                <c:pt idx="58">
                  <c:v>0.07807636439095247</c:v>
                </c:pt>
                <c:pt idx="59">
                  <c:v>0.0789476746215515</c:v>
                </c:pt>
                <c:pt idx="60">
                  <c:v>0.11607001462519445</c:v>
                </c:pt>
                <c:pt idx="61">
                  <c:v>0.07999821487898368</c:v>
                </c:pt>
                <c:pt idx="62">
                  <c:v>0.08285704791652822</c:v>
                </c:pt>
                <c:pt idx="63">
                  <c:v>0.07170608002598408</c:v>
                </c:pt>
                <c:pt idx="64">
                  <c:v>0.06351864423826406</c:v>
                </c:pt>
                <c:pt idx="65">
                  <c:v>0.07222072898528707</c:v>
                </c:pt>
                <c:pt idx="66">
                  <c:v>0.07106831728564879</c:v>
                </c:pt>
                <c:pt idx="67">
                  <c:v>0.05947980151197255</c:v>
                </c:pt>
                <c:pt idx="68">
                  <c:v>0.08212452577549655</c:v>
                </c:pt>
                <c:pt idx="69">
                  <c:v>0.1019058613071166</c:v>
                </c:pt>
                <c:pt idx="70">
                  <c:v>0.0705408128988915</c:v>
                </c:pt>
                <c:pt idx="71">
                  <c:v>0.09111794712043923</c:v>
                </c:pt>
                <c:pt idx="72">
                  <c:v>0.072124321510893</c:v>
                </c:pt>
                <c:pt idx="73">
                  <c:v>0.06884140385618903</c:v>
                </c:pt>
                <c:pt idx="74">
                  <c:v>0.04934602677202902</c:v>
                </c:pt>
                <c:pt idx="75">
                  <c:v>0.08711217183770882</c:v>
                </c:pt>
                <c:pt idx="76">
                  <c:v>0.08644536652835408</c:v>
                </c:pt>
                <c:pt idx="77">
                  <c:v>0.06671019889522264</c:v>
                </c:pt>
                <c:pt idx="78">
                  <c:v>0.10782829558017876</c:v>
                </c:pt>
                <c:pt idx="79">
                  <c:v>0.06885010121098051</c:v>
                </c:pt>
                <c:pt idx="80">
                  <c:v>0.06360710221123703</c:v>
                </c:pt>
                <c:pt idx="81">
                  <c:v>0.06926659777448294</c:v>
                </c:pt>
                <c:pt idx="82">
                  <c:v>0.10043041606886657</c:v>
                </c:pt>
                <c:pt idx="83">
                  <c:v>0.07339927121290994</c:v>
                </c:pt>
                <c:pt idx="84">
                  <c:v>0.07173121890328592</c:v>
                </c:pt>
                <c:pt idx="85">
                  <c:v>0.09981881073958161</c:v>
                </c:pt>
                <c:pt idx="86">
                  <c:v>0.06767586821015138</c:v>
                </c:pt>
                <c:pt idx="87">
                  <c:v>0.09274387313791446</c:v>
                </c:pt>
                <c:pt idx="88">
                  <c:v>0.08328995314940135</c:v>
                </c:pt>
                <c:pt idx="89">
                  <c:v>0.08021108179419525</c:v>
                </c:pt>
                <c:pt idx="90">
                  <c:v>0.08021108179419525</c:v>
                </c:pt>
                <c:pt idx="91">
                  <c:v>0.08670520231213871</c:v>
                </c:pt>
                <c:pt idx="92">
                  <c:v>0.07256235827664399</c:v>
                </c:pt>
                <c:pt idx="93">
                  <c:v>0.07949412827461608</c:v>
                </c:pt>
                <c:pt idx="94">
                  <c:v>0.12653061224489798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00"/>
                  <a:t>Line efficiency %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$0.000" sourceLinked="0"/>
        <c:majorTickMark val="out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Qty by month — 2025 to 2027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2E75B6"/>
              </a:solidFill>
            </a:ln>
          </c:spPr>
          <c:marker>
            <c:size val="5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1">
                  <c:v>87392.0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ln w="25400">
              <a:solidFill>
                <a:srgbClr val="1F3864"/>
              </a:solidFill>
            </a:ln>
          </c:spPr>
          <c:marker>
            <c:size val="5"/>
            <c:spPr>
              <a:solidFill>
                <a:srgbClr val="1F3864"/>
              </a:solidFill>
              <a:ln>
                <a:solidFill>
                  <a:srgbClr val="1F386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49348.0</c:v>
                </c:pt>
                <c:pt idx="1">
                  <c:v>70769.0</c:v>
                </c:pt>
                <c:pt idx="2">
                  <c:v>55872.28571428571</c:v>
                </c:pt>
                <c:pt idx="3">
                  <c:v>56286.0</c:v>
                </c:pt>
                <c:pt idx="4">
                  <c:v>47884.0</c:v>
                </c:pt>
                <c:pt idx="5">
                  <c:v>124255.66666666667</c:v>
                </c:pt>
                <c:pt idx="6">
                  <c:v>97751.33613445377</c:v>
                </c:pt>
                <c:pt idx="7">
                  <c:v>156549.31512605044</c:v>
                </c:pt>
                <c:pt idx="8">
                  <c:v>53870.0</c:v>
                </c:pt>
                <c:pt idx="9">
                  <c:v>84644.45098039215</c:v>
                </c:pt>
                <c:pt idx="10">
                  <c:v>38350.0</c:v>
                </c:pt>
                <c:pt idx="11">
                  <c:v>83188.0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</c:v>
                </c:pt>
              </c:strCache>
            </c:strRef>
          </c:tx>
          <c:spPr>
            <a:ln w="25400">
              <a:solidFill>
                <a:srgbClr val="E8A33D"/>
              </a:solidFill>
            </a:ln>
          </c:spPr>
          <c:marker>
            <c:size val="5"/>
            <c:spPr>
              <a:solidFill>
                <a:srgbClr val="E8A33D"/>
              </a:solidFill>
              <a:ln>
                <a:solidFill>
                  <a:srgbClr val="E8A33D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63431.0</c:v>
                </c:pt>
                <c:pt idx="1">
                  <c:v>49612.0</c:v>
                </c:pt>
                <c:pt idx="2">
                  <c:v>32467.0</c:v>
                </c:pt>
                <c:pt idx="3">
                  <c:v>15996.0</c:v>
                </c:pt>
                <c:pt idx="4">
                  <c:v>4415.0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Order 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 Qty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TARGET-36</c:v>
                </c:pt>
                <c:pt idx="1">
                  <c:v>TARGET-37</c:v>
                </c:pt>
                <c:pt idx="2">
                  <c:v>TARGET-38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316377.2857142857</c:v>
                </c:pt>
                <c:pt idx="1">
                  <c:v>576776.7689075631</c:v>
                </c:pt>
                <c:pt idx="2">
                  <c:v>304850.0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Average FOB by file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FOB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Sheet1!$A$2:$A$4</c:f>
              <c:strCache>
                <c:ptCount val="3"/>
                <c:pt idx="0">
                  <c:v>TARGET-36</c:v>
                </c:pt>
                <c:pt idx="1">
                  <c:v>TARGET-37</c:v>
                </c:pt>
                <c:pt idx="2">
                  <c:v>TARGET-38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9.12872445827563</c:v>
                </c:pt>
                <c:pt idx="1">
                  <c:v>8.789011415897319</c:v>
                </c:pt>
                <c:pt idx="2">
                  <c:v>9.46565653600131</c:v>
                </c:pt>
              </c:numCache>
            </c:numRef>
          </c:val>
        </c:ser>
        <c:dLbls>
          <c:numFmt formatCode="$0.00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$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/>
              <a:t>Departments — order qty by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TARGET-36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415</c:v>
                </c:pt>
                <c:pt idx="1">
                  <c:v>220</c:v>
                </c:pt>
                <c:pt idx="2">
                  <c:v>340</c:v>
                </c:pt>
                <c:pt idx="3">
                  <c:v>290</c:v>
                </c:pt>
                <c:pt idx="4">
                  <c:v>320</c:v>
                </c:pt>
                <c:pt idx="5">
                  <c:v>250</c:v>
                </c:pt>
                <c:pt idx="6">
                  <c:v>225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49697.28571428571</c:v>
                </c:pt>
                <c:pt idx="1">
                  <c:v>118242.0</c:v>
                </c:pt>
                <c:pt idx="2">
                  <c:v>78145.0</c:v>
                </c:pt>
                <c:pt idx="3">
                  <c:v>38415.0</c:v>
                </c:pt>
                <c:pt idx="4">
                  <c:v>31878.0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TARGET-37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Sheet1!$A$2:$A$8</c:f>
              <c:strCache>
                <c:ptCount val="7"/>
                <c:pt idx="0">
                  <c:v>415</c:v>
                </c:pt>
                <c:pt idx="1">
                  <c:v>220</c:v>
                </c:pt>
                <c:pt idx="2">
                  <c:v>340</c:v>
                </c:pt>
                <c:pt idx="3">
                  <c:v>290</c:v>
                </c:pt>
                <c:pt idx="4">
                  <c:v>320</c:v>
                </c:pt>
                <c:pt idx="5">
                  <c:v>250</c:v>
                </c:pt>
                <c:pt idx="6">
                  <c:v>225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343501.768907563</c:v>
                </c:pt>
                <c:pt idx="1">
                  <c:v>153606.0</c:v>
                </c:pt>
                <c:pt idx="2">
                  <c:v>23818.0</c:v>
                </c:pt>
                <c:pt idx="3">
                  <c:v>37841.0</c:v>
                </c:pt>
                <c:pt idx="4">
                  <c:v>18010.0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TARGET-38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Sheet1!$A$2:$A$8</c:f>
              <c:strCache>
                <c:ptCount val="7"/>
                <c:pt idx="0">
                  <c:v>415</c:v>
                </c:pt>
                <c:pt idx="1">
                  <c:v>220</c:v>
                </c:pt>
                <c:pt idx="2">
                  <c:v>340</c:v>
                </c:pt>
                <c:pt idx="3">
                  <c:v>290</c:v>
                </c:pt>
                <c:pt idx="4">
                  <c:v>320</c:v>
                </c:pt>
                <c:pt idx="5">
                  <c:v>250</c:v>
                </c:pt>
                <c:pt idx="6">
                  <c:v>225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23664.0</c:v>
                </c:pt>
                <c:pt idx="1">
                  <c:v>93680.0</c:v>
                </c:pt>
                <c:pt idx="2">
                  <c:v>91098.0</c:v>
                </c:pt>
                <c:pt idx="3">
                  <c:v>58914.0</c:v>
                </c:pt>
                <c:pt idx="4">
                  <c:v>0.0</c:v>
                </c:pt>
                <c:pt idx="5">
                  <c:v>20616.0</c:v>
                </c:pt>
                <c:pt idx="6">
                  <c:v>16878.0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FC3D8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1620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14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8.xml"/><Relationship Id="rId12" Type="http://schemas.openxmlformats.org/officeDocument/2006/relationships/slide" Target="slide20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slide" Target="slide25.xml"/><Relationship Id="rId17" Type="http://schemas.openxmlformats.org/officeDocument/2006/relationships/slide" Target="slide26.xml"/><Relationship Id="rId18" Type="http://schemas.openxmlformats.org/officeDocument/2006/relationships/slide" Target="slide27.xml"/><Relationship Id="rId19" Type="http://schemas.openxmlformats.org/officeDocument/2006/relationships/slide" Target="slide2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slide" Target="slide2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Relationship Id="rId3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Relationship Id="rId3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Relationship Id="rId3" Type="http://schemas.openxmlformats.org/officeDocument/2006/relationships/chart" Target="../charts/chart39.xml"/><Relationship Id="rId4" Type="http://schemas.openxmlformats.org/officeDocument/2006/relationships/slide" Target="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Relationship Id="rId3" Type="http://schemas.openxmlformats.org/officeDocument/2006/relationships/slide" Target="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777240"/>
            <a:ext cx="2926080" cy="329184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95528"/>
            <a:ext cx="292608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TARGET AUSTRALIA KPI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TARGET  ORDER  BOOK  ·  FILE 36–38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C9D6E8"/>
                </a:solidFill>
                <a:latin typeface="Arial"/>
              </a:rPr>
              <a:t>Sterling Styles Limited  ·  TARGET-36, TARGET-37, TARGET-38  ·  FFD Dec-2025 to May-2027  ·  872 order lines  ·  Order Status 26-Oct-26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3464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E8A33D"/>
                </a:solidFill>
                <a:latin typeface="Arial"/>
              </a:rPr>
              <a:t>1,198,004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0156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C9D6E8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283464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297180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E8A33D"/>
                </a:solidFill>
                <a:latin typeface="Arial"/>
              </a:rPr>
              <a:t>$10,843,024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340156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C9D6E8"/>
                </a:solidFill>
                <a:latin typeface="Arial"/>
              </a:rPr>
              <a:t>ORDER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283464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97180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E8A33D"/>
                </a:solidFill>
                <a:latin typeface="Arial"/>
              </a:rPr>
              <a:t>$9.051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4" y="340156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C9D6E8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5896" y="283464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25896" y="297180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E8A33D"/>
                </a:solidFill>
                <a:latin typeface="Arial"/>
              </a:rPr>
              <a:t>135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340156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C9D6E8"/>
                </a:solidFill>
                <a:latin typeface="Arial"/>
              </a:rPr>
              <a:t>STYLES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36408" y="283464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297180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E8A33D"/>
                </a:solidFill>
                <a:latin typeface="Arial"/>
              </a:rPr>
              <a:t>73.5%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401568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C9D6E8"/>
                </a:solidFill>
                <a:latin typeface="Arial"/>
              </a:rPr>
              <a:t>SHIPPED</a:t>
            </a:r>
          </a:p>
        </p:txBody>
      </p:sp>
      <p:sp>
        <p:nvSpPr>
          <p:cNvPr id="21" name="Rounded Rectangle 20">
            <a:hlinkClick action="ppaction://hlinksldjump" r:id="rId2"/>
          </p:cNvPr>
          <p:cNvSpPr/>
          <p:nvPr/>
        </p:nvSpPr>
        <p:spPr>
          <a:xfrm>
            <a:off x="594360" y="4251960"/>
            <a:ext cx="3108960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79392"/>
            <a:ext cx="310896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ENTER  ▶   OPEN CONTROL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3434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AFC3D8"/>
                </a:solidFill>
                <a:latin typeface="Arial"/>
              </a:rPr>
              <a:t>Slide Show mode: click any button to jump to that 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35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FA6BF"/>
                </a:solidFill>
                <a:latin typeface="Arial"/>
              </a:rPr>
              <a:t>Sources: TARGET UPDATED ORDER STATUS-26.10.26.xlsx (FILE = TARGET-36/37/38)  ·  Buyer wise average CM &amp; earned report-2026 (sheet "2026", Target rows)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CONTROL 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Slide Show mode → click any button to jump to that view. Every view has a ◀ CONTROL PANEL button to come back.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502920" y="1234440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930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Whole 3-file order book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4270248" y="1234440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30759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28930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MONTH-WISE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58191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18 months, bar + trend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8037576" y="1234440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130759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6216" y="128930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YEAR-WISE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6216" y="158191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2025 to 2027 (FFD)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02920" y="2020824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09397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075688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FILE-WISE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68296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TARGET-36, 37, 38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4270248" y="2020824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209397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075688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DEPARTMENT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368296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Comparison + 6 drill-downs</a:t>
            </a:r>
          </a:p>
        </p:txBody>
      </p:sp>
      <p:sp>
        <p:nvSpPr>
          <p:cNvPr id="24" name="Rounded Rectangle 23">
            <a:hlinkClick action="ppaction://hlinksldjump" r:id="rId7"/>
          </p:cNvPr>
          <p:cNvSpPr/>
          <p:nvPr/>
        </p:nvSpPr>
        <p:spPr>
          <a:xfrm>
            <a:off x="8037576" y="2020824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2093976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2075688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368296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5 buyer seasons</a:t>
            </a:r>
          </a:p>
        </p:txBody>
      </p:sp>
      <p:sp>
        <p:nvSpPr>
          <p:cNvPr id="28" name="Rounded Rectangle 27">
            <a:hlinkClick action="ppaction://hlinksldjump" r:id="rId8"/>
          </p:cNvPr>
          <p:cNvSpPr/>
          <p:nvPr/>
        </p:nvSpPr>
        <p:spPr>
          <a:xfrm>
            <a:off x="502920" y="2807208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88036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286207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MERCHANDISER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154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Who carries the book</a:t>
            </a:r>
          </a:p>
        </p:txBody>
      </p:sp>
      <p:sp>
        <p:nvSpPr>
          <p:cNvPr id="32" name="Rounded Rectangle 31">
            <a:hlinkClick action="ppaction://hlinksldjump" r:id="rId9"/>
          </p:cNvPr>
          <p:cNvSpPr/>
          <p:nvPr/>
        </p:nvSpPr>
        <p:spPr>
          <a:xfrm>
            <a:off x="4270248" y="2807208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288036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8" y="286207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PRODUCT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154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All 33 types we make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8037576" y="2807208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29016" y="288036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286207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PRODUCT GROUPS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216" y="31546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6 product families</a:t>
            </a:r>
          </a:p>
        </p:txBody>
      </p:sp>
      <p:sp>
        <p:nvSpPr>
          <p:cNvPr id="40" name="Rounded Rectangle 39">
            <a:hlinkClick action="ppaction://hlinksldjump" r:id="rId11"/>
          </p:cNvPr>
          <p:cNvSpPr/>
          <p:nvPr/>
        </p:nvSpPr>
        <p:spPr>
          <a:xfrm>
            <a:off x="502920" y="3593592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666744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3648456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SMV &amp; 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394106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Corrected to $0.080 / minute</a:t>
            </a:r>
          </a:p>
        </p:txBody>
      </p:sp>
      <p:sp>
        <p:nvSpPr>
          <p:cNvPr id="44" name="Rounded Rectangle 43">
            <a:hlinkClick action="ppaction://hlinksldjump" r:id="rId12"/>
          </p:cNvPr>
          <p:cNvSpPr/>
          <p:nvPr/>
        </p:nvSpPr>
        <p:spPr>
          <a:xfrm>
            <a:off x="4270248" y="3593592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61688" y="3666744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3648456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CM · SMV · EFFICIENCY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394106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Bands, best &amp; worst, style table</a:t>
            </a:r>
          </a:p>
        </p:txBody>
      </p:sp>
      <p:sp>
        <p:nvSpPr>
          <p:cNvPr id="48" name="Rounded Rectangle 47">
            <a:hlinkClick action="ppaction://hlinksldjump" r:id="rId13"/>
          </p:cNvPr>
          <p:cNvSpPr/>
          <p:nvPr/>
        </p:nvSpPr>
        <p:spPr>
          <a:xfrm>
            <a:off x="8037576" y="3593592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29016" y="3666744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86216" y="3648456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MONTH × YEAR TREND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86216" y="394106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Every year on one chart</a:t>
            </a:r>
          </a:p>
        </p:txBody>
      </p:sp>
      <p:sp>
        <p:nvSpPr>
          <p:cNvPr id="52" name="Rounded Rectangle 51">
            <a:hlinkClick action="ppaction://hlinksldjump" r:id="rId14"/>
          </p:cNvPr>
          <p:cNvSpPr/>
          <p:nvPr/>
        </p:nvSpPr>
        <p:spPr>
          <a:xfrm>
            <a:off x="502920" y="4379976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45312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44348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FILE ON FILE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4727448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36 → 37 → 38 growth, FOB, styles</a:t>
            </a:r>
          </a:p>
        </p:txBody>
      </p:sp>
      <p:sp>
        <p:nvSpPr>
          <p:cNvPr id="56" name="Rounded Rectangle 55">
            <a:hlinkClick action="ppaction://hlinksldjump" r:id="rId15"/>
          </p:cNvPr>
          <p:cNvSpPr/>
          <p:nvPr/>
        </p:nvSpPr>
        <p:spPr>
          <a:xfrm>
            <a:off x="4270248" y="4379976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61688" y="445312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8888" y="44348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FILE ON FILE BY DEPT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18888" y="4727448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Who is growing, who left</a:t>
            </a:r>
          </a:p>
        </p:txBody>
      </p:sp>
      <p:sp>
        <p:nvSpPr>
          <p:cNvPr id="60" name="Rounded Rectangle 59">
            <a:hlinkClick action="ppaction://hlinksldjump" r:id="rId16"/>
          </p:cNvPr>
          <p:cNvSpPr/>
          <p:nvPr/>
        </p:nvSpPr>
        <p:spPr>
          <a:xfrm>
            <a:off x="8037576" y="4379976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29016" y="445312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86216" y="44348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STYLE RANKING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86216" y="4727448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Which styles carry the qty</a:t>
            </a:r>
          </a:p>
        </p:txBody>
      </p:sp>
      <p:sp>
        <p:nvSpPr>
          <p:cNvPr id="64" name="Rounded Rectangle 63">
            <a:hlinkClick action="ppaction://hlinksldjump" r:id="rId17"/>
          </p:cNvPr>
          <p:cNvSpPr/>
          <p:nvPr/>
        </p:nvSpPr>
        <p:spPr>
          <a:xfrm>
            <a:off x="502920" y="5166360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2395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" y="522122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PRODUCT TYPE SCORECARD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" y="551383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The numbers behind the SWOT</a:t>
            </a:r>
          </a:p>
        </p:txBody>
      </p:sp>
      <p:sp>
        <p:nvSpPr>
          <p:cNvPr id="68" name="Rounded Rectangle 67">
            <a:hlinkClick action="ppaction://hlinksldjump" r:id="rId18"/>
          </p:cNvPr>
          <p:cNvSpPr/>
          <p:nvPr/>
        </p:nvSpPr>
        <p:spPr>
          <a:xfrm>
            <a:off x="4270248" y="5166360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61688" y="52395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18888" y="522122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SWOT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18888" y="551383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By product type / description</a:t>
            </a:r>
          </a:p>
        </p:txBody>
      </p:sp>
      <p:sp>
        <p:nvSpPr>
          <p:cNvPr id="72" name="Rounded Rectangle 71">
            <a:hlinkClick action="ppaction://hlinksldjump" r:id="rId19"/>
          </p:cNvPr>
          <p:cNvSpPr/>
          <p:nvPr/>
        </p:nvSpPr>
        <p:spPr>
          <a:xfrm>
            <a:off x="8037576" y="5166360"/>
            <a:ext cx="3611880" cy="676656"/>
          </a:xfrm>
          <a:prstGeom prst="roundRect">
            <a:avLst>
              <a:gd name="adj" fmla="val 8000"/>
            </a:avLst>
          </a:prstGeom>
          <a:solidFill>
            <a:srgbClr val="2A4A73"/>
          </a:solidFill>
          <a:ln w="9525">
            <a:solidFill>
              <a:srgbClr val="3E6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29016" y="52395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E8A33D"/>
                </a:solidFill>
                <a:latin typeface="Arial"/>
              </a:rPr>
              <a:t>18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86216" y="5221224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DATA QUALITY &amp; ACTIONS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86216" y="5513832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FC3D8"/>
                </a:solidFill>
                <a:latin typeface="Arial"/>
              </a:rPr>
              <a:t>What to fix next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8FA6BF"/>
                </a:solidFill>
                <a:latin typeface="Arial"/>
              </a:rPr>
              <a:t>Sterling Styles Limited  ·  Target File 36–38  ·  1,198,004 pcs  ·  $10,843,024  ·  135 styles  ·  872 order 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Order Book Overview — TARGET-36 to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Three files from the 26-Oct-26 order status  ·  872 order lines  ·  all periods on FFD basis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1,198,004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$10,843,024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VALUE (USD)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$9.051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879,951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4,671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(PCS)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313,382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TO 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98192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8192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911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COLOURS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0624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4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6344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 × COLOUR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668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PO NUMBERS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5488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SEASONS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92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792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64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PRODUCT TYPES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2834640"/>
          <a:ext cx="384048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4160520" y="2834640"/>
          <a:ext cx="384048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046720" y="2834640"/>
          <a:ext cx="39319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365760" y="6327648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Ship coverage 73.5%  ·  short ship 0.5% of shipped-line qty  ·  balance 313,382 pcs  ·  6 merchandisers across 3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Month-wise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FFD basis  ·  Dec-2025 to May-2027 across 18 months  ·  3 lines with FFD = TBA not shown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1161288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3657600"/>
          <a:ext cx="1161288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327648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Peak month is Aug-26 at 156,549 pcs. From Nov-26 onward nothing is shipped yet — that is the TARGET-38 forward 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Year-wise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FFD basis  ·  2025 (Dec only) to 2027 (Jan–May)  ·  TBA = FFD not given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60350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0" y="960120"/>
          <a:ext cx="530352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114800"/>
          <a:ext cx="11430000" cy="1234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Value (USD)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87,392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$771,646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$8.830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87,278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918,768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$8,328,443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$9.065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792,673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4,557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121,538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86.3%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165,921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$1,543,301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$9.301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165,921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1,198,004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$10,843,024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$9.051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879,951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4,671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313,382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73.5%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2026 carries 76.7% of the three-file qty. 2027 is the open forward book (165,921 pcs) with nothing shipped.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File-wise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TARGET-36, TARGET-37, TARGET-38  ·  FY26/Q3 to FY27/Q3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58521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960120"/>
          <a:ext cx="55778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251960"/>
          <a:ext cx="11429993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39090"/>
                <a:gridCol w="1228016"/>
                <a:gridCol w="1416942"/>
                <a:gridCol w="944628"/>
                <a:gridCol w="755702"/>
                <a:gridCol w="1039090"/>
                <a:gridCol w="755702"/>
                <a:gridCol w="944628"/>
                <a:gridCol w="661239"/>
                <a:gridCol w="661239"/>
                <a:gridCol w="850165"/>
                <a:gridCol w="566776"/>
                <a:gridCol w="566776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FFD range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Seasons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Qty Share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Value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TARGET-36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Dec-25 – Jul-26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FY26/Q3, FY26/Q4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316,377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26.4%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$2,888,121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$9.129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315,529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99.7%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TARGET-37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Apr-26 – Dec-26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FY27/Q1, FY27/Q2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576,777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48.1%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$5,069,298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$8.789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564,422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97.9%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3,823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8,532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TARGET-38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Nov-26 – May-27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FY27/Q2, FY27/Q3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304,850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25.4%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$2,885,605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$9.466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304,850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Dec-2025 – May-2027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1,198,004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$10,843,024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$9.051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879,951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73.5%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4,671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313,382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TARGET-36 is closed (99.7% shipped). TARGET-37 has 8,532 pcs still open. TARGET-38 is the whole forward book: 304,850 pcs, nothing shipped.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Department Comparison — who is performing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Ranked on order qty  ·  Ship % and Short % are the delivery columns, Avg FOB and Value Share the earning columns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14400"/>
          <a:ext cx="576072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914400"/>
          <a:ext cx="576072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91840"/>
          <a:ext cx="11429993" cy="17556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93818"/>
                <a:gridCol w="1039090"/>
                <a:gridCol w="831272"/>
                <a:gridCol w="1350818"/>
                <a:gridCol w="831272"/>
                <a:gridCol w="831272"/>
                <a:gridCol w="623454"/>
                <a:gridCol w="1039090"/>
                <a:gridCol w="727363"/>
                <a:gridCol w="727363"/>
                <a:gridCol w="935181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Department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Qty Share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Order Value (USD)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Value Share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415 - MENS SMART CASUAL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416,863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34.8%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$3,699,389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$8.874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385,058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92.4%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2,321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29,484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220 - WW CASUAL KNIT &amp; DENIM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365,528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30.5%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$3,624,413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$9.916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33.4%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267,476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73.2%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2,164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95,888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340 - GIRLS 1-8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193,061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16.1%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$1,298,396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$6.725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101,825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52.7%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91,098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290 - WW SPECIALITY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135,170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11.3%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$1,401,579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$10.369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12.9%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75,752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56.0%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59,418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320 - GIRLS 7-16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49,888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$359,612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$7.208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49,840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250 - WW LILY LOVES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20,616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$272,584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$13.222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20,616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225 - WW CASUAL WOVENS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16,878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$187,051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$11.083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16,878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138928"/>
            <a:ext cx="54864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Arial"/>
              </a:rPr>
              <a:t>DRILL DOWN — TOP 6 DEPARTMENTS  ▾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365760" y="5413248"/>
            <a:ext cx="1783080" cy="5486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431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415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416,863 pcs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2286000" y="5413248"/>
            <a:ext cx="1783080" cy="5486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5431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220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365,528 pcs</a:t>
            </a:r>
          </a:p>
        </p:txBody>
      </p:sp>
      <p:sp>
        <p:nvSpPr>
          <p:cNvPr id="14" name="Rounded Rectangle 13">
            <a:hlinkClick action="ppaction://hlinksldjump" r:id="rId7"/>
          </p:cNvPr>
          <p:cNvSpPr/>
          <p:nvPr/>
        </p:nvSpPr>
        <p:spPr>
          <a:xfrm>
            <a:off x="4206240" y="5413248"/>
            <a:ext cx="1783080" cy="5486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5431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340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193,061 pcs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6126480" y="5413248"/>
            <a:ext cx="1783080" cy="5486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5431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290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135,170 pcs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8046720" y="5413248"/>
            <a:ext cx="1783080" cy="5486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5431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320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49,888 pcs</a:t>
            </a:r>
          </a:p>
        </p:txBody>
      </p:sp>
      <p:sp>
        <p:nvSpPr>
          <p:cNvPr id="20" name="Rounded Rectangle 19">
            <a:hlinkClick action="ppaction://hlinksldjump" r:id="rId10"/>
          </p:cNvPr>
          <p:cNvSpPr/>
          <p:nvPr/>
        </p:nvSpPr>
        <p:spPr>
          <a:xfrm>
            <a:off x="9966960" y="5413248"/>
            <a:ext cx="1783080" cy="5486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5431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250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20,616 pcs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053328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415 Mens carries 34.8% of qty at 92.4% shipped. 250 Lily Loves and 225 Wovens are new in TARGET-38 and have nothing shipped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415 - MENS SMART CASUAL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Department drill-down  ·  all figures FFD basis  ·  TARGET-36/37/38 only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416,863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$3,699,389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VALUE (USD)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$8.874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385,058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$3,408,537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29,484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QTY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98192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8192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911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COLOURS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0624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4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6344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 × COLOUR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2,321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(PCS)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5488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92.4%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92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792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34.1%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64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SHARE OF VALUE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2834640"/>
          <a:ext cx="48463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212080" y="2834640"/>
          <a:ext cx="27432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046720" y="2834640"/>
          <a:ext cx="39319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220 - WW CASUAL KNIT &amp; DENIM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Department drill-down  ·  all figures FFD basis  ·  TARGET-36/37/38 only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365,528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$3,624,413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VALUE (USD)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$9.916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267,476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$2,631,619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95,888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QTY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98192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8192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911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COLOURS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0624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4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6344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 × COLOUR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2,164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(PCS)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5488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73.2%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92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792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33.4%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64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SHARE OF VALUE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2834640"/>
          <a:ext cx="48463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212080" y="2834640"/>
          <a:ext cx="27432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046720" y="2834640"/>
          <a:ext cx="39319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340 - GIRLS 1-8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Department drill-down  ·  all figures FFD basis  ·  TARGET-36/37/38 only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193,061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$1,298,396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VALUE (USD)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$6.725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101,825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$652,799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91,098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QTY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98192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8192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911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COLOURS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0624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4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6344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 × COLOUR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138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(PCS)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5488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52.7%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92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792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12.0%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64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SHARE OF VALUE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2834640"/>
          <a:ext cx="48463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212080" y="2834640"/>
          <a:ext cx="27432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046720" y="2834640"/>
          <a:ext cx="39319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290 - WW SPECIALITY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Department drill-down  ·  all figures FFD basis  ·  TARGET-36/37/38 only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135,170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$1,401,579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VALUE (USD)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$10.369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75,752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$792,168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59,418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QTY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98192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8192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911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COLOURS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0624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4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6344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 × COLOUR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(PCS)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5488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56.0%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92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792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12.9%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64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SHARE OF VALUE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2834640"/>
          <a:ext cx="48463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212080" y="2834640"/>
          <a:ext cx="27432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046720" y="2834640"/>
          <a:ext cx="39319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320 - GIRLS 7-16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Department drill-down  ·  all figures FFD basis  ·  TARGET-36/37/38 only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49,888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$359,612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VALUE (USD)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$7.208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49,840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$359,351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QTY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98192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8192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911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COLOURS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0624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4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6344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 × COLOUR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(PCS)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5488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99.9%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92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792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3.3%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64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SHARE OF VALUE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2834640"/>
          <a:ext cx="48463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212080" y="2834640"/>
          <a:ext cx="27432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046720" y="2834640"/>
          <a:ext cx="39319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250 - WW LILY LOVES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Department drill-down  ·  all figures FFD basis  ·  TARGET-36/37/38 only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20,616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QTY (PCS)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$272,584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ORDER VALUE (USD)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$13.222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FOB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SHIPPED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20,616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QTY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98192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8192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3911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COLOURS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30624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4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6344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 × COLOUR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(PCS)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5488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0.0%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920" y="192024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7920" y="204020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2.5%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3640" y="237012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SHARE OF VALUE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74320" y="2834640"/>
          <a:ext cx="48463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212080" y="2834640"/>
          <a:ext cx="27432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046720" y="2834640"/>
          <a:ext cx="39319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Season-wise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FY26/Q3 to FY27/Q3  ·  5 buyer seasons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116128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069080"/>
          <a:ext cx="1143000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Season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Qty Share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Value (USD)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FY26/Q3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233,430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19.5%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$2,182,446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$9.349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232,782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99.7%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FY26/Q4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82,947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$705,675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$8.508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82,747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99.8%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FY27/Q1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287,668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24.0%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$2,606,555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$9.061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283,515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98.6%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3,067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1,086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FY27/Q2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291,317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24.3%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$2,478,951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$8.509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280,907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96.4%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9,654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FY27/Q3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302,642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25.3%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$2,869,397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$9.481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302,642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FY27/Q3 is the TARGET-38 season; FY27/Q2 still has open balance from TARGET-37.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Merchandiser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Target-side merchandisers on the order status  ·  6 names  ·  with the Sterling team in charge of each book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51206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77840" y="1280160"/>
          <a:ext cx="6263636" cy="21762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15442"/>
                <a:gridCol w="1115442"/>
                <a:gridCol w="514819"/>
                <a:gridCol w="858032"/>
                <a:gridCol w="686426"/>
                <a:gridCol w="600623"/>
                <a:gridCol w="600623"/>
                <a:gridCol w="772229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Merchandiser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Sterling team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Anmol Abonee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Uzzal &amp; Sanaul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416,863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$8.874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92.4%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2,321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29,484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Fahima Sorna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Sharf &amp; Sanaul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386,144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$10.092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69.3%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2,164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116,504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Toufiq Mustafiz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Rajee &amp; Pelu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193,061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$6.725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52.7%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91,098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Asifa Zaman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Uzzal &amp; Sanaul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145,950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$10.460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51.9%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70,198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Nitu Saha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Rajee &amp; Pelu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49,888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$7.208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Redwan Ahmed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Sharf &amp; Sanaul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6,098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$10.168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6,098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77840" y="365760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Sterling team mapping is from Joy’s team list (Order Status names are Target’s buyer-side merchants).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Product Types We Are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33 product types auto-classified from the buyer product description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548640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005840"/>
          <a:ext cx="5897879" cy="530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589788"/>
                <a:gridCol w="982980"/>
                <a:gridCol w="884682"/>
                <a:gridCol w="786384"/>
                <a:gridCol w="688085"/>
              </a:tblGrid>
              <a:tr h="21214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Product Type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Barrel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160,895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$8.702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49.0%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100,796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$9.281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95.5%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Jegging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86,888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$7.517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60.4%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82,769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$9.743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35.4%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Textured Cotton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70,501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$5.396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Straight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67,652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$8.307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51.9%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Slouch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61,231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$11.650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87.4%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Shacket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48,822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$11.407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69.0%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47,393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$12.189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44,597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$9.254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92.7%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Bermuda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43,348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$9.507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81.9%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36,190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$7.929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84.3%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Slim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32,734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$10.375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40.6%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Skirt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31,264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$5.170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99.8%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Pull-on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28,706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$11.187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99.2%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28,364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$6.894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85.4%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Cargo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27,942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$7.900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Fashion Jean - Up Hem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26,015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$5.969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Pant - Other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25,694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$10.292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28.0%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Jacket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23,418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$11.162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61.1%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Cotton Byron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15,131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$7.383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90.1%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Pant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14,913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$11.565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14,268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$12.950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Maxi Skirt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14,196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$11.351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98.3%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6355080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9 smaller types are on the HTML dashboard.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Product Group Roll-up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The families the 33 product types collapse into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49377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394960" y="960120"/>
          <a:ext cx="64922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389120"/>
          <a:ext cx="11430000" cy="17282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Product Group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Colours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Value (USD)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Bottom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694,640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$9.452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$6,565,433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438,228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63.1%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338,927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$8.069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$2,734,958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311,593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91.9%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Outerwear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72,240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$11.328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$818,318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47,974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66.4%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Skirt / Dress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71,588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$7.648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$547,490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71,026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99.2%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Top / Shirt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14,402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$8.830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$127,169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11,130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77.3%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One-Piece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6,207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$8.000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$49,656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SMV &amp; CM — corrected to the $0.080 per minute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Target rows of the 2026 production log (Jan–Oct 2026) matched to TARGET-36/37/38 styles  ·  weighted by pieces produced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805,583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PCS PRODUCED (WITH SMV/CM)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8192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8192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21.68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3911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SMV (MIN/PC)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0624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624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$1.777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CM AFTER (USD/PC)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$0.0820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SMV VALUE AFTER (USD/MIN)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5488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17,464,033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8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TOTAL SMV (MIN)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920" y="1051560"/>
            <a:ext cx="1795271" cy="749808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20" y="1171529"/>
            <a:ext cx="1795271" cy="33741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$1,431,669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640" y="1501444"/>
            <a:ext cx="1703831" cy="2399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CM VALUE AFTER (USD)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1901952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59 of 95 styles came out below $0.080 per SMV minute — the lowest was $0.0493 (4150332746P). Their CM is set to 0.080 × SMV, lifting CM value from $1,323,568 to $1,431,669 (+$108,101).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377440"/>
            <a:ext cx="54864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Arial"/>
              </a:rPr>
              <a:t>Biggest corrections — CM per piece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2633472"/>
          <a:ext cx="5669278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14845"/>
                <a:gridCol w="1417320"/>
                <a:gridCol w="607422"/>
                <a:gridCol w="809897"/>
                <a:gridCol w="809897"/>
                <a:gridCol w="809897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SMV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CM before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CM after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Uplift/pc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4150332746P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38.50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$1.900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$3.080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+$1.180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4150326197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Pant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36.31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$1.871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$2.905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+$1.034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2200334751B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Slouch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25.02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$1.488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$2.002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+$0.513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2200336905A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Dress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26.52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$1.687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$2.122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+$0.435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4150319304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24.55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$1.559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$1.964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+$0.405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4150320825P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33.62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$2.315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$2.690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+$0.375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4150326214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22.57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$1.449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$1.806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+$0.357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2200334756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Slouch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21.06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$1.400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$1.685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+$0.285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4150339326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21.28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$1.421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+$0.282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172200" y="2377440"/>
            <a:ext cx="54864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Arial"/>
              </a:rPr>
              <a:t>Highest-volume styles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72200" y="2633472"/>
          <a:ext cx="5669277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75208"/>
                <a:gridCol w="1857177"/>
                <a:gridCol w="684223"/>
                <a:gridCol w="537604"/>
                <a:gridCol w="733096"/>
                <a:gridCol w="781969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Pcs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SMV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CM after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Rate before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EW LINEN SHORT BLACK 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41,610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20.38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$0.0730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4150333789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TL AUS COT TEXTURED SHOR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40,670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16.04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$1.385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2200261871A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LYDIA ANKLE JEGGING - BL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36,610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19.41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$1.605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$0.0827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AUS COT CARGO SHORT B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36,100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34.07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$2.725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$0.0721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4150336334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LINEN PANT CHOCOLATE 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29,500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21.79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$0.0686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4150326213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REGULAR YD CHINO SHOR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21,911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$1.731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$0.0680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EW LINEN SHORT NAVY 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21,162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21.09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$1.687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$0.0722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4150326214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SLIM YD CHINO SHORT 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17,820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22.57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$1.806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$0.0642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3200331458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WIDE LEG CARGO LIG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16,690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27.07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$2.166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$0.0756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274320" y="4681728"/>
          <a:ext cx="11612880" cy="1691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Top 20 Styles — order qty by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Ranked by total order qty across the three files  ·  a dot means the style is not in that file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29997" cy="47045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42044"/>
                <a:gridCol w="1515580"/>
                <a:gridCol w="2273370"/>
                <a:gridCol w="631491"/>
                <a:gridCol w="1136685"/>
                <a:gridCol w="1136685"/>
                <a:gridCol w="1136685"/>
                <a:gridCol w="1262983"/>
                <a:gridCol w="1010386"/>
                <a:gridCol w="884088"/>
              </a:tblGrid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Product Type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Dept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T-36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T-37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T-38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2200261871A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Jegging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14,704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12,628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17,250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44,582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$7.350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58.6%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4150333789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Textured Cotton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41,056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41,056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$5.202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4150333620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38,907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38,907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$9.148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4150333612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Cargo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34,304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34,304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$8.500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97.7%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3400343343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Barrel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29,278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29,278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$6.805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4150333619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24,333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4,512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28,845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$8.744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84.4%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2200261871B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Jegging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8,808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9,028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10,350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28,186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$7.313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59.7%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3200331458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Wide Leg Cargo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27,942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27,942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$7.900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4150336334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25,031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25,031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$12.201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99.2%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4150311236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Straight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10,992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5,186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7,000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23,178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$9.199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69.8%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3400343348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Straight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22,982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22,982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$7.325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2900331277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Barrel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6,808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4,006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11,000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21,814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$9.500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49.6%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4150311232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Slim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5,868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7,408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6,650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19,926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$8.850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66.6%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4150326213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18,243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18,243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$7.999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89.1%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3400326743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Fashion Jean - Up Hem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13,704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4,500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18,204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$5.870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4150326214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17,947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17,947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$7.858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79.3%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4150336335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17,163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17,163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$12.967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4150300844P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Cotton Byron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3,392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10,237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1,502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15,131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$7.383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90.1%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4150336783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Wide Leg 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14,268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14,268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$12.950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3400343351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Wide Leg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14,159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14,159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$6.400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These 20 styles carry 501,147 pcs — 41.8% of the three-file book. 6 of them run in all three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CM, SMV &amp; Efficiency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Target rows of the production log, Jan–Oct 2026  ·  95 styles  ·  weighted by pieces produced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1519210" cy="71323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9957"/>
            <a:ext cx="1519210" cy="3209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33779"/>
            <a:ext cx="1427770" cy="22823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 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2130" y="1005840"/>
            <a:ext cx="1519210" cy="71323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2130" y="1119957"/>
            <a:ext cx="1519210" cy="3209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805,583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7850" y="1433779"/>
            <a:ext cx="1427770" cy="22823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PIECES PRODUCED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8500" y="1005840"/>
            <a:ext cx="1519210" cy="71323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8500" y="1119957"/>
            <a:ext cx="1519210" cy="3209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20" y="1433779"/>
            <a:ext cx="1427770" cy="22823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LINE-DAYS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870" y="1005840"/>
            <a:ext cx="1519210" cy="71323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870" y="1119957"/>
            <a:ext cx="1519210" cy="3209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21.68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0590" y="1433779"/>
            <a:ext cx="1427770" cy="22823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SMV (MIN/PC)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1241" y="1005840"/>
            <a:ext cx="1519210" cy="71323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1241" y="1119957"/>
            <a:ext cx="1519210" cy="3209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$1.777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6961" y="1433779"/>
            <a:ext cx="1427770" cy="22823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CM (USD/PC)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7611" y="1005840"/>
            <a:ext cx="1519210" cy="71323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7611" y="1119957"/>
            <a:ext cx="1519210" cy="3209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70.0%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3331" y="1433779"/>
            <a:ext cx="1427770" cy="22823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EFFICIENCY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03981" y="1005840"/>
            <a:ext cx="1519210" cy="71323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3981" y="1119957"/>
            <a:ext cx="1519210" cy="3209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11.1%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49701" y="1433779"/>
            <a:ext cx="1427770" cy="22823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AVG DHU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828800"/>
            <a:ext cx="54864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Arial"/>
              </a:rPr>
              <a:t>EFFICIENCY BANDS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65760" y="2075688"/>
          <a:ext cx="5852154" cy="1005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36022"/>
                <a:gridCol w="836022"/>
                <a:gridCol w="836022"/>
                <a:gridCol w="836022"/>
                <a:gridCol w="836022"/>
                <a:gridCol w="836022"/>
                <a:gridCol w="836022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Efficiency band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Pcs produced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SMV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Rate before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Rate after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DHU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&lt; 55%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34,840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24.07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$0.0792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$0.0856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55–65%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172,600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$0.0782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$0.0831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65–75%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316,091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23.00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$0.0733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$0.0811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≥ 75%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282,052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19.89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5760" y="3154680"/>
            <a:ext cx="54864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6B4F"/>
                </a:solidFill>
                <a:latin typeface="Arial"/>
              </a:rPr>
              <a:t>BEST 5 — efficiency (styles ≥ 3,000 pcs)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65760" y="3401568"/>
          <a:ext cx="5852158" cy="12070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51244"/>
                <a:gridCol w="2302489"/>
                <a:gridCol w="767496"/>
                <a:gridCol w="767496"/>
                <a:gridCol w="863433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36000" marR="36000" marT="9000" marB="9000" anchor="ctr">
                    <a:solidFill>
                      <a:srgbClr val="2E6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36000" marR="36000" marT="9000" marB="9000" anchor="ctr">
                    <a:solidFill>
                      <a:srgbClr val="2E6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Eff %</a:t>
                      </a:r>
                    </a:p>
                  </a:txBody>
                  <a:tcPr marL="36000" marR="36000" marT="9000" marB="9000" anchor="ctr">
                    <a:solidFill>
                      <a:srgbClr val="2E6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DHU %</a:t>
                      </a:r>
                    </a:p>
                  </a:txBody>
                  <a:tcPr marL="36000" marR="36000" marT="9000" marB="9000" anchor="ctr">
                    <a:solidFill>
                      <a:srgbClr val="2E6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Rate</a:t>
                      </a:r>
                    </a:p>
                  </a:txBody>
                  <a:tcPr marL="36000" marR="36000" marT="9000" marB="9000" anchor="ctr">
                    <a:solidFill>
                      <a:srgbClr val="2E6B4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4150338641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TL AUS COT SHORT STRIPE TR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89.7%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$0.0777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4150336335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YD LINEN PANT STONE S-X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82.3%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$0.0684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3400330773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JEAN FASHN WIDE LEG PINK 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82.0%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2200332923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KNIT DENIM PULL ON WIDE LE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81.4%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$0.0817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2200334772C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PULL ON JEAN - WASHED SAND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81.3%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$0.0711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65760" y="4709160"/>
            <a:ext cx="54864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B3261E"/>
                </a:solidFill>
                <a:latin typeface="Arial"/>
              </a:rPr>
              <a:t>WORST 5 — efficiency (styles ≥ 3,000 pcs)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65760" y="4956048"/>
          <a:ext cx="5852158" cy="12070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51244"/>
                <a:gridCol w="2302489"/>
                <a:gridCol w="767496"/>
                <a:gridCol w="767496"/>
                <a:gridCol w="863433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36000" marR="36000" marT="9000" marB="9000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36000" marR="36000" marT="9000" marB="9000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Eff %</a:t>
                      </a:r>
                    </a:p>
                  </a:txBody>
                  <a:tcPr marL="36000" marR="36000" marT="9000" marB="9000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DHU %</a:t>
                      </a:r>
                    </a:p>
                  </a:txBody>
                  <a:tcPr marL="36000" marR="36000" marT="9000" marB="9000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Rate</a:t>
                      </a:r>
                    </a:p>
                  </a:txBody>
                  <a:tcPr marL="36000" marR="36000" marT="9000" marB="9000" anchor="ctr">
                    <a:solidFill>
                      <a:srgbClr val="B3261E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2200332932B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BELTED SHACKET - MID WORN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44.7%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$0.0871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2200334771A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POLO SHIRT - FADED B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49.5%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2200334751B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PANELLED SLOUCH JEAN - VIN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52.0%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$0.0595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2200336903A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DENIM SHIRT - RINSE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52.3%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$0.0778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2900338508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PT LONGLINE BERMUDA DENIM 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52.5%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$0.0864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400800" y="18288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0" y="5852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Read: efficiency does not buy rate. The ≥75% band earns $0.0769/min before the floor; the &lt;55% band earns $0.0792/min. The quoted CM, not line speed, decides the rate.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Style-level SMV, CM &amp;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Top 24 styles by pieces produced  ·  yellow status = CM lifted to the $0.080 / minute floor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87552"/>
          <a:ext cx="11429994" cy="514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07753"/>
                <a:gridCol w="2215506"/>
                <a:gridCol w="1510572"/>
                <a:gridCol w="805638"/>
                <a:gridCol w="503524"/>
                <a:gridCol w="604229"/>
                <a:gridCol w="704933"/>
                <a:gridCol w="755286"/>
                <a:gridCol w="654581"/>
                <a:gridCol w="654581"/>
                <a:gridCol w="1007048"/>
                <a:gridCol w="906343"/>
              </a:tblGrid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Pcs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Days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SMV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CM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Rate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Eff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DHU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Earned (USD)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CM status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EW LINEN SHORT BLACK S-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41,610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20.38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77.9%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$61,875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4150333789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TL AUS COT TEXTURED SHORT 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Textured Cotton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40,670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16.04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$1.385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75.2%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$56,336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As per file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2200261871A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LYDIA ANKLE JEGGING - BLAC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Jegging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36,610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19.41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$1.605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$0.0827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79.1%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$58,777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As per file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AUS COT CARGO SHORT BLA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36,100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34.07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$2.725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68.3%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$88,694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4150336334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LINEN PANT CHOCOLATE S-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29,500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21.79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75.1%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$44,110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4150326213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REGULAR YD CHINO SHORT 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21,911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$1.731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70.3%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$32,230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EW LINEN SHORT NAVY S-X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21,162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21.09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$1.687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77.3%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$32,238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4150326214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SLIM YD CHINO SHORT ELM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17,820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22.57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$1.806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74.2%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$25,815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3200331458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WIDE LEG CARGO LIGHT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Cargo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16,690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27.07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$2.166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74.1%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$34,169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2200334755A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SLOUCH WIDE LEG JEANS - DA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Slouch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16,670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21.39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$1.711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76.3%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$24,823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4150336335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YD LINEN PANT STONE S-X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14,400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21.92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$1.753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82.3%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$21,600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4150326197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REG FIT CARGO PANT BLAC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Pant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14,100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36.31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$2.905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72.7%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$26,378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4150320372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TL AUCTN MICRO STRPE SH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Textured Cotton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13,340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17.19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$1.375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70.6%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$18,209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3400330772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JEAN FASHN UP HEM BURGUNDY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Fashion Jean - Up Hem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13,210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21.04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$1.788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$0.0850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78.6%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$23,628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As per file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2200336950A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A-LINE BERMUDA SHORT - MID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Bermuda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13,200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19.02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$1.522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66.1%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$18,690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4150336879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EW LINEN SHORT TEX FOREST 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13,050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20.05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58.2%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$18,788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2900339455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PT AIRLOOM SLOUCHY JEAN FA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Slouch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12,780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68.0%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$19,138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2200331089A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SS DENIM SHACKET - SUNBLEA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Shacket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12,650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27.21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$2.177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60.4%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$24,236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4150335271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TL AUS COT TEXTURED GD SHO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Textured Cotton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12,600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16.77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$1.370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$0.0817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76.2%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$17,265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As per file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4150336783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TM YD WIDE LEG LINEN PANT 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Linen Pant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12,300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18.85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$1.762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$0.0935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62.5%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$21,675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As per file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3200337683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SKIRT HEART POCKET M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Denim Skirt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12,250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18.06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$1.445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62.1%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$16,234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2200336950B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A-LINE BERMUDA SHORT MARSH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Bermuda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11,350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19.28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$1.542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64.3%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$16,138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4150300844P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PLUS AUS COT BYRON SHORT B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Cotton Byron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11,160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17.69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58.0%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$15,117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Corrected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3400326743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JEAN FASHN UP HEM MID WASH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Fashion Jean - Up Hem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11,000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20.76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$1.668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$0.0803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69.8%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$18,345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As per file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Full 95-style list is on the HTML dashboard. Days = line-days in the production log.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Month-wise Comparison — every year on one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Order qty by FFD month, one line per calendar year  ·  TARGET-36/37/38 only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116128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794760"/>
          <a:ext cx="11429999" cy="24323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Month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T-36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T-37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T-38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49,348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63,431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49,348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63,431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70,769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49,612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70,769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49,612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55,872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32,467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55,872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32,467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Apr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56,286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15,996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44,966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11,320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15,996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47,884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4,415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6,526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41,358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4,415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124,256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124,256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97,751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1,504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96,247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156,549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156,549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Sep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53,870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53,870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Oct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84,644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84,644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Nov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38,350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5,331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33,019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Dec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87,392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83,188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87,392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3,201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79,987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1620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16202B"/>
                          </a:solidFill>
                          <a:latin typeface="Arial"/>
                        </a:rPr>
                        <a:t>87,392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16202B"/>
                          </a:solidFill>
                          <a:latin typeface="Arial"/>
                        </a:rPr>
                        <a:t>918,768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16202B"/>
                          </a:solidFill>
                          <a:latin typeface="Arial"/>
                        </a:rPr>
                        <a:t>165,921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16202B"/>
                          </a:solidFill>
                          <a:latin typeface="Arial"/>
                        </a:rPr>
                        <a:t>316,377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16202B"/>
                          </a:solidFill>
                          <a:latin typeface="Arial"/>
                        </a:rPr>
                        <a:t>576,777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16202B"/>
                          </a:solidFill>
                          <a:latin typeface="Arial"/>
                        </a:rPr>
                        <a:t>304,850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The three files overlap in time: TARGET-37 starts (Apr-26) before TARGET-36 ends (Jul-26), and TARGET-38 starts Nov-26. File totals include FFD = TBA lines.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File-on-File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TARGET-36 → TARGET-37 → TARGET-38  ·  used in place of year-on-year because the three files span only Dec-25 to May-27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58521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960120"/>
          <a:ext cx="55778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160520"/>
          <a:ext cx="11429990" cy="1097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vs prev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Order Value (USD)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vs prev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vs prev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Styles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Depts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TARGET-36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316,377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$2,888,121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$9.129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99.7%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TARGET-37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576,777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+82.3%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$5,069,298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+75.5%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$8.789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-3.7%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97.9%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TARGET-38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304,850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-47.1%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$2,885,605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-43.1%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$9.466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+7.7%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TARGET-37 is the biggest file at 576,777 pcs (+82% on TARGET-36). TARGET-38 is 304,850 pcs, back to the TARGET-36 level, at the highest FOB of the three ($9.466).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File-on-File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Which departments are growing, which are leaving  ·  order qty by file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60120"/>
          <a:ext cx="116128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11429996" cy="20985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15945"/>
                <a:gridCol w="1544594"/>
                <a:gridCol w="1544594"/>
                <a:gridCol w="1544594"/>
                <a:gridCol w="1544594"/>
                <a:gridCol w="1235675"/>
              </a:tblGrid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Department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TARGET-36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TARGET-37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TARGET-38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37 → 38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415 - MENS SMART CASUAL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49,697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343,502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23,664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416,863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-93%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220 - WW CASUAL KNIT &amp; DENIM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118,242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153,606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93,680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365,528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-39%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340 - GIRLS 1-8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78,145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23,818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91,098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193,061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+282%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290 - WW SPECIALITY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38,415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37,841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58,914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135,170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+56%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320 - GIRLS 7-16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31,878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18,010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49,888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EXIT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250 - WW LILY LOVES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20,616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20,616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225 - WW CASUAL WOVENS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16,878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16,878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>
                          <a:solidFill>
                            <a:srgbClr val="16202B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316,377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576,777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304,850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1,198,004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6202B"/>
                          </a:solidFill>
                          <a:latin typeface="Arial"/>
                        </a:rPr>
                        <a:t>-47%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415 Mens drops from 343,502 pcs in TARGET-37 to 23,664 in TARGET-38. 340 Girls 1-8 and 290 Speciality are up; 250 Lily Loves and 225 Wovens are new in TARGET-38; 320 Girls 7-16 has no TARGET-38 order.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Style Ranking — which styles carry the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All 135 styles ranked by order qty  ·  top 20 shown  ·  full ranking on the HTML dashboard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181758" cy="68580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2181758" cy="30861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26.8%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09031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TOP 10 STYLES · share of qty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4678" y="1005840"/>
            <a:ext cx="2181758" cy="68580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4678" y="1115568"/>
            <a:ext cx="2181758" cy="30861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41.8%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0398" y="1417320"/>
            <a:ext cx="209031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TOP 20 STYLES · share of qty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3596" y="1005840"/>
            <a:ext cx="2181758" cy="68580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3596" y="1115568"/>
            <a:ext cx="2181758" cy="30861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Arial"/>
              </a:rPr>
              <a:t>67.9%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9316" y="1417320"/>
            <a:ext cx="209031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TOP 50 STYLES · share of qty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2515" y="1005840"/>
            <a:ext cx="2181758" cy="68580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2515" y="1115568"/>
            <a:ext cx="2181758" cy="30861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8235" y="1417320"/>
            <a:ext cx="209031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 TO REACH 50% OF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1433" y="1005840"/>
            <a:ext cx="2181758" cy="68580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1433" y="1115568"/>
            <a:ext cx="2181758" cy="30861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6B4F"/>
                </a:solidFill>
                <a:latin typeface="Arial"/>
              </a:rPr>
              <a:t>135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7153" y="1417320"/>
            <a:ext cx="209031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STYLES IN BOOK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1828800"/>
          <a:ext cx="11429994" cy="41285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9504"/>
                <a:gridCol w="1131683"/>
                <a:gridCol w="2602871"/>
                <a:gridCol w="1584356"/>
                <a:gridCol w="452673"/>
                <a:gridCol w="792178"/>
                <a:gridCol w="565841"/>
                <a:gridCol w="905346"/>
                <a:gridCol w="792178"/>
                <a:gridCol w="1018514"/>
                <a:gridCol w="622425"/>
                <a:gridCol w="622425"/>
              </a:tblGrid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Style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Product Description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Product Type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Dept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Files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Colours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Value (USD)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Cum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2200261871A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SS261871A LYDIA ANKLE JEGGING 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Jegging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36, 37, 38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44,582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$7.350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$327,678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4150333789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333789 TL AUS COT TEXTURED 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Textured Cotton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41,056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$5.202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$213,577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333620 TM EW LINEN SHORT BLA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38,907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$9.148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$355,912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333612 TM AUS COT CARGO SHOR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Cargo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34,304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$8.500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$291,584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3400343343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343343 01 W27 BARREL JEAN - PI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Barrel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29,278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$6.805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$199,249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4150333619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333619 TM EW LINEN SHORT NAV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37, 38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28,845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$8.744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$252,234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18.1%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2200261871B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SS261871B LYDIA ANKLE JEGGING 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Jegging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36, 37, 38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28,186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$7.313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$206,136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3200331458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331458 01 W26 DENIM WIDE LEG C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Cargo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27,942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$7.900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$220,742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4150336334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336334 TM LINEN PANT CHOCOLA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25,031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$12.201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$305,409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24.9%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4150311236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311236 TM NEW STRAIGHT FIT J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Straight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36, 37, 38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23,178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$9.199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$213,212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26.8%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3400343348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343348 01 W27 FASH STRAIGHT DE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Straight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22,982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$7.325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$168,339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28.7%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2900331277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AL331277 PT BARREL FWRD SEAM J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Barrel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36, 37, 38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21,814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$9.500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$207,233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30.6%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4150311232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311232 TM NEW SLIM FIT JEAN 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Slim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36, 37, 38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19,926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$8.850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$176,350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32.2%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4150326213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326213 TM REGULAR YD CHINO 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18,243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$7.999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$145,932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33.7%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3400326743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SS326743 01 SS26 JEAN FASHN UP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Fashion Jean - Up Hem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36, 37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18,204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$5.870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$106,857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35.3%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4150326214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326214 TM SLIM YD CHINO SHOR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17,947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$7.858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$141,032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4150336335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336335 TM YD LINEN PANT STON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17,163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$12.967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$222,548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38.2%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4150300844P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300844P PLUS AUS COT BYRON 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Cotton Byron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36, 37, 38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15,131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$7.383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$111,719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39.5%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4150336783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C 336783 TM YD WIDE LEG LINEN 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14,268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$12.950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$184,769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40.6%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3400343351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343351 01 W27 FASHION WIDE JEA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Wide Leg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14,159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$6.400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$90,618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>
                          <a:solidFill>
                            <a:srgbClr val="16202B"/>
                          </a:solidFill>
                          <a:latin typeface="Arial"/>
                        </a:rPr>
                        <a:t>41.8%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The top 10 styles carry 26.8% of qty and 28 styles reach half the book. The three-file book is more concentrated than the long-run Target book, so a few big programmes (Linen Short, Jegging, Barrel Jean) move the totals.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Product Type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Top 22 product types  ·  the numbers behind the SWOT on the next slide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60120"/>
          <a:ext cx="11429996" cy="49423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25283"/>
                <a:gridCol w="862641"/>
                <a:gridCol w="593066"/>
                <a:gridCol w="754811"/>
                <a:gridCol w="646981"/>
                <a:gridCol w="646981"/>
                <a:gridCol w="754811"/>
                <a:gridCol w="754811"/>
                <a:gridCol w="754811"/>
                <a:gridCol w="646981"/>
                <a:gridCol w="539150"/>
                <a:gridCol w="646981"/>
                <a:gridCol w="808726"/>
                <a:gridCol w="646981"/>
                <a:gridCol w="646981"/>
              </a:tblGrid>
              <a:tr h="214884"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Product type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Order Qty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Avg FOB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Ship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Short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T-36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T-37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T-38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37→38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SMV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CM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Rate before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Eff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DHU %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Barrel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160,895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$8.702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49.0%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55,329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23,558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82,008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+248%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20.3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$1.726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$0.0833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66.9%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Linen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100,796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$9.281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95.5%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2,800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93,484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4,512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-95%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20.4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$1.635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$0.0724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73.4%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Jegging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86,888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$7.517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60.4%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30,112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25,076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31,700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19.4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$1.632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$0.0842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75.9%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Wide Leg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82,769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$9.743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35.4%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22,500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6,808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53,461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+685%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19.5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$1.572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$0.0766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66.1%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Textured Cotton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70,501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$5.396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70,501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NIL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16.6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$1.388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$0.0832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75.3%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Straight Fit Jean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67,652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$8.307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51.9%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28,300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7,370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31,982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+334%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21.9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$1.809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$0.0824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68.4%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14.3%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Slouch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61,231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$11.650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87.4%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15,708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38,523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7,000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-82%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21.2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$1.747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$0.0737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70.7%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12.1%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Shacket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48,822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$11.407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69.0%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22,202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11,612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15,008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27.7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$2.381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$0.0810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56.4%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Linen Pant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47,393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$12.189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47,393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NIL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$1.765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$0.0681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76.1%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Cargo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44,597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$9.254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92.7%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42,597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-95%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34.0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$2.718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$0.0715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66.3%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14.0%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Bermuda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43,348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$9.507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81.9%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35,544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7,804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-78%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19.3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$1.562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$0.0759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64.2%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10.9%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Chino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36,190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$7.929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84.3%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36,190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NIL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$1.765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$0.0662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72.0%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Slim Fit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32,734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$10.375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40.6%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5,868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7,408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19,458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+163%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$1.665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$0.0772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56.1%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Denim Skirt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31,264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$5.170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99.8%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3,936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27,328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NIL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16.0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$1.369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$0.0822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64.9%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Pull-on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28,706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$11.187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99.2%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0.8%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15,506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13,200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NIL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$1.690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$0.0774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78.4%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Denim Short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28,364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$6.894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85.4%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24,364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4,000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-84%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20.2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$1.618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$0.0754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71.5%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Wide Leg Cargo Jean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27,942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$7.900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27,942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27.1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$2.166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$0.0756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74.1%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10.7%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Fashion Jean - Up Hem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26,015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$5.969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21,515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4,500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NIL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$1.734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$0.0829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74.6%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Pant - Other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25,694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$10.292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28.0%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7,204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18,490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+157%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17.5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$1.419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$0.0813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67.7%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13.3%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Denim Jacket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23,418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$11.162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61.1%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14,300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9,118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33.6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$3.623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$0.1078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54.0%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Cotton Byron Short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15,131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1.3%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$7.383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90.1%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3,392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10,237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1,502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-85%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17.7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$1.415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$0.0795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58.0%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Cargo Pant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14,913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$11.565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14,913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36.7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$2.936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$0.0511</a:t>
                      </a:r>
                    </a:p>
                  </a:txBody>
                  <a:tcPr marL="36000" marR="36000" marT="9000" marB="9000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72.1%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0">
                          <a:solidFill>
                            <a:srgbClr val="16202B"/>
                          </a:solidFill>
                          <a:latin typeface="Arial"/>
                        </a:rPr>
                        <a:t>9.8%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3E6491"/>
                </a:solidFill>
                <a:latin typeface="Arial"/>
              </a:rPr>
              <a:t>Rate before = CM ÷ SMV as quoted, before the $0.080 floor (yellow = below floor). CM is after the floor. Eff / DHU are pcs-weighted from the production log. — = type not produced yet (Jan–Oct 2026).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SWOT — by Product Type / Style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Every point is drawn from the scorecard  ·  qty, FOB, ship %, file-on-file trend, SMV value, efficiency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F7FAFD"/>
          </a:solidFill>
          <a:ln w="9525">
            <a:solidFill>
              <a:srgbClr val="AFC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3108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3327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17320"/>
            <a:ext cx="534924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Barrel Fit Jean — 160,895 pcs, 13.4% of the book, the biggest type and in all three files; $0.0833/min was above the floor before any correction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Jegging — 86,888 pcs, steady in every file (30,112 / 25,076 / 31,700) at 75.9% efficiency and $0.0842/min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Textured Cotton Short — 70,501 pcs, 99.5% shipped, 75.3% efficiency and 9.1% DHU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Pull-on Jean — the best line efficiency of any type (78.4%), 99.2% shipped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Denim Jacket — the richest value per minute in the book ($0.1078) at $11.162 FOB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5577840" cy="2560320"/>
          </a:xfrm>
          <a:prstGeom prst="rect">
            <a:avLst/>
          </a:prstGeom>
          <a:solidFill>
            <a:srgbClr val="F7FAFD"/>
          </a:solidFill>
          <a:ln w="9525">
            <a:solidFill>
              <a:srgbClr val="AFC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5577840" cy="310896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3327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417320"/>
            <a:ext cx="534924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Cargo Pant &amp; Cargo Short — the highest SMV in the book (36.7 / 34.0 min) but quoted at only $0.0511 and $0.0715 per minute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Chino Short ($0.0662/min) and Linen Pant ($0.0681/min) — below the floor even though the lines run at 72.0% and 76.1%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Denim Polo Shirt — 50.9% efficiency and the highest short-ship rate (6.3%)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Shacket (56.4%) and Denim Jacket (54.0%) — below 60% efficiency on high-SMV outerwear (27.7 / 33.6 min)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Midi Skirt DHU 30.8% and Denim Dress DHU 16.6% — the worst quality of any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577840" cy="2560320"/>
          </a:xfrm>
          <a:prstGeom prst="rect">
            <a:avLst/>
          </a:prstGeom>
          <a:solidFill>
            <a:srgbClr val="F7FAFD"/>
          </a:solidFill>
          <a:ln w="9525">
            <a:solidFill>
              <a:srgbClr val="AFC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577840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3075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114800"/>
            <a:ext cx="534924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Barrel Fit Jean — 23,558 (T-37) → 82,008 (T-38); the T-38 volume leader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Wide Leg Jean — 6,808 → 53,461; Slim Fit Jean 7,408 → 19,458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Bootcut Jean — new in T-38 at 7,808 pcs and $14.000 FOB, the highest FOB of any type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New departments in T-38: 250 Lily Loves (20,616 pcs) and 225 Wovens (16,878 pcs)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Pant - Other (cuffed patch pocket, chambray) — 7,204 → 18,490 pcs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03320"/>
            <a:ext cx="5577840" cy="2560320"/>
          </a:xfrm>
          <a:prstGeom prst="rect">
            <a:avLst/>
          </a:prstGeom>
          <a:solidFill>
            <a:srgbClr val="F7FAFD"/>
          </a:solidFill>
          <a:ln w="9525">
            <a:solidFill>
              <a:srgbClr val="AFC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03320"/>
            <a:ext cx="5577840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73075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4114800"/>
            <a:ext cx="534924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Linen Short — 93,484 pcs in T-37 but only 4,512 in T-38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Textured Cotton Short, Chino Short and Linen Pant — 154,084 pcs in T-37, none in T-38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415 Mens — 343,502 pcs in T-37 down to 23,664 in T-38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T-38 is fully open: 304,850 pcs, nothing shipped, and 54 lines (69,148 pcs) still have PO = TBA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6202B"/>
                </a:solidFill>
                <a:latin typeface="Arial"/>
              </a:rPr>
              <a:t>■  59 of 95 produced styles were quoted below $0.080/min — CM is being given away on most of the book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Data Quality &amp; Actions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9D6E8"/>
                </a:solidFill>
                <a:latin typeface="Arial"/>
              </a:rPr>
              <a:t>What was cleaned in the 26-Oct-26 order status, and what needs a decision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149840" y="24688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1F3864"/>
                </a:solidFill>
                <a:latin typeface="Arial"/>
              </a:rPr>
              <a:t>◀  CONTROL PANEL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29999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58461"/>
                <a:gridCol w="3956538"/>
                <a:gridCol w="2857500"/>
                <a:gridCol w="28575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What we found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Action taken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What you need to do</a:t>
                      </a:r>
                    </a:p>
                  </a:txBody>
                  <a:tcPr marL="36000" marR="36000" marT="9000" marB="9000" anchor="ctr">
                    <a:solidFill>
                      <a:srgbClr val="2E75B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Stray "Shipped Qty" values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58 shipped lines show 1,804 or 1,002 pcs that do not match the order qty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Shipped = Order qty + Short/Excess on every shipped line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Fix the column in the order status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PO = TBA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54 TARGET-38 lines (69,148 pcs) have no PO number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Kept in qty; not counted as POs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Get PO numbers from the buyer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Repeated lines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2 lines are exact copies (2200342993A / 2200342993B, PO TBA, 800 pcs each)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Kept and flagged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Confirm: two deliveries or a copy error?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FFD = TBA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3 lines have no FFD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Counted in files; left out of month charts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Confirm the FFD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Split quantities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16 lines carry fractional qty (formula splits, e.g. 930.15 pcs)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Kept; shown rounded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Enter whole-piece qty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Department naming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Two formats ("415 - MENS…" and "220-WW…")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Standardised to "CODE - NAME"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Use one format at source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Blank description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 line (2200327101E) had no product description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Took the description from the same style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Fill in at source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Production style typo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Production log has 220034755A (3,620 pcs)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Mapped to 2200334755A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Correct the style code in the log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CM below the floor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59 of 95 produced styles below $0.080/min, lowest $0.0493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CM reset to 0.080 × SMV in this report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Re-negotiate high-SMV cargo and linen styles</a:t>
                      </a:r>
                    </a:p>
                  </a:txBody>
                  <a:tcPr marL="36000" marR="36000" marT="9000" marB="9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Air shipment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1 T-38 line (2200336953B, 3,000 pcs) marked By Air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Counted as open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16202B"/>
                          </a:solidFill>
                          <a:latin typeface="Arial"/>
                        </a:rPr>
                        <a:t>Confirm who pays the air freight</a:t>
                      </a:r>
                    </a:p>
                  </a:txBody>
                  <a:tcPr marL="36000" marR="36000" marT="9000" marB="90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800600"/>
            <a:ext cx="11430000" cy="457200"/>
          </a:xfrm>
          <a:prstGeom prst="roundRect">
            <a:avLst>
              <a:gd name="adj" fmla="val 8000"/>
            </a:avLst>
          </a:prstGeom>
          <a:solidFill>
            <a:srgbClr val="EEF5EF"/>
          </a:solidFill>
          <a:ln w="9525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828032"/>
            <a:ext cx="11247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6B4F"/>
                </a:solidFill>
                <a:latin typeface="Arial"/>
              </a:rPr>
              <a:t>Reconciliation check:  1,198,004 pcs = TARGET-36 316,377 + TARGET-37 576,777 + TARGET-38 304,850  ·  shipped + short + open = order qty on every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440680"/>
            <a:ext cx="2761488" cy="77724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565038"/>
            <a:ext cx="2761488" cy="34975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Arial"/>
              </a:rPr>
              <a:t>73.5%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907024"/>
            <a:ext cx="2670048" cy="2487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SHIP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5440680"/>
            <a:ext cx="2761488" cy="77724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5565038"/>
            <a:ext cx="2761488" cy="34975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B3261E"/>
                </a:solidFill>
                <a:latin typeface="Arial"/>
              </a:rPr>
              <a:t>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7" y="5907024"/>
            <a:ext cx="2670048" cy="2487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SHORT SHIP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5440680"/>
            <a:ext cx="2761488" cy="77724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5565038"/>
            <a:ext cx="2761488" cy="34975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E8A33D"/>
                </a:solidFill>
                <a:latin typeface="Arial"/>
              </a:rPr>
              <a:t>313,382 pcs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5907024"/>
            <a:ext cx="2670048" cy="2487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BALANCE TO 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5440680"/>
            <a:ext cx="2761488" cy="77724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9525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5565038"/>
            <a:ext cx="2761488" cy="34975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Arial"/>
              </a:rPr>
              <a:t>$2,954,284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5907024"/>
            <a:ext cx="2670048" cy="2487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 i="0">
                <a:solidFill>
                  <a:srgbClr val="6B7A8C"/>
                </a:solidFill>
                <a:latin typeface="Arial"/>
              </a:rPr>
              <a:t>OPEN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Australia KPI Report — File 36-38</dc:title>
  <dc:subject/>
  <dc:creator>Sterling Styles Limited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