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Earned $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2355B"/>
              </a:solidFill>
              <a:effectLst/>
            </c:spPr>
          </c:dPt>
          <c:dPt>
            <c:idx val="1"/>
            <c:bubble3D val="0"/>
            <c:spPr>
              <a:solidFill>
                <a:srgbClr val="2B6CA3"/>
              </a:solidFill>
              <a:effectLst/>
            </c:spPr>
          </c:dPt>
          <c:dPt>
            <c:idx val="2"/>
            <c:bubble3D val="0"/>
            <c:spPr>
              <a:solidFill>
                <a:srgbClr val="4A90C4"/>
              </a:solidFill>
              <a:effectLst/>
            </c:spPr>
          </c:dPt>
          <c:dPt>
            <c:idx val="3"/>
            <c:bubble3D val="0"/>
            <c:spPr>
              <a:solidFill>
                <a:srgbClr val="7FB3D5"/>
              </a:solidFill>
              <a:effectLst/>
            </c:spPr>
          </c:dPt>
          <c:dPt>
            <c:idx val="4"/>
            <c:bubble3D val="0"/>
            <c:spPr>
              <a:solidFill>
                <a:srgbClr val="A9CCE3"/>
              </a:solidFill>
              <a:effectLst/>
            </c:spPr>
          </c:dPt>
          <c:dPt>
            <c:idx val="5"/>
            <c:bubble3D val="0"/>
            <c:spPr>
              <a:solidFill>
                <a:srgbClr val="D4E6F1"/>
              </a:solidFill>
              <a:effectLst/>
            </c:spPr>
          </c:dPt>
          <c:dPt>
            <c:idx val="6"/>
            <c:bubble3D val="0"/>
            <c:spPr>
              <a:solidFill>
                <a:srgbClr val="0F7B53"/>
              </a:solidFill>
              <a:effectLst/>
            </c:spPr>
          </c:dPt>
          <c:dPt>
            <c:idx val="7"/>
            <c:bubble3D val="0"/>
            <c:spPr>
              <a:solidFill>
                <a:srgbClr val="4EA882"/>
              </a:solidFill>
              <a:effectLst/>
            </c:spPr>
          </c:dPt>
          <c:dPt>
            <c:idx val="8"/>
            <c:bubble3D val="0"/>
            <c:spPr>
              <a:solidFill>
                <a:srgbClr val="B26A00"/>
              </a:solidFill>
              <a:effectLst/>
            </c:spPr>
          </c:dPt>
          <c:dPt>
            <c:idx val="9"/>
            <c:bubble3D val="0"/>
            <c:spPr>
              <a:solidFill>
                <a:srgbClr val="D9A441"/>
              </a:solidFill>
              <a:effectLst/>
            </c:spPr>
          </c:dPt>
          <c:dPt>
            <c:idx val="10"/>
            <c:bubble3D val="0"/>
            <c:spPr>
              <a:solidFill>
                <a:srgbClr val="C8102E"/>
              </a:solidFill>
              <a:effectLst/>
            </c:spPr>
          </c:dPt>
          <c:dPt>
            <c:idx val="11"/>
            <c:bubble3D val="0"/>
            <c:spPr>
              <a:solidFill>
                <a:srgbClr val="E0697B"/>
              </a:solidFill>
              <a:effectLst/>
            </c:spPr>
          </c:dPt>
          <c:dPt>
            <c:idx val="12"/>
            <c:bubble3D val="0"/>
            <c:spPr>
              <a:solidFill>
                <a:srgbClr val="6B4C9A"/>
              </a:solidFill>
              <a:effectLst/>
            </c:spPr>
          </c:dPt>
          <c:dPt>
            <c:idx val="13"/>
            <c:bubble3D val="0"/>
            <c:spPr>
              <a:solidFill>
                <a:srgbClr val="9A86C0"/>
              </a:solidFill>
              <a:effectLst/>
            </c:spPr>
          </c:dPt>
          <c:dPt>
            <c:idx val="14"/>
            <c:spPr>
              <a:solidFill>
                <a:srgbClr val="5B6874"/>
              </a:solidFill>
            </c:spPr>
          </c:dPt>
          <c:dPt>
            <c:idx val="15"/>
            <c:spPr>
              <a:solidFill>
                <a:srgbClr val="8FA9B8"/>
              </a:solidFill>
            </c:spPr>
          </c:dPt>
          <c:dPt>
            <c:idx val="16"/>
            <c:spPr>
              <a:solidFill>
                <a:srgbClr val="12355B"/>
              </a:solidFill>
            </c:spPr>
          </c:dPt>
          <c:dPt>
            <c:idx val="17"/>
            <c:spPr>
              <a:solidFill>
                <a:srgbClr val="C3CCD6"/>
              </a:solidFill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7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8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9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6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7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Sheet1!$A$2:$A$19</c:f>
              <c:strCache>
                <c:ptCount val="18"/>
                <c:pt idx="0">
                  <c:v>ZARA</c:v>
                </c:pt>
                <c:pt idx="1">
                  <c:v>OJG</c:v>
                </c:pt>
                <c:pt idx="2">
                  <c:v>GAP</c:v>
                </c:pt>
                <c:pt idx="3">
                  <c:v>TARGET</c:v>
                </c:pt>
                <c:pt idx="4">
                  <c:v>EXPRESS</c:v>
                </c:pt>
                <c:pt idx="5">
                  <c:v>SOLAMODA</c:v>
                </c:pt>
                <c:pt idx="6">
                  <c:v>NOBLE</c:v>
                </c:pt>
                <c:pt idx="7">
                  <c:v>KMART</c:v>
                </c:pt>
                <c:pt idx="8">
                  <c:v>NEXT</c:v>
                </c:pt>
                <c:pt idx="9">
                  <c:v>MED COUTORE</c:v>
                </c:pt>
                <c:pt idx="10">
                  <c:v>IMPLUSE</c:v>
                </c:pt>
                <c:pt idx="11">
                  <c:v>AERO</c:v>
                </c:pt>
                <c:pt idx="12">
                  <c:v>WALMART</c:v>
                </c:pt>
                <c:pt idx="13">
                  <c:v>NEW YORKER</c:v>
                </c:pt>
                <c:pt idx="14">
                  <c:v>CARRE FOUR</c:v>
                </c:pt>
                <c:pt idx="15">
                  <c:v>LAGER</c:v>
                </c:pt>
                <c:pt idx="16">
                  <c:v>TRIBAL</c:v>
                </c:pt>
                <c:pt idx="17">
                  <c:v>Trial buyers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7208435.25</c:v>
                </c:pt>
                <c:pt idx="1">
                  <c:v>6274253.6169549795</c:v>
                </c:pt>
                <c:pt idx="2">
                  <c:v>2402256.4</c:v>
                </c:pt>
                <c:pt idx="3">
                  <c:v>1323568.2</c:v>
                </c:pt>
                <c:pt idx="4">
                  <c:v>826217.5</c:v>
                </c:pt>
                <c:pt idx="5">
                  <c:v>812356.4</c:v>
                </c:pt>
                <c:pt idx="6">
                  <c:v>677870.64</c:v>
                </c:pt>
                <c:pt idx="7">
                  <c:v>657053.0</c:v>
                </c:pt>
                <c:pt idx="8">
                  <c:v>621864.6</c:v>
                </c:pt>
                <c:pt idx="9">
                  <c:v>431527.0</c:v>
                </c:pt>
                <c:pt idx="10">
                  <c:v>412264.0</c:v>
                </c:pt>
                <c:pt idx="11">
                  <c:v>402484.6</c:v>
                </c:pt>
                <c:pt idx="12">
                  <c:v>311833.60000000003</c:v>
                </c:pt>
                <c:pt idx="13">
                  <c:v>258144.2</c:v>
                </c:pt>
                <c:pt idx="14">
                  <c:v>218519.68</c:v>
                </c:pt>
                <c:pt idx="15">
                  <c:v>142959.0</c:v>
                </c:pt>
                <c:pt idx="16">
                  <c:v>126375.0</c:v>
                </c:pt>
                <c:pt idx="17">
                  <c:v>139599.55</c:v>
                </c:pt>
              </c:numCache>
            </c:numRef>
          </c:val>
        </c:ser>
        <c:firstSliceAng val="0"/>
        <c:holeSize val="52"/>
      </c:doughnutChart>
      <c:spPr>
        <a:noFill/>
        <a:ln>
          <a:noFill/>
        </a:ln>
        <a:effectLst/>
      </c:spPr>
    </c:plotArea>
    <c:legend>
      <c:legendPos val="l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Earned $/line-day</c:v>
                </c:pt>
              </c:strCache>
            </c:strRef>
          </c:tx>
          <c:spPr>
            <a:solidFill>
              <a:srgbClr val="0F7B53"/>
            </a:solidFill>
            <a:effectLst/>
          </c:spPr>
          <c:invertIfNegative val="0"/>
          <c:dPt>
            <c:idx val="13"/>
            <c:spPr>
              <a:solidFill>
                <a:srgbClr val="0F7B53"/>
              </a:solidFill>
            </c:spPr>
          </c:dPt>
          <c:dPt>
            <c:idx val="14"/>
            <c:spPr>
              <a:solidFill>
                <a:srgbClr val="C8102E"/>
              </a:solidFill>
            </c:spPr>
          </c:dPt>
          <c:dPt>
            <c:idx val="15"/>
            <c:spPr>
              <a:solidFill>
                <a:srgbClr val="C8102E"/>
              </a:solidFill>
            </c:spPr>
          </c:dPt>
          <c:dPt>
            <c:idx val="16"/>
            <c:spPr>
              <a:solidFill>
                <a:srgbClr val="C8102E"/>
              </a:solidFill>
            </c:spPr>
          </c:dPt>
          <c:dLbls>
            <c:numFmt formatCode="$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7B5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7B5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F7B5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F7B5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F7B53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cat>
            <c:strRef>
              <c:f>Sheet1!$A$2:$A$18</c:f>
              <c:strCache>
                <c:ptCount val="17"/>
                <c:pt idx="0">
                  <c:v>ZARA</c:v>
                </c:pt>
                <c:pt idx="1">
                  <c:v>GAP</c:v>
                </c:pt>
                <c:pt idx="2">
                  <c:v>OJG</c:v>
                </c:pt>
                <c:pt idx="3">
                  <c:v>TARGET</c:v>
                </c:pt>
                <c:pt idx="4">
                  <c:v>EXPRESS</c:v>
                </c:pt>
                <c:pt idx="5">
                  <c:v>AERO</c:v>
                </c:pt>
                <c:pt idx="6">
                  <c:v>SOLAMODA</c:v>
                </c:pt>
                <c:pt idx="7">
                  <c:v>IMPLUSE</c:v>
                </c:pt>
                <c:pt idx="8">
                  <c:v>NOBLE</c:v>
                </c:pt>
                <c:pt idx="9">
                  <c:v>KMART</c:v>
                </c:pt>
                <c:pt idx="10">
                  <c:v>NEW YORKER</c:v>
                </c:pt>
                <c:pt idx="11">
                  <c:v>NEXT</c:v>
                </c:pt>
                <c:pt idx="12">
                  <c:v>LAGER</c:v>
                </c:pt>
                <c:pt idx="13">
                  <c:v>TRIBAL</c:v>
                </c:pt>
                <c:pt idx="14">
                  <c:v>WALMART</c:v>
                </c:pt>
                <c:pt idx="15">
                  <c:v>MED COUTORE</c:v>
                </c:pt>
                <c:pt idx="16">
                  <c:v>CARRE FOUR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2911.3227988691438</c:v>
                </c:pt>
                <c:pt idx="1">
                  <c:v>3127.938020833333</c:v>
                </c:pt>
                <c:pt idx="2">
                  <c:v>2421.5567799903433</c:v>
                </c:pt>
                <c:pt idx="3">
                  <c:v>2198.618272425249</c:v>
                </c:pt>
                <c:pt idx="4">
                  <c:v>3129.6117424242425</c:v>
                </c:pt>
                <c:pt idx="5">
                  <c:v>2580.029487179487</c:v>
                </c:pt>
                <c:pt idx="6">
                  <c:v>2231.7483516483517</c:v>
                </c:pt>
                <c:pt idx="7">
                  <c:v>2290.3555555555554</c:v>
                </c:pt>
                <c:pt idx="8">
                  <c:v>2689.962857142857</c:v>
                </c:pt>
                <c:pt idx="9">
                  <c:v>2212.2996632996633</c:v>
                </c:pt>
                <c:pt idx="10">
                  <c:v>2284.4619469026547</c:v>
                </c:pt>
                <c:pt idx="11">
                  <c:v>2129.6732876712326</c:v>
                </c:pt>
                <c:pt idx="12">
                  <c:v>2102.3382352941176</c:v>
                </c:pt>
                <c:pt idx="13">
                  <c:v>2579.081632653061</c:v>
                </c:pt>
                <c:pt idx="14">
                  <c:v>2051.5368421052635</c:v>
                </c:pt>
                <c:pt idx="15">
                  <c:v>1768.5532786885246</c:v>
                </c:pt>
                <c:pt idx="16">
                  <c:v>1776.5827642276422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9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0F141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00"/>
          <c:min val="0"/>
        </c:scaling>
        <c:delete val="0"/>
        <c:axPos val="l"/>
        <c:majorGridlines>
          <c:spPr>
            <a:ln w="12700" cap="flat">
              <a:solidFill>
                <a:srgbClr val="E2E7EC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87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Hit rate</c:v>
                </c:pt>
              </c:strCache>
            </c:strRef>
          </c:tx>
          <c:spPr>
            <a:solidFill>
              <a:srgbClr val="2B6CA3"/>
            </a:solidFill>
            <a:effectLst/>
          </c:spPr>
          <c:invertIfNegative val="0"/>
          <c:dPt>
            <c:idx val="13"/>
            <c:spPr>
              <a:solidFill>
                <a:srgbClr val="2B6CA3"/>
              </a:solidFill>
            </c:spPr>
          </c:dPt>
          <c:dPt>
            <c:idx val="14"/>
            <c:spPr>
              <a:solidFill>
                <a:srgbClr val="B26A00"/>
              </a:solidFill>
            </c:spPr>
          </c:dPt>
          <c:dPt>
            <c:idx val="15"/>
            <c:spPr>
              <a:solidFill>
                <a:srgbClr val="B26A00"/>
              </a:solidFill>
            </c:spPr>
          </c:dPt>
          <c:dPt>
            <c:idx val="16"/>
            <c:spPr>
              <a:solidFill>
                <a:srgbClr val="B26A00"/>
              </a:solidFill>
            </c:spPr>
          </c:dPt>
          <c:dLbls>
            <c:numFmt formatCode="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B6CA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B6CA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26A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26A0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B6CA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B6CA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B26A0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B26A00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2B6CA3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B26A00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B26A00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B26A00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B26A00"/>
              </a:solidFill>
              <a:effectLst/>
            </c:spPr>
          </c:dPt>
          <c:cat>
            <c:strRef>
              <c:f>Sheet1!$A$2:$A$18</c:f>
              <c:strCache>
                <c:ptCount val="17"/>
                <c:pt idx="0">
                  <c:v>ZARA</c:v>
                </c:pt>
                <c:pt idx="1">
                  <c:v>GAP</c:v>
                </c:pt>
                <c:pt idx="2">
                  <c:v>OJG</c:v>
                </c:pt>
                <c:pt idx="3">
                  <c:v>TARGET</c:v>
                </c:pt>
                <c:pt idx="4">
                  <c:v>EXPRESS</c:v>
                </c:pt>
                <c:pt idx="5">
                  <c:v>AERO</c:v>
                </c:pt>
                <c:pt idx="6">
                  <c:v>SOLAMODA</c:v>
                </c:pt>
                <c:pt idx="7">
                  <c:v>IMPLUSE</c:v>
                </c:pt>
                <c:pt idx="8">
                  <c:v>NOBLE</c:v>
                </c:pt>
                <c:pt idx="9">
                  <c:v>KMART</c:v>
                </c:pt>
                <c:pt idx="10">
                  <c:v>NEW YORKER</c:v>
                </c:pt>
                <c:pt idx="11">
                  <c:v>NEXT</c:v>
                </c:pt>
                <c:pt idx="12">
                  <c:v>LAGER</c:v>
                </c:pt>
                <c:pt idx="13">
                  <c:v>TRIBAL</c:v>
                </c:pt>
                <c:pt idx="14">
                  <c:v>WALMART</c:v>
                </c:pt>
                <c:pt idx="15">
                  <c:v>MED COUTORE</c:v>
                </c:pt>
                <c:pt idx="16">
                  <c:v>CARRE FOUR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0.7378836833602584</c:v>
                </c:pt>
                <c:pt idx="1">
                  <c:v>0.7942708333333334</c:v>
                </c:pt>
                <c:pt idx="2">
                  <c:v>0.4947896565032806</c:v>
                </c:pt>
                <c:pt idx="3">
                  <c:v>0.3089700996677741</c:v>
                </c:pt>
                <c:pt idx="4">
                  <c:v>0.7765151515151515</c:v>
                </c:pt>
                <c:pt idx="5">
                  <c:v>0.6474358974358975</c:v>
                </c:pt>
                <c:pt idx="6">
                  <c:v>0.22802197802197802</c:v>
                </c:pt>
                <c:pt idx="7">
                  <c:v>0.4888888888888889</c:v>
                </c:pt>
                <c:pt idx="8">
                  <c:v>0.6031746031746031</c:v>
                </c:pt>
                <c:pt idx="9">
                  <c:v>0.265993265993266</c:v>
                </c:pt>
                <c:pt idx="10">
                  <c:v>0.3274336283185841</c:v>
                </c:pt>
                <c:pt idx="11">
                  <c:v>0.2945205479452055</c:v>
                </c:pt>
                <c:pt idx="12">
                  <c:v>0.25</c:v>
                </c:pt>
                <c:pt idx="13">
                  <c:v>0.6326530612244898</c:v>
                </c:pt>
                <c:pt idx="14">
                  <c:v>0.006578947368421052</c:v>
                </c:pt>
                <c:pt idx="15">
                  <c:v>0.09016393442622951</c:v>
                </c:pt>
                <c:pt idx="16">
                  <c:v>0.032520325203252036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0F141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12700" cap="flat">
              <a:solidFill>
                <a:srgbClr val="E2E7EC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87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Benchmark</c:v>
                </c:pt>
              </c:strCache>
            </c:strRef>
          </c:tx>
          <c:spPr>
            <a:solidFill>
              <a:srgbClr val="12355B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Sheet1!$A$2:$A$18</c:f>
              <c:strCache>
                <c:ptCount val="17"/>
                <c:pt idx="0">
                  <c:v>ZARA</c:v>
                </c:pt>
                <c:pt idx="1">
                  <c:v>GAP</c:v>
                </c:pt>
                <c:pt idx="2">
                  <c:v>OJG</c:v>
                </c:pt>
                <c:pt idx="3">
                  <c:v>TARGET</c:v>
                </c:pt>
                <c:pt idx="4">
                  <c:v>EXPRESS</c:v>
                </c:pt>
                <c:pt idx="5">
                  <c:v>AERO</c:v>
                </c:pt>
                <c:pt idx="6">
                  <c:v>SOLAMODA</c:v>
                </c:pt>
                <c:pt idx="7">
                  <c:v>IMPLUSE</c:v>
                </c:pt>
                <c:pt idx="8">
                  <c:v>NOBLE</c:v>
                </c:pt>
                <c:pt idx="9">
                  <c:v>KMART</c:v>
                </c:pt>
                <c:pt idx="10">
                  <c:v>NEW YORKER</c:v>
                </c:pt>
                <c:pt idx="11">
                  <c:v>NEXT</c:v>
                </c:pt>
                <c:pt idx="12">
                  <c:v>LAGER</c:v>
                </c:pt>
                <c:pt idx="13">
                  <c:v>TRIBAL</c:v>
                </c:pt>
                <c:pt idx="14">
                  <c:v>WALMART</c:v>
                </c:pt>
                <c:pt idx="15">
                  <c:v>MED COUTORE</c:v>
                </c:pt>
                <c:pt idx="16">
                  <c:v>CARRE FOUR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30.0</c:v>
                </c:pt>
                <c:pt idx="1">
                  <c:v>30.0</c:v>
                </c:pt>
                <c:pt idx="2">
                  <c:v>29.05868135988412</c:v>
                </c:pt>
                <c:pt idx="3">
                  <c:v>26.383419269102987</c:v>
                </c:pt>
                <c:pt idx="4">
                  <c:v>30.0</c:v>
                </c:pt>
                <c:pt idx="5">
                  <c:v>30.0</c:v>
                </c:pt>
                <c:pt idx="6">
                  <c:v>26.78098021978022</c:v>
                </c:pt>
                <c:pt idx="7">
                  <c:v>27.484266666666667</c:v>
                </c:pt>
                <c:pt idx="8">
                  <c:v>30.0</c:v>
                </c:pt>
                <c:pt idx="9">
                  <c:v>26.547595959595956</c:v>
                </c:pt>
                <c:pt idx="10">
                  <c:v>27.413543362831856</c:v>
                </c:pt>
                <c:pt idx="11">
                  <c:v>25.556079452054792</c:v>
                </c:pt>
                <c:pt idx="12">
                  <c:v>25.228058823529413</c:v>
                </c:pt>
                <c:pt idx="13">
                  <c:v>30.0</c:v>
                </c:pt>
                <c:pt idx="14">
                  <c:v>24.61844210526316</c:v>
                </c:pt>
                <c:pt idx="15">
                  <c:v>21.222639344262294</c:v>
                </c:pt>
                <c:pt idx="16">
                  <c:v>21.318993170731705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B6CA3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Sheet1!$A$2:$A$18</c:f>
              <c:strCache>
                <c:ptCount val="17"/>
                <c:pt idx="0">
                  <c:v>ZARA</c:v>
                </c:pt>
                <c:pt idx="1">
                  <c:v>GAP</c:v>
                </c:pt>
                <c:pt idx="2">
                  <c:v>OJG</c:v>
                </c:pt>
                <c:pt idx="3">
                  <c:v>TARGET</c:v>
                </c:pt>
                <c:pt idx="4">
                  <c:v>EXPRESS</c:v>
                </c:pt>
                <c:pt idx="5">
                  <c:v>AERO</c:v>
                </c:pt>
                <c:pt idx="6">
                  <c:v>SOLAMODA</c:v>
                </c:pt>
                <c:pt idx="7">
                  <c:v>IMPLUSE</c:v>
                </c:pt>
                <c:pt idx="8">
                  <c:v>NOBLE</c:v>
                </c:pt>
                <c:pt idx="9">
                  <c:v>KMART</c:v>
                </c:pt>
                <c:pt idx="10">
                  <c:v>NEW YORKER</c:v>
                </c:pt>
                <c:pt idx="11">
                  <c:v>NEXT</c:v>
                </c:pt>
                <c:pt idx="12">
                  <c:v>LAGER</c:v>
                </c:pt>
                <c:pt idx="13">
                  <c:v>TRIBAL</c:v>
                </c:pt>
                <c:pt idx="14">
                  <c:v>WALMART</c:v>
                </c:pt>
                <c:pt idx="15">
                  <c:v>MED COUTORE</c:v>
                </c:pt>
                <c:pt idx="16">
                  <c:v>CARRE FOUR</c:v>
                </c:pt>
              </c:strCache>
            </c:strRef>
          </c:cat>
          <c:val>
            <c:numRef>
              <c:f>Sheet1!$C$2:$C$18</c:f>
              <c:numCache>
                <c:formatCode>General</c:formatCode>
                <c:ptCount val="17"/>
                <c:pt idx="0">
                  <c:v>20.0</c:v>
                </c:pt>
                <c:pt idx="1">
                  <c:v>20.0</c:v>
                </c:pt>
                <c:pt idx="2">
                  <c:v>20.0</c:v>
                </c:pt>
                <c:pt idx="3">
                  <c:v>11.386717005745398</c:v>
                </c:pt>
                <c:pt idx="4">
                  <c:v>7.107986469978993</c:v>
                </c:pt>
                <c:pt idx="5">
                  <c:v>3.4625931926822013</c:v>
                </c:pt>
                <c:pt idx="6">
                  <c:v>6.988738800619501</c:v>
                </c:pt>
                <c:pt idx="7">
                  <c:v>3.5467258125849654</c:v>
                </c:pt>
                <c:pt idx="8">
                  <c:v>5.831751733067867</c:v>
                </c:pt>
                <c:pt idx="9">
                  <c:v>5.652656635884748</c:v>
                </c:pt>
                <c:pt idx="10">
                  <c:v>2.2208262121094644</c:v>
                </c:pt>
                <c:pt idx="11">
                  <c:v>5.349929241342501</c:v>
                </c:pt>
                <c:pt idx="12">
                  <c:v>1.2298827339795233</c:v>
                </c:pt>
                <c:pt idx="13">
                  <c:v>1.0872098329357527</c:v>
                </c:pt>
                <c:pt idx="14">
                  <c:v>2.6827185452799553</c:v>
                </c:pt>
                <c:pt idx="15">
                  <c:v>3.712446271630199</c:v>
                </c:pt>
                <c:pt idx="16">
                  <c:v>1.879934676842525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Price</c:v>
                </c:pt>
              </c:strCache>
            </c:strRef>
          </c:tx>
          <c:spPr>
            <a:solidFill>
              <a:srgbClr val="4A90C4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Sheet1!$A$2:$A$18</c:f>
              <c:strCache>
                <c:ptCount val="17"/>
                <c:pt idx="0">
                  <c:v>ZARA</c:v>
                </c:pt>
                <c:pt idx="1">
                  <c:v>GAP</c:v>
                </c:pt>
                <c:pt idx="2">
                  <c:v>OJG</c:v>
                </c:pt>
                <c:pt idx="3">
                  <c:v>TARGET</c:v>
                </c:pt>
                <c:pt idx="4">
                  <c:v>EXPRESS</c:v>
                </c:pt>
                <c:pt idx="5">
                  <c:v>AERO</c:v>
                </c:pt>
                <c:pt idx="6">
                  <c:v>SOLAMODA</c:v>
                </c:pt>
                <c:pt idx="7">
                  <c:v>IMPLUSE</c:v>
                </c:pt>
                <c:pt idx="8">
                  <c:v>NOBLE</c:v>
                </c:pt>
                <c:pt idx="9">
                  <c:v>KMART</c:v>
                </c:pt>
                <c:pt idx="10">
                  <c:v>NEW YORKER</c:v>
                </c:pt>
                <c:pt idx="11">
                  <c:v>NEXT</c:v>
                </c:pt>
                <c:pt idx="12">
                  <c:v>LAGER</c:v>
                </c:pt>
                <c:pt idx="13">
                  <c:v>TRIBAL</c:v>
                </c:pt>
                <c:pt idx="14">
                  <c:v>WALMART</c:v>
                </c:pt>
                <c:pt idx="15">
                  <c:v>MED COUTORE</c:v>
                </c:pt>
                <c:pt idx="16">
                  <c:v>CARRE FOUR</c:v>
                </c:pt>
              </c:strCache>
            </c:strRef>
          </c:cat>
          <c:val>
            <c:numRef>
              <c:f>Sheet1!$D$2:$D$18</c:f>
              <c:numCache>
                <c:formatCode>General</c:formatCode>
                <c:ptCount val="17"/>
                <c:pt idx="0">
                  <c:v>20.0</c:v>
                </c:pt>
                <c:pt idx="1">
                  <c:v>20.0</c:v>
                </c:pt>
                <c:pt idx="2">
                  <c:v>18.904613860553948</c:v>
                </c:pt>
                <c:pt idx="3">
                  <c:v>17.9806008171836</c:v>
                </c:pt>
                <c:pt idx="4">
                  <c:v>20.0</c:v>
                </c:pt>
                <c:pt idx="5">
                  <c:v>20.0</c:v>
                </c:pt>
                <c:pt idx="6">
                  <c:v>15.978737024253727</c:v>
                </c:pt>
                <c:pt idx="7">
                  <c:v>19.28267858444623</c:v>
                </c:pt>
                <c:pt idx="8">
                  <c:v>20.0</c:v>
                </c:pt>
                <c:pt idx="9">
                  <c:v>16.83574400734893</c:v>
                </c:pt>
                <c:pt idx="10">
                  <c:v>17.102164718211295</c:v>
                </c:pt>
                <c:pt idx="11">
                  <c:v>19.253665955887215</c:v>
                </c:pt>
                <c:pt idx="12">
                  <c:v>17.98660122276556</c:v>
                </c:pt>
                <c:pt idx="13">
                  <c:v>20.0</c:v>
                </c:pt>
                <c:pt idx="14">
                  <c:v>13.75070215622206</c:v>
                </c:pt>
                <c:pt idx="15">
                  <c:v>13.617535593824101</c:v>
                </c:pt>
                <c:pt idx="16">
                  <c:v>18.511267022500615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Efficiency</c:v>
                </c:pt>
              </c:strCache>
            </c:strRef>
          </c:tx>
          <c:spPr>
            <a:solidFill>
              <a:srgbClr val="7FB3D5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Sheet1!$A$2:$A$18</c:f>
              <c:strCache>
                <c:ptCount val="17"/>
                <c:pt idx="0">
                  <c:v>ZARA</c:v>
                </c:pt>
                <c:pt idx="1">
                  <c:v>GAP</c:v>
                </c:pt>
                <c:pt idx="2">
                  <c:v>OJG</c:v>
                </c:pt>
                <c:pt idx="3">
                  <c:v>TARGET</c:v>
                </c:pt>
                <c:pt idx="4">
                  <c:v>EXPRESS</c:v>
                </c:pt>
                <c:pt idx="5">
                  <c:v>AERO</c:v>
                </c:pt>
                <c:pt idx="6">
                  <c:v>SOLAMODA</c:v>
                </c:pt>
                <c:pt idx="7">
                  <c:v>IMPLUSE</c:v>
                </c:pt>
                <c:pt idx="8">
                  <c:v>NOBLE</c:v>
                </c:pt>
                <c:pt idx="9">
                  <c:v>KMART</c:v>
                </c:pt>
                <c:pt idx="10">
                  <c:v>NEW YORKER</c:v>
                </c:pt>
                <c:pt idx="11">
                  <c:v>NEXT</c:v>
                </c:pt>
                <c:pt idx="12">
                  <c:v>LAGER</c:v>
                </c:pt>
                <c:pt idx="13">
                  <c:v>TRIBAL</c:v>
                </c:pt>
                <c:pt idx="14">
                  <c:v>WALMART</c:v>
                </c:pt>
                <c:pt idx="15">
                  <c:v>MED COUTORE</c:v>
                </c:pt>
                <c:pt idx="16">
                  <c:v>CARRE FOUR</c:v>
                </c:pt>
              </c:strCache>
            </c:strRef>
          </c:cat>
          <c:val>
            <c:numRef>
              <c:f>Sheet1!$E$2:$E$18</c:f>
              <c:numCache>
                <c:formatCode>General</c:formatCode>
                <c:ptCount val="17"/>
                <c:pt idx="0">
                  <c:v>13.964177434339227</c:v>
                </c:pt>
                <c:pt idx="1">
                  <c:v>13.866007310665195</c:v>
                </c:pt>
                <c:pt idx="2">
                  <c:v>13.127961584883764</c:v>
                </c:pt>
                <c:pt idx="3">
                  <c:v>12.517487480530281</c:v>
                </c:pt>
                <c:pt idx="4">
                  <c:v>12.120556515163063</c:v>
                </c:pt>
                <c:pt idx="5">
                  <c:v>11.951357730388933</c:v>
                </c:pt>
                <c:pt idx="6">
                  <c:v>13.228728745611226</c:v>
                </c:pt>
                <c:pt idx="7">
                  <c:v>11.78435107511238</c:v>
                </c:pt>
                <c:pt idx="8">
                  <c:v>10.279920854510157</c:v>
                </c:pt>
                <c:pt idx="9">
                  <c:v>12.783247023074408</c:v>
                </c:pt>
                <c:pt idx="10">
                  <c:v>12.76341171328369</c:v>
                </c:pt>
                <c:pt idx="11">
                  <c:v>11.482265646551538</c:v>
                </c:pt>
                <c:pt idx="12">
                  <c:v>11.341895192217777</c:v>
                </c:pt>
                <c:pt idx="13">
                  <c:v>9.574667241928095</c:v>
                </c:pt>
                <c:pt idx="14">
                  <c:v>14.173251889275415</c:v>
                </c:pt>
                <c:pt idx="15">
                  <c:v>12.306081381237862</c:v>
                </c:pt>
                <c:pt idx="16">
                  <c:v>9.233788552751138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Quality</c:v>
                </c:pt>
              </c:strCache>
            </c:strRef>
          </c:tx>
          <c:spPr>
            <a:solidFill>
              <a:srgbClr val="A9CCE3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Sheet1!$A$2:$A$18</c:f>
              <c:strCache>
                <c:ptCount val="17"/>
                <c:pt idx="0">
                  <c:v>ZARA</c:v>
                </c:pt>
                <c:pt idx="1">
                  <c:v>GAP</c:v>
                </c:pt>
                <c:pt idx="2">
                  <c:v>OJG</c:v>
                </c:pt>
                <c:pt idx="3">
                  <c:v>TARGET</c:v>
                </c:pt>
                <c:pt idx="4">
                  <c:v>EXPRESS</c:v>
                </c:pt>
                <c:pt idx="5">
                  <c:v>AERO</c:v>
                </c:pt>
                <c:pt idx="6">
                  <c:v>SOLAMODA</c:v>
                </c:pt>
                <c:pt idx="7">
                  <c:v>IMPLUSE</c:v>
                </c:pt>
                <c:pt idx="8">
                  <c:v>NOBLE</c:v>
                </c:pt>
                <c:pt idx="9">
                  <c:v>KMART</c:v>
                </c:pt>
                <c:pt idx="10">
                  <c:v>NEW YORKER</c:v>
                </c:pt>
                <c:pt idx="11">
                  <c:v>NEXT</c:v>
                </c:pt>
                <c:pt idx="12">
                  <c:v>LAGER</c:v>
                </c:pt>
                <c:pt idx="13">
                  <c:v>TRIBAL</c:v>
                </c:pt>
                <c:pt idx="14">
                  <c:v>WALMART</c:v>
                </c:pt>
                <c:pt idx="15">
                  <c:v>MED COUTORE</c:v>
                </c:pt>
                <c:pt idx="16">
                  <c:v>CARRE FOUR</c:v>
                </c:pt>
              </c:strCache>
            </c:strRef>
          </c:cat>
          <c:val>
            <c:numRef>
              <c:f>Sheet1!$F$2:$F$18</c:f>
              <c:numCache>
                <c:formatCode>General</c:formatCode>
                <c:ptCount val="17"/>
                <c:pt idx="0">
                  <c:v>7.215593973077237</c:v>
                </c:pt>
                <c:pt idx="1">
                  <c:v>7.706023557812792</c:v>
                </c:pt>
                <c:pt idx="2">
                  <c:v>8.080760683982145</c:v>
                </c:pt>
                <c:pt idx="3">
                  <c:v>8.554450556261042</c:v>
                </c:pt>
                <c:pt idx="4">
                  <c:v>7.063196282368122</c:v>
                </c:pt>
                <c:pt idx="5">
                  <c:v>8.053896464136583</c:v>
                </c:pt>
                <c:pt idx="6">
                  <c:v>7.627385603193663</c:v>
                </c:pt>
                <c:pt idx="7">
                  <c:v>9.206294598353011</c:v>
                </c:pt>
                <c:pt idx="8">
                  <c:v>5.703089046372226</c:v>
                </c:pt>
                <c:pt idx="9">
                  <c:v>7.8120858258804775</c:v>
                </c:pt>
                <c:pt idx="10">
                  <c:v>8.261576331352932</c:v>
                </c:pt>
                <c:pt idx="11">
                  <c:v>7.099789685365302</c:v>
                </c:pt>
                <c:pt idx="12">
                  <c:v>7.9908914583516895</c:v>
                </c:pt>
                <c:pt idx="13">
                  <c:v>4.34819416981693</c:v>
                </c:pt>
                <c:pt idx="14">
                  <c:v>6.044982589578312</c:v>
                </c:pt>
                <c:pt idx="15">
                  <c:v>10.0</c:v>
                </c:pt>
                <c:pt idx="16">
                  <c:v>5.481165854245496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Run stability</c:v>
                </c:pt>
              </c:strCache>
            </c:strRef>
          </c:tx>
          <c:spPr>
            <a:solidFill>
              <a:srgbClr val="D4E6F1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Sheet1!$A$2:$A$18</c:f>
              <c:strCache>
                <c:ptCount val="17"/>
                <c:pt idx="0">
                  <c:v>ZARA</c:v>
                </c:pt>
                <c:pt idx="1">
                  <c:v>GAP</c:v>
                </c:pt>
                <c:pt idx="2">
                  <c:v>OJG</c:v>
                </c:pt>
                <c:pt idx="3">
                  <c:v>TARGET</c:v>
                </c:pt>
                <c:pt idx="4">
                  <c:v>EXPRESS</c:v>
                </c:pt>
                <c:pt idx="5">
                  <c:v>AERO</c:v>
                </c:pt>
                <c:pt idx="6">
                  <c:v>SOLAMODA</c:v>
                </c:pt>
                <c:pt idx="7">
                  <c:v>IMPLUSE</c:v>
                </c:pt>
                <c:pt idx="8">
                  <c:v>NOBLE</c:v>
                </c:pt>
                <c:pt idx="9">
                  <c:v>KMART</c:v>
                </c:pt>
                <c:pt idx="10">
                  <c:v>NEW YORKER</c:v>
                </c:pt>
                <c:pt idx="11">
                  <c:v>NEXT</c:v>
                </c:pt>
                <c:pt idx="12">
                  <c:v>LAGER</c:v>
                </c:pt>
                <c:pt idx="13">
                  <c:v>TRIBAL</c:v>
                </c:pt>
                <c:pt idx="14">
                  <c:v>WALMART</c:v>
                </c:pt>
                <c:pt idx="15">
                  <c:v>MED COUTORE</c:v>
                </c:pt>
                <c:pt idx="16">
                  <c:v>CARRE FOUR</c:v>
                </c:pt>
              </c:strCache>
            </c:strRef>
          </c:cat>
          <c:val>
            <c:numRef>
              <c:f>Sheet1!$G$2:$G$18</c:f>
              <c:numCache>
                <c:formatCode>General</c:formatCode>
                <c:ptCount val="17"/>
                <c:pt idx="0">
                  <c:v>5.0</c:v>
                </c:pt>
                <c:pt idx="1">
                  <c:v>2.6122448979591835</c:v>
                </c:pt>
                <c:pt idx="2">
                  <c:v>4.944656488549619</c:v>
                </c:pt>
                <c:pt idx="3">
                  <c:v>1.3744292237442925</c:v>
                </c:pt>
                <c:pt idx="4">
                  <c:v>1.147826086956522</c:v>
                </c:pt>
                <c:pt idx="5">
                  <c:v>3.9000000000000004</c:v>
                </c:pt>
                <c:pt idx="6">
                  <c:v>5.0</c:v>
                </c:pt>
                <c:pt idx="7">
                  <c:v>4.285714285714286</c:v>
                </c:pt>
                <c:pt idx="8">
                  <c:v>3.0</c:v>
                </c:pt>
                <c:pt idx="9">
                  <c:v>5.0</c:v>
                </c:pt>
                <c:pt idx="10">
                  <c:v>5.0</c:v>
                </c:pt>
                <c:pt idx="11">
                  <c:v>2.246153846153846</c:v>
                </c:pt>
                <c:pt idx="12">
                  <c:v>3.777777777777778</c:v>
                </c:pt>
                <c:pt idx="13">
                  <c:v>1.3611111111111114</c:v>
                </c:pt>
                <c:pt idx="14">
                  <c:v>5.0</c:v>
                </c:pt>
                <c:pt idx="15">
                  <c:v>2.2181818181818183</c:v>
                </c:pt>
                <c:pt idx="16">
                  <c:v>3.84375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85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41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12700" cap="flat">
              <a:solidFill>
                <a:srgbClr val="E2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87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Efficiency</c:v>
                </c:pt>
              </c:strCache>
            </c:strRef>
          </c:tx>
          <c:spPr>
            <a:solidFill>
              <a:srgbClr val="12355B"/>
            </a:solidFill>
            <a:ln w="38100" cap="flat">
              <a:solidFill>
                <a:srgbClr val="12355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2355B"/>
              </a:solidFill>
              <a:ln w="9525" cap="flat">
                <a:solidFill>
                  <a:srgbClr val="12355B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Jan '26</c:v>
                </c:pt>
                <c:pt idx="1">
                  <c:v>Feb '26</c:v>
                </c:pt>
                <c:pt idx="2">
                  <c:v>Mar '26</c:v>
                </c:pt>
                <c:pt idx="3">
                  <c:v>Apr '26</c:v>
                </c:pt>
                <c:pt idx="4">
                  <c:v>May '26</c:v>
                </c:pt>
                <c:pt idx="5">
                  <c:v>Jun '26</c:v>
                </c:pt>
                <c:pt idx="6">
                  <c:v>Jul '26</c:v>
                </c:pt>
                <c:pt idx="7">
                  <c:v>Aug '26</c:v>
                </c:pt>
                <c:pt idx="8">
                  <c:v>Sep '26</c:v>
                </c:pt>
                <c:pt idx="9">
                  <c:v>Oct '26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0.770258129188521</c:v>
                </c:pt>
                <c:pt idx="1">
                  <c:v>0.7644413972227676</c:v>
                </c:pt>
                <c:pt idx="2">
                  <c:v>0.7277013186490532</c:v>
                </c:pt>
                <c:pt idx="3">
                  <c:v>0.7203934436066864</c:v>
                </c:pt>
                <c:pt idx="4">
                  <c:v>0.6950455368774051</c:v>
                </c:pt>
                <c:pt idx="5">
                  <c:v>0.6768086152781962</c:v>
                </c:pt>
                <c:pt idx="6">
                  <c:v>0.6489787692307765</c:v>
                </c:pt>
                <c:pt idx="7">
                  <c:v>0.6556971641443935</c:v>
                </c:pt>
                <c:pt idx="8">
                  <c:v>0.6499311798381593</c:v>
                </c:pt>
                <c:pt idx="9">
                  <c:v>0.6413817101012405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Benchmark hit rate</c:v>
                </c:pt>
              </c:strCache>
            </c:strRef>
          </c:tx>
          <c:spPr>
            <a:solidFill>
              <a:srgbClr val="0F7B53"/>
            </a:solidFill>
            <a:ln w="38100" cap="flat">
              <a:solidFill>
                <a:srgbClr val="0F7B5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F7B53"/>
              </a:solidFill>
              <a:ln w="9525" cap="flat">
                <a:solidFill>
                  <a:srgbClr val="0F7B53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Jan '26</c:v>
                </c:pt>
                <c:pt idx="1">
                  <c:v>Feb '26</c:v>
                </c:pt>
                <c:pt idx="2">
                  <c:v>Mar '26</c:v>
                </c:pt>
                <c:pt idx="3">
                  <c:v>Apr '26</c:v>
                </c:pt>
                <c:pt idx="4">
                  <c:v>May '26</c:v>
                </c:pt>
                <c:pt idx="5">
                  <c:v>Jun '26</c:v>
                </c:pt>
                <c:pt idx="6">
                  <c:v>Jul '26</c:v>
                </c:pt>
                <c:pt idx="7">
                  <c:v>Aug '26</c:v>
                </c:pt>
                <c:pt idx="8">
                  <c:v>Sep '26</c:v>
                </c:pt>
                <c:pt idx="9">
                  <c:v>Oct '26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0.6152450090744102</c:v>
                </c:pt>
                <c:pt idx="1">
                  <c:v>0.5907894736842105</c:v>
                </c:pt>
                <c:pt idx="2">
                  <c:v>0.4473684210526316</c:v>
                </c:pt>
                <c:pt idx="3">
                  <c:v>0.6228070175438597</c:v>
                </c:pt>
                <c:pt idx="4">
                  <c:v>0.7335526315789473</c:v>
                </c:pt>
                <c:pt idx="5">
                  <c:v>0.6447368421052632</c:v>
                </c:pt>
                <c:pt idx="6">
                  <c:v>0.4522417153996101</c:v>
                </c:pt>
                <c:pt idx="7">
                  <c:v>0.3894736842105263</c:v>
                </c:pt>
                <c:pt idx="8">
                  <c:v>0.31275303643724695</c:v>
                </c:pt>
                <c:pt idx="9">
                  <c:v>0.5241935483870968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DHU %</c:v>
                </c:pt>
              </c:strCache>
            </c:strRef>
          </c:tx>
          <c:spPr>
            <a:solidFill>
              <a:srgbClr val="C8102E"/>
            </a:solidFill>
            <a:ln w="38100" cap="flat">
              <a:solidFill>
                <a:srgbClr val="C810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C8102E"/>
              </a:solidFill>
              <a:ln w="9525" cap="flat">
                <a:solidFill>
                  <a:srgbClr val="C8102E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Jan '26</c:v>
                </c:pt>
                <c:pt idx="1">
                  <c:v>Feb '26</c:v>
                </c:pt>
                <c:pt idx="2">
                  <c:v>Mar '26</c:v>
                </c:pt>
                <c:pt idx="3">
                  <c:v>Apr '26</c:v>
                </c:pt>
                <c:pt idx="4">
                  <c:v>May '26</c:v>
                </c:pt>
                <c:pt idx="5">
                  <c:v>Jun '26</c:v>
                </c:pt>
                <c:pt idx="6">
                  <c:v>Jul '26</c:v>
                </c:pt>
                <c:pt idx="7">
                  <c:v>Aug '26</c:v>
                </c:pt>
                <c:pt idx="8">
                  <c:v>Sep '26</c:v>
                </c:pt>
                <c:pt idx="9">
                  <c:v>Oct '26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0.12056295828587979</c:v>
                </c:pt>
                <c:pt idx="1">
                  <c:v>0.11617484893329687</c:v>
                </c:pt>
                <c:pt idx="2">
                  <c:v>0.1205422301549685</c:v>
                </c:pt>
                <c:pt idx="3">
                  <c:v>0.11101592485902431</c:v>
                </c:pt>
                <c:pt idx="4">
                  <c:v>0.1203709074845527</c:v>
                </c:pt>
                <c:pt idx="5">
                  <c:v>0.1376356334771137</c:v>
                </c:pt>
                <c:pt idx="6">
                  <c:v>0.14142848573090896</c:v>
                </c:pt>
                <c:pt idx="7">
                  <c:v>0.1467639258305602</c:v>
                </c:pt>
                <c:pt idx="8">
                  <c:v>0.15859133108021517</c:v>
                </c:pt>
                <c:pt idx="9">
                  <c:v>0.1435340686903117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41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"/>
        </c:scaling>
        <c:delete val="0"/>
        <c:axPos val="l"/>
        <c:majorGridlines>
          <c:spPr>
            <a:ln w="12700" cap="flat">
              <a:solidFill>
                <a:srgbClr val="E2E7EC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87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Surplus / shortfall</c:v>
                </c:pt>
              </c:strCache>
            </c:strRef>
          </c:tx>
          <c:spPr>
            <a:solidFill>
              <a:srgbClr val="0F7B53"/>
            </a:solidFill>
            <a:effectLst/>
          </c:spPr>
          <c:invertIfNegative val="0"/>
          <c:dPt>
            <c:idx val="13"/>
            <c:spPr>
              <a:solidFill>
                <a:srgbClr val="C8102E"/>
              </a:solidFill>
            </c:spPr>
          </c:dPt>
          <c:dPt>
            <c:idx val="14"/>
            <c:spPr>
              <a:solidFill>
                <a:srgbClr val="C8102E"/>
              </a:solidFill>
            </c:spPr>
          </c:dPt>
          <c:dPt>
            <c:idx val="15"/>
            <c:spPr>
              <a:solidFill>
                <a:srgbClr val="C8102E"/>
              </a:solidFill>
            </c:spPr>
          </c:dPt>
          <c:dPt>
            <c:idx val="16"/>
            <c:spPr>
              <a:solidFill>
                <a:srgbClr val="C8102E"/>
              </a:solidFill>
            </c:spPr>
          </c:dPt>
          <c:dLbls>
            <c:numFmt formatCode="$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7B5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7B5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7B5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F7B5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F7B5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F7B5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cat>
            <c:strRef>
              <c:f>Sheet1!$A$2:$A$18</c:f>
              <c:strCache>
                <c:ptCount val="17"/>
                <c:pt idx="0">
                  <c:v>ZARA</c:v>
                </c:pt>
                <c:pt idx="1">
                  <c:v>GAP</c:v>
                </c:pt>
                <c:pt idx="2">
                  <c:v>EXPRESS</c:v>
                </c:pt>
                <c:pt idx="3">
                  <c:v>NOBLE</c:v>
                </c:pt>
                <c:pt idx="4">
                  <c:v>AERO</c:v>
                </c:pt>
                <c:pt idx="5">
                  <c:v>TRIBAL</c:v>
                </c:pt>
                <c:pt idx="6">
                  <c:v>NEW YORKER</c:v>
                </c:pt>
                <c:pt idx="7">
                  <c:v>LAGER</c:v>
                </c:pt>
                <c:pt idx="8">
                  <c:v>IMPLUSE</c:v>
                </c:pt>
                <c:pt idx="9">
                  <c:v>WALMART</c:v>
                </c:pt>
                <c:pt idx="10">
                  <c:v>KMART</c:v>
                </c:pt>
                <c:pt idx="11">
                  <c:v>CARRE FOUR</c:v>
                </c:pt>
                <c:pt idx="12">
                  <c:v>SOLAMODA</c:v>
                </c:pt>
                <c:pt idx="13">
                  <c:v>NEXT</c:v>
                </c:pt>
                <c:pt idx="14">
                  <c:v>MED COUTORE</c:v>
                </c:pt>
                <c:pt idx="15">
                  <c:v>TARGET</c:v>
                </c:pt>
                <c:pt idx="16">
                  <c:v>OJG</c:v>
                </c:pt>
              </c:strCache>
            </c: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1018435.2499999999</c:v>
                </c:pt>
                <c:pt idx="1">
                  <c:v>482256.3999999999</c:v>
                </c:pt>
                <c:pt idx="2">
                  <c:v>166217.50000000003</c:v>
                </c:pt>
                <c:pt idx="3">
                  <c:v>47870.63999999998</c:v>
                </c:pt>
                <c:pt idx="4">
                  <c:v>12484.600000000004</c:v>
                </c:pt>
                <c:pt idx="5">
                  <c:v>3874.999999999999</c:v>
                </c:pt>
                <c:pt idx="6">
                  <c:v>-24355.800000000014</c:v>
                </c:pt>
                <c:pt idx="7">
                  <c:v>-27041.000000000007</c:v>
                </c:pt>
                <c:pt idx="8">
                  <c:v>-37736.00000000003</c:v>
                </c:pt>
                <c:pt idx="9">
                  <c:v>-68166.39999999994</c:v>
                </c:pt>
                <c:pt idx="10">
                  <c:v>-85447.0</c:v>
                </c:pt>
                <c:pt idx="11">
                  <c:v>-88980.32</c:v>
                </c:pt>
                <c:pt idx="12">
                  <c:v>-97643.59999999999</c:v>
                </c:pt>
                <c:pt idx="13">
                  <c:v>-108135.40000000007</c:v>
                </c:pt>
                <c:pt idx="14">
                  <c:v>-178473.0</c:v>
                </c:pt>
                <c:pt idx="15">
                  <c:v>-181431.80000000013</c:v>
                </c:pt>
                <c:pt idx="16">
                  <c:v>-203246.38304502043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9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41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7EC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87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Earned $ = pieces x CM. CM value booked, not FOB and not margin.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Route B only works if the buyer does not re-cost the lower SMV at the same rate per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5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6916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Buyer Performance &amp; Ranking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822960" y="2514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9C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against $2,500 earned per line per day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10515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Sterling Styles Limited   |   01 Jan 2026 - 24 Oct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4206240"/>
            <a:ext cx="10515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FB3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9,066 line-days · 38 lines · 3 units · 25 buyers · 533 styles · 13,850,314 pieces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factory stands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figure rebuilt from the daily line-day rows.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517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7E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13232" y="158191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EARNED $ YTD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3232" y="1828800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$23,247,582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13232" y="232257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 value booked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74136" y="1463040"/>
            <a:ext cx="26517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7E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38728" y="158191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EARNED $ / LINE-DAY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538728" y="1828800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$2,564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38728" y="232257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+$64 vs benchmark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99632" y="1463040"/>
            <a:ext cx="26517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7EC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364224" y="158191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HIT RATE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64224" y="1828800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53.3%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364224" y="232257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4,236 line-days below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25128" y="1463040"/>
            <a:ext cx="26517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7EC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189720" y="158191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 $ / SMV MINUTE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89720" y="1828800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0.0836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189720" y="232257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 blended price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2944368"/>
            <a:ext cx="26517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7EC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13232" y="306324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3232" y="3310128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69.5%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13232" y="380390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'26 77.0% → Oct '26 64.1%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74136" y="2944368"/>
            <a:ext cx="26517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7EC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538728" y="306324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DHU 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538728" y="3310128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13.2%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538728" y="380390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'26 12.1% → Oct '26 14.4%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99632" y="2944368"/>
            <a:ext cx="26517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7EC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364224" y="306324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 $ / PIECE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64224" y="3310128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1.678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364224" y="380390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20.07 avg SMV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025128" y="2944368"/>
            <a:ext cx="26517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E7EC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9189720" y="306324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PIECES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189720" y="3310128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13,850,314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9189720" y="380390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533 styles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470916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DEAEC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777240" y="4864608"/>
            <a:ext cx="10607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read: </a:t>
            </a:r>
            <a:pPr indent="0" marL="0">
              <a:buNone/>
            </a:pPr>
            <a:r>
              <a:rPr lang="en-US" sz="1400" dirty="0">
                <a:solidFill>
                  <a:srgbClr val="0F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factory clears the benchmark on average, but only 53.3% of individual line-days clear it — 4,236 line-days finished below $2,500. 11 of the 17 ranked buyers sit under it on their period average, worth $1,100,657 of capacity value. The bigger movement is time, not buyer mix: efficiency 77.0% → 64.1% on broadly unchanged manning while price per minute stayed inside a 0.0800–0.0882 band.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earned value comes from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total CM value booked, by buyer.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371600"/>
          <a:ext cx="65836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1463040"/>
          <a:ext cx="4389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143000"/>
                <a:gridCol w="731520"/>
                <a:gridCol w="11430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Buyer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Earned $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$/line-day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ZARA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$7,208,435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31.0%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$2,911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OJG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$6,274,254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27.0%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$2,422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$2,402,256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10.3%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$3,128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$1,323,568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5.7%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$2,199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EXPRESS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$826,218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$3,130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SOLAMODA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$812,356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$2,232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NOBLE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$677,871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$2,690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KMART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$657,053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$2,212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$621,865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$2,130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 COUTORE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$431,527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$1,769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7223760" y="55321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top three accounts carry 68% of the factory's earned value.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Earned $ per line-day vs the $2,500 benchmark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clears the bar, red does not. This is the single number the ranking is built on.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110642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1188720" y="2982087"/>
            <a:ext cx="10195560" cy="0"/>
          </a:xfrm>
          <a:prstGeom prst="line">
            <a:avLst/>
          </a:prstGeom>
          <a:noFill/>
          <a:ln w="24130">
            <a:solidFill>
              <a:srgbClr val="0F1419"/>
            </a:solidFill>
            <a:prstDash val="dash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9098280" y="2652903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F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$2,500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of the 17 ranked buyers sit below the line on their period average — 0 of them by less than $50 a day, which is a floor problem, not a price problem.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Consistency: how often the benchmark is actually hit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account can average near $2,500 and still miss it most days. Share of that buyer's line-days earning $2,500 or more.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110642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 average hit rate is 53.3%. The gap between a buyer's average and its hit rate is a fragmentation and start-up story, not a price story.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ranking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fixed standards, each scored out of 100 and weighted. Buyers under 40 line-days are scored but not ranked.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384048"/>
                <a:gridCol w="1298448"/>
                <a:gridCol w="566928"/>
                <a:gridCol w="621792"/>
                <a:gridCol w="868680"/>
                <a:gridCol w="1143000"/>
                <a:gridCol w="960120"/>
                <a:gridCol w="749808"/>
                <a:gridCol w="804672"/>
                <a:gridCol w="777240"/>
                <a:gridCol w="603504"/>
                <a:gridCol w="713232"/>
                <a:gridCol w="713232"/>
                <a:gridCol w="603504"/>
              </a:tblGrid>
              <a:tr h="238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Buyer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Grade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Line-days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Earned $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$/line-day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Hit rate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CM$/min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CM$/pc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ZARA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96.2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2,476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$7,208,435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$2,911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73.8%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0.0873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$1.893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74.5%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94.2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$2,402,256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$3,128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79.4%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0.0990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$1.887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74.0%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OJG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94.1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$6,274,254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$2,422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49.5%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$1.526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70.0%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6C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78.2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$1,323,568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$2,199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$1.643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66.8%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A"/>
                    </a:solidFill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EXPRESS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6C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77.4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$826,218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$3,130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77.7%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0.1157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$2.454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64.6%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AERO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6C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77.4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$402,485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$2,580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64.7%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0.0953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$1.443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63.7%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SOLAMODA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6C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75.6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$812,356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$2,232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0.0674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$1.536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70.6%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IMPLUSE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6C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75.6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$412,264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$2,290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48.9%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0.0813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$1.636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62.8%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NOBLE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26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74.8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$677,871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$2,690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60.3%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0.1180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$2.813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54.8%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KMART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26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74.6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$657,053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$2,212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$1.058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68.2%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YORKER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26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72.8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$258,144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$2,284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32.7%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$1.493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68.1%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26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71.0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$621,865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$2,130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29.5%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0.0812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$1.375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61.2%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LAGER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26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67.6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$142,959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$1.778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60.5%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TRIBAL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26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66.4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$126,375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$2,579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63.3%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0.1157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$2.500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51.1%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WALMART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26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66.3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$311,834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$2,052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0.0580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$1.040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75.6%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 COUTORE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63.1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$431,527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$1,769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0.0574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$1.238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65.6%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CARRE FOUR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60.3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$218,520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$1,777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$2.051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49.2%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8064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 — $2,500/line-day (30.0%) · 10.0% revenue share (20.0%) · $0.0843 per SMV min (20.0%) · 80.0% efficiency (15.0%) · 10.0% DHU (10.0%) · 10 run days (5.0%).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each buyer's points come from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out of 100. A weak bar segment is a specific, fixable problem — not a general verdict.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110642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521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weak segment, not the total: a short "Benchmark" block means the line-day does not pay; a short "Price" block means the rate does.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trend that outranks every buyer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held flat. Efficiency and the hit rate did not — on essentially unchanged manning.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68580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371600"/>
          <a:ext cx="39319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05840"/>
                <a:gridCol w="731520"/>
                <a:gridCol w="731520"/>
                <a:gridCol w="731520"/>
              </a:tblGrid>
              <a:tr h="2826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$/line-day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DHU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</a:tr>
              <a:tr h="282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Jan '26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$2,739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61.5%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77.0%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Feb '26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$2,607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59.1%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76.4%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11.6%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 '26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$2,292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44.7%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72.8%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Apr '26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$2,747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62.3%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72.0%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 '26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$3,042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73.4%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69.5%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 '26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$2,767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64.5%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67.7%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13.8%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Jul '26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$2,403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45.2%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64.9%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Aug '26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$2,276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38.9%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65.6%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14.7%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 '26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$2,217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31.3%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65.0%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15.9%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2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Oct '26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$2,512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52.4%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64.1%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7680960" y="457200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Jan '26 efficiency the same line-days would have earned about $2,512,329 more — compare that with $1,100,657, the entire benchmark shortfall.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Surplus and shortfall against the benchmark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(Earned per line-day − $2,500) × line-days. Capacity value, not cash.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73152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0" y="1371600"/>
          <a:ext cx="34747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60120"/>
                <a:gridCol w="105156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Below benchmark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Gap/day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Period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OJG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$203,246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$181,432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 COUTORE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$731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$178,473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$370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$108,135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SOLAMODA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$268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$97,644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CARRE FOUR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$723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$88,980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KMART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$288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$85,447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WALMART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$448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$68,166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IMPLUSE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$37,736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LAGER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$398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$27,041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YORKER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$216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$24,356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$1,100,657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8138160" y="56235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shortfall is concentrated: the top two accounts carry 35% of it.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$2,500 a day actually requires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identity behind every number in this report — and the menu of ways to reach the benchmark.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EEF4F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Earned $ per line-day  =  CM $ per SMV minute  ×  efficiency  ×  operators  ×  working hours  ×  60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80160" y="2286000"/>
          <a:ext cx="96012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463040"/>
                <a:gridCol w="1463040"/>
                <a:gridCol w="1645920"/>
                <a:gridCol w="164592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If the line runs 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Available min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Earning min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CM $/min needed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 20 SMV that is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Pieces/day needed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55.0% efficiency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45,000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24,750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235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0.1010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$2.020 /pc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1,238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60.0% efficiency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45,000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27,000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235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0.0926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$1.852 /pc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1,350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65.0% efficiency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45,000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29,250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235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0.0855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$1.709 /pc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1,463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70.0% efficiency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45,000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31,500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235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0.0794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$1.587 /pc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1,575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75.0% efficiency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45,000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33,750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235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0.0741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$1.481 /pc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1,688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80.0% efficiency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45,000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36,000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235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0.0694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$1.389 /pc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85.0% efficiency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45,000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38,250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235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0.0654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$1.307 /pc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1,913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280160" y="5349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75-operator line working 10.0 hours holds 45,000 minutes. At 65% efficiency the price must be $0.0855 a minute to clear $2,500; at 75.0% the same line clears it at $0.0741. Every route to the benchmark is a trade between those two columns.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below-benchmark buyers get to $2,500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alternative routes, each solved from that buyer's own numbers. Hitting any one of them clears the bar — they are not a sequence.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914400"/>
                <a:gridCol w="777240"/>
                <a:gridCol w="960120"/>
                <a:gridCol w="1874520"/>
                <a:gridCol w="685800"/>
                <a:gridCol w="1463040"/>
                <a:gridCol w="1600200"/>
                <a:gridCol w="1645920"/>
              </a:tblGrid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Buyer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Now $/day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Gap/day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Period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A: CM $/pc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A: ask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B: SMV needed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C: efficiency needed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Verdict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OJG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$2,422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$203,246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$1.526 → $1.576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19.2 → 18.6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70.0% → 72.3%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Floor can close it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$2,199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$181,432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$1.643 → $1.868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21.7 → 19.1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66.8% → 75.9%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Floor can close it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 COUTORE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$1,769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$731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$178,473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$1.238 → $1.750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+41%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21.6 → 15.3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65.6% → 92.8%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 must carry it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$2,130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$370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$108,135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$1.375 → $1.614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16.9 → 14.4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61.2% → 71.9%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Floor can close it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SOLAMODA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$2,232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$268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$97,644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$1.536 → $1.720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22.8 → 20.4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70.6% → 79.0%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B26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Tight — split it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CARRE FOUR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$1,777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$723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$88,980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$2.051 → $2.886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+41%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26.3 → 18.7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49.2% → 69.3%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Floor can close it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KMART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$2,212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$288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$85,447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$1.058 → $1.196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14.9 → 13.2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68.2% → 77.0%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Floor can close it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WALMART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$2,052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$448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$68,166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$1.040 → $1.267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17.9 → 14.7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75.6% → 92.1%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 must carry it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IMPLUSE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$2,290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$210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$37,736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$1.636 → $1.786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20.1 → 18.4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62.8% → 68.6%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Floor can close it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LAGER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$2,102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$398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$27,041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$1.778 → $2.114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23.4 → 19.7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60.5% → 71.9%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Floor can close it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YORKER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$2,284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$216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$24,356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$1.493 → $1.633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20.7 → 18.9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68.1% → 74.5%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Floor can close it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0749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A </a:t>
            </a:r>
            <a:pPr indent="0" marL="0">
              <a:buNone/>
            </a:pPr>
            <a:r>
              <a:rPr lang="en-US" sz="1250" dirty="0">
                <a:solidFill>
                  <a:srgbClr val="0F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raises CM per piece with SMV and efficiency unchanged — the merchandising ask.   </a:t>
            </a:r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B </a:t>
            </a:r>
            <a:pPr indent="0" marL="0">
              <a:buNone/>
            </a:pPr>
            <a:r>
              <a:rPr lang="en-US" sz="1250" dirty="0">
                <a:solidFill>
                  <a:srgbClr val="0F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 work out of the garment at the SAME CM per piece, so the rate per minute rises without touching the price — the IE job.   </a:t>
            </a:r>
            <a:pPr indent="0" marL="0">
              <a:buNone/>
            </a:pPr>
            <a:r>
              <a:rPr lang="en-US" sz="125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C </a:t>
            </a:r>
            <a:pPr indent="0" marL="0">
              <a:buNone/>
            </a:pPr>
            <a:r>
              <a:rPr lang="en-US" sz="1250" dirty="0">
                <a:solidFill>
                  <a:srgbClr val="0F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the line better at the current price and SMV — realistic only under about 78%.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realistic route: fix the floor first, then ask for the rest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Lift efficiency to 75.0%, then ask only for whatever price is still missing. This is what turns a rejected ask into a signed one.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8813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188720"/>
                <a:gridCol w="2377440"/>
                <a:gridCol w="2743200"/>
                <a:gridCol w="1828800"/>
                <a:gridCol w="1280160"/>
              </a:tblGrid>
              <a:tr h="3124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Buyer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Today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 75.0% efficiency it earns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 ask still needed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vs the price-only ask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Reduction in the ask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OJG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$2,422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$2,697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— it clears on its own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+$0.049 /pc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smaller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$2,199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$2,552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— it clears on its own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+$0.225 /pc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smaller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 COUTORE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$1,769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$2,040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26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+$0.279 /pc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+$0.512 /pc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45% smaller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$2,130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$2,719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— it clears on its own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+$0.239 /pc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smaller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SOLAMODA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$2,232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$2,451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26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+$0.031 /pc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+$0.185 /pc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83% smaller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CARRE FOUR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$1,777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$2,673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— it clears on its own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+$0.835 /pc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smaller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KMART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$2,212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$2,507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— it clears on its own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+$0.138 /pc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smaller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WALMART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$2,052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$2,125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26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+$0.184 /pc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+$0.227 /pc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19% smaller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IMPLUSE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$2,290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$2,760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— it clears on its own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+$0.150 /pc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smaller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LAGER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$2,102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$2,626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— it clears on its own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+$0.336 /pc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smaller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YORKER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$2,284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$2,561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— it clears on its own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+$0.141 /pc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F7B5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smaller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18288" marB="18288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F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212080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EEF4F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868680" y="534924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of the 11 below-benchmark accounts need no price increase at all once the line runs at 75.0%. </a:t>
            </a:r>
            <a:pPr indent="0" marL="0">
              <a:buNone/>
            </a:pPr>
            <a:r>
              <a:rPr lang="en-US" sz="1300" dirty="0">
                <a:solidFill>
                  <a:srgbClr val="0F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remaining 3 still need a price move, but a much smaller one — the largest ask falls from +$0.512 to +$0.279 per piece. That is the difference between a rejected costing and a negotiated one.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do next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6424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2700">
            <a:solidFill>
              <a:srgbClr val="E2E7EC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49808" y="1499616"/>
            <a:ext cx="365760" cy="365760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99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98448" y="1380744"/>
            <a:ext cx="2834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floor recovery first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06240" y="1380744"/>
            <a:ext cx="7223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 77.0% → 64.1% on broadly flat manning is worth about $2,512,329 across the period — against $1,100,657 for every price ask in this report combined. Nothing in the buyer mix competes with it.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121408"/>
            <a:ext cx="1106424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2700">
            <a:solidFill>
              <a:srgbClr val="E2E7EC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49808" y="2295144"/>
            <a:ext cx="365760" cy="365760"/>
          </a:xfrm>
          <a:prstGeom prst="ellipse">
            <a:avLst/>
          </a:prstGeom>
          <a:solidFill>
            <a:srgbClr val="12355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49808" y="2295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98448" y="2176272"/>
            <a:ext cx="2834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consistency, not just averages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06240" y="2176272"/>
            <a:ext cx="7223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53.3% of line-days clear $2,500. 0 accounts average close to the benchmark yet hit it under 40% of the time — start-up loss from short runs, fixable with style consolidation.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916936"/>
            <a:ext cx="1106424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2700">
            <a:solidFill>
              <a:srgbClr val="E2E7EC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49808" y="3090672"/>
            <a:ext cx="365760" cy="365760"/>
          </a:xfrm>
          <a:prstGeom prst="ellipse">
            <a:avLst/>
          </a:prstGeom>
          <a:solidFill>
            <a:srgbClr val="12355B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49808" y="3090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98448" y="2971800"/>
            <a:ext cx="2834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the largest shortfalls to costing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206240" y="2971800"/>
            <a:ext cx="7223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OJG and TARGET carry 35% of the total gap. Check the verdict column: where efficiency alone cannot close it, price has to carry it.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712464"/>
            <a:ext cx="1106424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2700">
            <a:solidFill>
              <a:srgbClr val="E2E7EC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49808" y="3886200"/>
            <a:ext cx="365760" cy="365760"/>
          </a:xfrm>
          <a:prstGeom prst="ellipse">
            <a:avLst/>
          </a:prstGeom>
          <a:solidFill>
            <a:srgbClr val="0F7B53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49808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98448" y="3767328"/>
            <a:ext cx="2834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split route in every negotiation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206240" y="3767328"/>
            <a:ext cx="7223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Going in with a 41% ask fails. Going in with "we are lifting the line to 75.0% and need a few cents" is a conversation that closes.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507992"/>
            <a:ext cx="1106424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2700">
            <a:solidFill>
              <a:srgbClr val="E2E7EC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749808" y="4681728"/>
            <a:ext cx="365760" cy="365760"/>
          </a:xfrm>
          <a:prstGeom prst="ellipse">
            <a:avLst/>
          </a:prstGeom>
          <a:solidFill>
            <a:srgbClr val="0F7B53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49808" y="4681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98448" y="4562856"/>
            <a:ext cx="2834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B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the A-grade accounts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206240" y="4562856"/>
            <a:ext cx="7223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3 A-grade accounts carry 68% of earned value. Defend their line allocation before chasing new enquiries.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5303520"/>
            <a:ext cx="11064240" cy="704088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12700">
            <a:solidFill>
              <a:srgbClr val="E2E7EC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749808" y="5477256"/>
            <a:ext cx="365760" cy="365760"/>
          </a:xfrm>
          <a:prstGeom prst="ellipse">
            <a:avLst/>
          </a:prstGeom>
          <a:solidFill>
            <a:srgbClr val="12355B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49808" y="5477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98448" y="5358384"/>
            <a:ext cx="28346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Re-run this pack monthly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206240" y="5358384"/>
            <a:ext cx="7223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workbook is formula-driven: paste next month's line-days into DATA and every KPI, score, grade and route recalculates.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235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ranking was built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896112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fixed standards. Each buyer is scored against the standard, not against other buyers — so the scores stay comparable next month.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828800"/>
                <a:gridCol w="2651760"/>
                <a:gridCol w="2286000"/>
                <a:gridCol w="731520"/>
                <a:gridCol w="33832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answers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 = 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it matters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235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Benchmark achievement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Was that line-day worth giving away?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$2,500 earned per line per day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Already contains price, efficiency and manning inside 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235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 delivered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much of total earned value does it carry?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10.0% share of factory earned $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Scale pays the wages; a rate advantage alone cannot outrank 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235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is paid per minute of sewing work?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$0.0843 per SMV minute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only fair comparison across different garment complexity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235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Efficiency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well does the floor run this work?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80.0% efficiency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Separates a pricing problem from a floor problem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235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much output is lost to rework?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10.0% DHU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Rework is capacity paid for twice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235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 stability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long does a style hold a line?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consecutive line-days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41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 changeover costs learning-curve output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0292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are capped at 100 on each line. This is a scorecard against a standard, not a competition — paying double the benchmark rate is excellent, but it should not cancel out a floor running at 55%. Buyers under 40 line-days are scored and listed but not ranked. Grades: A 85+, B 75–84, C 65–74, D under 65.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8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SMV is deliberately not scored on its own: a heavier garment should cost more than a lighter one. SMV also cancels out of the earning identity — it only becomes a lever when it falls while CM per piece holds.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2026-08-17T03:29:53Z</dcterms:created>
  <dcterms:modified xsi:type="dcterms:W3CDTF">2026-08-17T03:29:53Z</dcterms:modified>
</cp:coreProperties>
</file>